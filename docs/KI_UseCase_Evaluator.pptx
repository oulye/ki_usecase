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2"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33303987-8003-1678-B4F5-02CD54D2F555}">
          <p14:sldIdLst>
            <p14:sldId id="256"/>
            <p14:sldId id="257"/>
          </p14:sldIdLst>
        </p14:section>
        <p14:section name="Konzept" id="{BC210790-A2C4-6202-342A-8C226D4FA0EB}">
          <p14:sldIdLst>
            <p14:sldId id="258"/>
            <p14:sldId id="259"/>
            <p14:sldId id="260"/>
          </p14:sldIdLst>
        </p14:section>
        <p14:section name="Umsetzung" id="{13C8EDCE-E2F7-7846-5768-D0E65F7ABA82}">
          <p14:sldIdLst>
            <p14:sldId id="261"/>
          </p14:sldIdLst>
        </p14:section>
        <p14:section name="Prototyp" id="{1B5CB4B5-03A2-C7AC-4FFB-278181CC6037}">
          <p14:sldIdLst>
            <p14:sldId id="263"/>
            <p14:sldId id="264"/>
          </p14:sldIdLst>
        </p14:section>
        <p14:section name="Ergebnisse" id="{B085B406-030D-6FE9-E558-06A939359123}">
          <p14:sldIdLst>
            <p14:sldId id="265"/>
            <p14:sldId id="266"/>
            <p14:sldId id="267"/>
          </p14:sldIdLst>
        </p14:section>
        <p14:section name="Reflexion" id="{FADA366D-343D-84C4-44B9-C0A086175C2E}">
          <p14:sldIdLst>
            <p14:sldId id="268"/>
            <p14:sldId id="262"/>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bar"/>
        <c:grouping val="clustered"/>
        <c:varyColors val="0"/>
        <c:ser>
          <c:idx val="0"/>
          <c:order val="0"/>
          <c:tx>
            <c:strRef>
              <c:f>Sheet1!$B$1</c:f>
              <c:strCache>
                <c:ptCount val="1"/>
                <c:pt idx="0">
                  <c:v>Gewicht in %</c:v>
                </c:pt>
              </c:strCache>
            </c:strRef>
          </c:tx>
          <c:spPr>
            <a:solidFill>
              <a:srgbClr val="3D8BFF"/>
            </a:solidFill>
            <a:effectLst/>
          </c:spPr>
          <c:invertIfNegative val="0"/>
          <c:dLbls>
            <c:numFmt formatCode="0&quot;%&quot;" sourceLinked="0"/>
            <c:spPr>
              <a:noFill/>
              <a:ln>
                <a:noFill/>
              </a:ln>
              <a:effectLst/>
            </c:spPr>
            <c:txPr>
              <a:bodyPr/>
              <a:lstStyle/>
              <a:p>
                <a:pPr>
                  <a:defRPr sz="1200" b="0" i="0" u="none" strike="noStrike">
                    <a:solidFill>
                      <a:srgbClr val="111427"/>
                    </a:solidFill>
                    <a:latin typeface="+mn-lt"/>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KI-Bedarf (Regelschwäche)</c:v>
                </c:pt>
                <c:pt idx="1">
                  <c:v>Datenreife</c:v>
                </c:pt>
                <c:pt idx="2">
                  <c:v>Fehlertoleranz</c:v>
                </c:pt>
                <c:pt idx="3">
                  <c:v>Fallvolumen</c:v>
                </c:pt>
                <c:pt idx="4">
                  <c:v>Erklärbarkeit &amp; Datenschutz</c:v>
                </c:pt>
                <c:pt idx="5">
                  <c:v>Wirtschaftlichkeit</c:v>
                </c:pt>
                <c:pt idx="6">
                  <c:v>Techn. Umsetzbarkeit</c:v>
                </c:pt>
              </c:strCache>
            </c:strRef>
          </c:cat>
          <c:val>
            <c:numRef>
              <c:f>Sheet1!$B$2:$B$8</c:f>
              <c:numCache>
                <c:formatCode>General</c:formatCode>
                <c:ptCount val="7"/>
                <c:pt idx="0">
                  <c:v>25</c:v>
                </c:pt>
                <c:pt idx="1">
                  <c:v>20</c:v>
                </c:pt>
                <c:pt idx="2">
                  <c:v>15</c:v>
                </c:pt>
                <c:pt idx="3">
                  <c:v>10</c:v>
                </c:pt>
                <c:pt idx="4">
                  <c:v>10</c:v>
                </c:pt>
                <c:pt idx="5">
                  <c:v>10</c:v>
                </c:pt>
                <c:pt idx="6">
                  <c:v>10</c:v>
                </c:pt>
              </c:numCache>
            </c:numRef>
          </c:val>
          <c:extLst>
            <c:ext xmlns:c16="http://schemas.microsoft.com/office/drawing/2014/chart" uri="{C3380CC4-5D6E-409C-BE32-E72D297353CC}">
              <c16:uniqueId val="{00000000-C147-4560-9C19-7C50021308E0}"/>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11427"/>
                </a:solidFill>
                <a:latin typeface="+mn-lt"/>
              </a:defRPr>
            </a:pPr>
            <a:endParaRPr lang="en-US"/>
          </a:p>
        </c:txPr>
        <c:crossAx val="2094734552"/>
        <c:crosses val="autoZero"/>
        <c:auto val="1"/>
        <c:lblAlgn val="ctr"/>
        <c:lblOffset val="100"/>
        <c:noMultiLvlLbl val="1"/>
      </c:catAx>
      <c:valAx>
        <c:axId val="2094734552"/>
        <c:scaling>
          <c:orientation val="minMax"/>
          <c:max val="3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doughnutChart>
        <c:varyColors val="1"/>
        <c:ser>
          <c:idx val="0"/>
          <c:order val="0"/>
          <c:tx>
            <c:strRef>
              <c:f>Sheet1!$B$1</c:f>
              <c:strCache>
                <c:ptCount val="1"/>
                <c:pt idx="0">
                  <c:v>Empfehlungen</c:v>
                </c:pt>
              </c:strCache>
            </c:strRef>
          </c:tx>
          <c:spPr>
            <a:solidFill>
              <a:schemeClr val="accent1"/>
            </a:solidFill>
            <a:ln w="9525" cap="flat">
              <a:solidFill>
                <a:srgbClr val="F9F9F9"/>
              </a:solidFill>
              <a:prstDash val="solid"/>
              <a:round/>
            </a:ln>
            <a:effectLst/>
          </c:spPr>
          <c:dPt>
            <c:idx val="0"/>
            <c:bubble3D val="0"/>
            <c:spPr>
              <a:solidFill>
                <a:srgbClr val="00C46A"/>
              </a:solidFill>
              <a:ln w="12700" cap="flat">
                <a:solidFill>
                  <a:srgbClr val="FFFFFF"/>
                </a:solidFill>
                <a:prstDash val="solid"/>
                <a:round/>
              </a:ln>
              <a:effectLst/>
            </c:spPr>
            <c:extLst>
              <c:ext xmlns:c16="http://schemas.microsoft.com/office/drawing/2014/chart" uri="{C3380CC4-5D6E-409C-BE32-E72D297353CC}">
                <c16:uniqueId val="{00000001-D322-46B6-89B1-D96B95EC0AEB}"/>
              </c:ext>
            </c:extLst>
          </c:dPt>
          <c:dPt>
            <c:idx val="1"/>
            <c:bubble3D val="0"/>
            <c:spPr>
              <a:solidFill>
                <a:srgbClr val="3D8BFF"/>
              </a:solidFill>
              <a:ln w="12700" cap="flat">
                <a:solidFill>
                  <a:srgbClr val="FFFFFF"/>
                </a:solidFill>
                <a:prstDash val="solid"/>
                <a:round/>
              </a:ln>
              <a:effectLst/>
            </c:spPr>
            <c:extLst>
              <c:ext xmlns:c16="http://schemas.microsoft.com/office/drawing/2014/chart" uri="{C3380CC4-5D6E-409C-BE32-E72D297353CC}">
                <c16:uniqueId val="{00000003-D322-46B6-89B1-D96B95EC0AEB}"/>
              </c:ext>
            </c:extLst>
          </c:dPt>
          <c:dPt>
            <c:idx val="2"/>
            <c:bubble3D val="0"/>
            <c:spPr>
              <a:solidFill>
                <a:srgbClr val="FFD400"/>
              </a:solidFill>
              <a:ln w="12700" cap="flat">
                <a:solidFill>
                  <a:srgbClr val="FFFFFF"/>
                </a:solidFill>
                <a:prstDash val="solid"/>
                <a:round/>
              </a:ln>
              <a:effectLst/>
            </c:spPr>
            <c:extLst>
              <c:ext xmlns:c16="http://schemas.microsoft.com/office/drawing/2014/chart" uri="{C3380CC4-5D6E-409C-BE32-E72D297353CC}">
                <c16:uniqueId val="{00000005-D322-46B6-89B1-D96B95EC0AEB}"/>
              </c:ext>
            </c:extLst>
          </c:dPt>
          <c:dPt>
            <c:idx val="3"/>
            <c:bubble3D val="0"/>
            <c:spPr>
              <a:solidFill>
                <a:srgbClr val="FF5A4F"/>
              </a:solidFill>
              <a:ln w="12700" cap="flat">
                <a:solidFill>
                  <a:srgbClr val="FFFFFF"/>
                </a:solidFill>
                <a:prstDash val="solid"/>
                <a:round/>
              </a:ln>
              <a:effectLst/>
            </c:spPr>
            <c:extLst>
              <c:ext xmlns:c16="http://schemas.microsoft.com/office/drawing/2014/chart" uri="{C3380CC4-5D6E-409C-BE32-E72D297353CC}">
                <c16:uniqueId val="{00000007-D322-46B6-89B1-D96B95EC0AEB}"/>
              </c:ext>
            </c:extLst>
          </c:dPt>
          <c:dPt>
            <c:idx val="4"/>
            <c:bubble3D val="0"/>
            <c:spPr>
              <a:solidFill>
                <a:srgbClr val="9AA0B4"/>
              </a:solidFill>
              <a:ln w="12700" cap="flat">
                <a:solidFill>
                  <a:srgbClr val="FFFFFF"/>
                </a:solidFill>
                <a:prstDash val="solid"/>
                <a:round/>
              </a:ln>
              <a:effectLst/>
            </c:spPr>
            <c:extLst>
              <c:ext xmlns:c16="http://schemas.microsoft.com/office/drawing/2014/chart" uri="{C3380CC4-5D6E-409C-BE32-E72D297353CC}">
                <c16:uniqueId val="{00000009-D322-46B6-89B1-D96B95EC0AEB}"/>
              </c:ext>
            </c:extLst>
          </c:dPt>
          <c:dLbls>
            <c:dLbl>
              <c:idx val="0"/>
              <c:numFmt formatCode="General" sourceLinked="0"/>
              <c:spPr/>
              <c:txPr>
                <a:bodyPr/>
                <a:lstStyle/>
                <a:p>
                  <a:pPr>
                    <a:defRPr sz="1300" b="1" i="0" u="none" strike="noStrike">
                      <a:solidFill>
                        <a:srgbClr val="111427"/>
                      </a:solidFill>
                      <a:latin typeface="+mn-lt"/>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322-46B6-89B1-D96B95EC0AEB}"/>
                </c:ext>
              </c:extLst>
            </c:dLbl>
            <c:dLbl>
              <c:idx val="1"/>
              <c:numFmt formatCode="General" sourceLinked="0"/>
              <c:spPr/>
              <c:txPr>
                <a:bodyPr/>
                <a:lstStyle/>
                <a:p>
                  <a:pPr>
                    <a:defRPr sz="1300" b="1" i="0" u="none" strike="noStrike">
                      <a:solidFill>
                        <a:srgbClr val="111427"/>
                      </a:solidFill>
                      <a:latin typeface="+mn-lt"/>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322-46B6-89B1-D96B95EC0AEB}"/>
                </c:ext>
              </c:extLst>
            </c:dLbl>
            <c:dLbl>
              <c:idx val="2"/>
              <c:numFmt formatCode="General" sourceLinked="0"/>
              <c:spPr/>
              <c:txPr>
                <a:bodyPr/>
                <a:lstStyle/>
                <a:p>
                  <a:pPr>
                    <a:defRPr sz="1300" b="1" i="0" u="none" strike="noStrike">
                      <a:solidFill>
                        <a:srgbClr val="111427"/>
                      </a:solidFill>
                      <a:latin typeface="+mn-lt"/>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322-46B6-89B1-D96B95EC0AEB}"/>
                </c:ext>
              </c:extLst>
            </c:dLbl>
            <c:dLbl>
              <c:idx val="3"/>
              <c:numFmt formatCode="General" sourceLinked="0"/>
              <c:spPr/>
              <c:txPr>
                <a:bodyPr/>
                <a:lstStyle/>
                <a:p>
                  <a:pPr>
                    <a:defRPr sz="1300" b="1" i="0" u="none" strike="noStrike">
                      <a:solidFill>
                        <a:srgbClr val="111427"/>
                      </a:solidFill>
                      <a:latin typeface="+mn-lt"/>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322-46B6-89B1-D96B95EC0AEB}"/>
                </c:ext>
              </c:extLst>
            </c:dLbl>
            <c:dLbl>
              <c:idx val="4"/>
              <c:numFmt formatCode="General" sourceLinked="0"/>
              <c:spPr/>
              <c:txPr>
                <a:bodyPr/>
                <a:lstStyle/>
                <a:p>
                  <a:pPr>
                    <a:defRPr sz="1300" b="1" i="0" u="none" strike="noStrike">
                      <a:solidFill>
                        <a:srgbClr val="111427"/>
                      </a:solidFill>
                      <a:latin typeface="+mn-lt"/>
                    </a:defRPr>
                  </a:pPr>
                  <a:endParaRPr lang="de-DE"/>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322-46B6-89B1-D96B95EC0AEB}"/>
                </c:ext>
              </c:extLst>
            </c:dLbl>
            <c:numFmt formatCode="General" sourceLinked="0"/>
            <c:spPr>
              <a:noFill/>
              <a:ln>
                <a:noFill/>
              </a:ln>
              <a:effectLst/>
            </c:spPr>
            <c:txPr>
              <a:bodyPr/>
              <a:lstStyle/>
              <a:p>
                <a:pPr>
                  <a:defRPr sz="1800" b="1" i="0" u="none" strike="noStrike">
                    <a:solidFill>
                      <a:srgbClr val="000000"/>
                    </a:solidFill>
                    <a:latin typeface="Arial"/>
                  </a:defRPr>
                </a:pPr>
                <a:endParaRPr lang="de-DE"/>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KI sinnvoll</c:v>
                </c:pt>
                <c:pt idx="1">
                  <c:v>KI als Assistenz</c:v>
                </c:pt>
                <c:pt idx="2">
                  <c:v>Klassisch</c:v>
                </c:pt>
                <c:pt idx="3">
                  <c:v>Manuell</c:v>
                </c:pt>
                <c:pt idx="4">
                  <c:v>Unklar</c:v>
                </c:pt>
              </c:strCache>
            </c:strRef>
          </c:cat>
          <c:val>
            <c:numRef>
              <c:f>Sheet1!$B$2:$B$6</c:f>
              <c:numCache>
                <c:formatCode>General</c:formatCode>
                <c:ptCount val="5"/>
                <c:pt idx="0">
                  <c:v>13</c:v>
                </c:pt>
                <c:pt idx="1">
                  <c:v>15</c:v>
                </c:pt>
                <c:pt idx="2">
                  <c:v>10</c:v>
                </c:pt>
                <c:pt idx="3">
                  <c:v>5</c:v>
                </c:pt>
                <c:pt idx="4">
                  <c:v>5</c:v>
                </c:pt>
              </c:numCache>
            </c:numRef>
          </c:val>
          <c:extLst>
            <c:ext xmlns:c16="http://schemas.microsoft.com/office/drawing/2014/chart" uri="{C3380CC4-5D6E-409C-BE32-E72D297353CC}">
              <c16:uniqueId val="{0000000A-D322-46B6-89B1-D96B95EC0AEB}"/>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11142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2284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ca. 0:20 Min.
Begrüssung, Thema nennen, Leitfrage ankündigen: Wann bringt KI mehr Nutzen als eine klassische, regelbasierte oder manuelle Lösung? Die fünf Farben unten sind die fünf möglichen Empfehlungen – sie ziehen sich durch die ganze Präsentation.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ca. 1:00 Min.
Problem: Firmen sammeln viele KI-Ideen, aber nicht jede lohnt sich. Drei typische Fehler: KI wo Regeln reichen, KI bei zu wenigen Fällen, vollautomatische KI bei hohem Risiko.
Ziel: Anwendung, die Fälle erfasst, nach transparenten Kriterien bewertet, eine begründete Empfehlung gibt und fallübergreifend auswertbar macht.
Besonders betonen: Die Bewertung ist regelbasiert und erklärbar – genau das, was KI selbst nicht gut kann.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ca. 1:15 Min.
Sieben Kriterien, jedes beantwortet eine Frage. Gewichte: KI-Bedarf 25 %, Datenreife 20 %, Fehlertoleranz 15 %, Rest je 10 %.
KI-Bedarf = lassen sich Regeln formulieren? (Regelkomplexität, Variabilität, Datenstruktur). Daten = genug und gut? Fehlertoleranz = wie schlimm ist ein Fehler?
Der KI-Nutzwert (0–100) ist die gewichtete Summe, skaliert mit dem KI-Bedarf: Wenn Regeln reichen, ist der ZUSÄTZLICHE Nutzen von KI klein.
Ehrlich sagen: Das macht den Nutzen transparent und nachvollziehbar, nicht objektiv richtig – die Gewichte sind Annahmen (kommt in der Reflexion wieder).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ca. 1:00 Min.
Von oben nach unten: die erste zutreffende Regel gewinnt.
1) Pflichtangaben fehlen oder keine Daten → Entscheidung noch nicht möglich. Das ist eine eigene, ehrliche Antwort statt Raten.
2) Unter 50 Fällen pro Monat → manuell, Automatisierung lohnt sich nicht.
3) Regeln reichen aus (KI-Bedarf unter 40) → klassische Lösung.
4) Hohes Risiko, niedrige Fehlertoleranz oder sensible Daten → KI nur als Assistenz, der Mensch entscheidet (Human in the Loop).
5) Sonst: Nutzwert ab 60 → KI sinnvoll, darunter Assistenz.
Besonders betonen: Deterministisch, gleiche Eingabe = gleiche Empfehlung. Ein Sprachmodell formuliert optional nur den Begründungstext und ändert nie die Empfehlung. So sieht man, was KI übernehmen soll (formulieren) und was nicht (entscheiden).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ca. 1:30 Min. (Kernfolie – 25 % der Bewertung)
Eine Collection usecases, ein Dokument pro Use Case. Darin eingebettet: kriterien (objektive Merkmale), geschaeftswert (Teamschätzung), loesungsansaetze (Array mit 2–4 Alternativen) und bewertung (berechnet).
Begründung Einbetten statt Referenzieren: Alles gehört zu genau einem Use Case, wird immer zusammen gelesen, nie unabhängig abgefragt. Keine Joins nötig, Lesen und Schreiben ist atomar. Das Array ist klein und begrenzt, also kein Risiko für die 16-MB-Grenze; mit $unwind kann man trotzdem über alle Ansätze auswerten.
null = unbekannt ist Teil der Fachlogik: fehlende Angaben führen zur Empfehlung «noch nicht möglich». Flexibles Schema, kein NULL-Chaos wie in Tabellen.
Computed Pattern: Die Bewertung wird serverseitig berechnet und mitgespeichert. Dadurch sind Filter und Aggregationen schnell und indexierbar. Mit Versionsnummer, kann für alle Fälle neu berechnet werden. Der Client kann die Bewertung nicht fälschen.
Verworfene Alternative nennen: eigene Collection für Lösungsansätze – sinnvoll nur bei Wiederverwendung oder sehr vielen Einträgen.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ca. 0:40 Min.
48 Use Cases aus 10 Branchen und 8 Problemtypen, darunter alle Beispiele aus der Aufgabe (Support-Klassifikation, Berichte zusammenfassen, Sensor-Anomalien, Produktempfehlungen, Kundenfragen, Maschinenausfälle, Unterrichtsmaterial, Geschäftsregeln).
Bewusst gemischt: klare KI-Fälle, klare Regel-Fälle, Grenzfälle, zu wenig Volumen, fehlende Daten und kreative Fälle (Lawinengefahr für Bergbahnen, Pflanzenkrankheiten per Foto).
Verteilung: 13 KI sinnvoll, 15 Assistenz, 10 klassisch, 5 manuell, 5 unklar.
Ehrlich sagen: Die Werte sind von uns geschätzt, keine Messdaten. Die Auswertungen zeigen daher die Konsequenzen unseres Modells, keine Marktstatistik.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ca. 1:15 Min. (Abfragen/Aggregationen/Indizes zusammen 25 %)
Insgesamt 13 Pipelines, jede ist in der App mit ihrem JSON einsehbar. Nicht alle vorlesen – drei herausgreifen und erklären.
$bucket (volumen): gruppiert Fälle nach Fallvolumen und zeigt KI-Quote pro Klasse. 
Korrelation: Pearson-r Datenmenge gegen Nutzwert wird komplett in MongoDB berechnet ($log10, $group mit Summen, $sqrt) – ohne Daten in die App zu laden. Ergebnis r = 0.38.
regelmaschine: $map, $filter, $min berechnen die 12-Monats-Kosten je Ansatz und finden Fälle, in denen Regeln günstiger sind.
Die Ähnlichkeitssuche ist ebenfalls eine Aggregation (Score aus Branche, Problemtyp, gemeinsamen Tags und Nähe der Merkmale).
Rechts: Ansicht Auswertungen mit dem «Fazit aus den Daten», das live aus den Pipelines berechnet wird.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ca. 1:00 Min.
Sechs Indizes, jeder für eine konkrete Abfrage.
Compound-Index branche + problemtyp + nutzwert: nach der ESR-Regel (Equality, Equality, Sort), bedient Filter und Sortierung ohne In-Memory-Sort.
risiko + empfehlung: Risiko-Auswertungen und Filter. nutzwert absteigend: Rangliste. Fallvolumen: Bereichsabfragen und Buckets. tags: Multikey für Tag-Suche und Ähnlichkeit. Volltext: Titel 10, Tags 5, Beschreibung 1, deutsches Stemming.
Bewusst NICHT indexiert: Teilscores (werden nur angezeigt), titel/beschreibung einzeln (Textindex deckt es ab). Jeder Index kostet Schreibleistung und Speicher.
Beleg: explain("executionStats") – alle fünf typischen Abfragen nutzen einen Index-Scan, in der App unter Auswertungen sichtbar, zusätzlich als automatischer Test.
Ehrlich: Bei 48 Dokumenten würde MongoDB bei unselektiven Filtern auch einen Collection-Scan wählen; der Nutzen zeigt sich bei grösseren Beständen.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ca. 0:50 Min. (Funktionalität und Tests 15 %)
41 automatische Tests: Unit-Tests für die Bewertung ohne Datenbank und Integrationstests gegen eine echte MongoDB (separate Testdatenbank).
Geeignete UND ungeeignete Fälle: Support-Klassifikation → KI sinnvoll; Radiologie → nur Assistenz; Passwort-Reset → klassisch; seltene Krankheiten mit 15 Fällen → manuell; Churn ohne Fehlertoleranz-Angabe → unklar. Grenzwert 49 vs. 50 Fälle ist getestet.
Besonders betonen: Sensitivitätstest. Wir ändern jedes Gewicht um ±50 %, und mindestens 95 % der Empfehlungen bleiben gleich. Die harten Regeln dominieren; die eigentliche Subjektivität liegt in den Schwellenwerten und den Eingabeschätzungen.
Weitere Tests: Schutz vor gefälschter Bewertung (Mass Assignment), Validierung liefert 400 statt 500, alle Pipelines liefern Daten, Index-Nutzung, Migration alter Daten.
Nicht automatisiert getestet: Frontend (manuell geprüft) und die LLM-Anbindung.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ca. 1:30 Min. (wir haben drei Forschungsfragen gewählt)
Frage 1 – Datenmenge: Unter 50 Fällen pro Monat nie KI (0 von 5), ab 50’000 immer (8 von 8). Aber die Korrelation ist nur r = 0.38: Volumen ist notwendig, aber nicht hinreichend.
Frage 2 – Human in the Loop: Bei hohem Risiko wird KI in 0 von 14 Fällen vollautomatisch empfohlen, in 9 Fällen als Assistenz. Beispiele mit hohem Nutzen und hohem Risiko: Radiologie-Zweitmeinung, Arztbriefe, Freitext-Korrektur.
Frage 3 – Regelmaschine: Bei 11 von 48 Fällen ist die Regel-Lösung über 12 Monate günstiger als KI oder Hybrid und höchstens 5 Prozentpunkte weniger genau, z. B. Routenoptimierung, Rechnungsprüfung, Medikamenten-Wechselwirkungen.
Zusatz: Bei unstrukturierten Daten (Text, Bild) liegt die KI-Quote bei 78 %, bei strukturierten bei 44 %.
Hinweis: Zahlen stammen aus unserem geschätzten Datensatz und sind live in der Ansicht Auswertungen sichtbar.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ca. 0:45 Min. (Kernantwort – langsam sprechen)
KI erzeugt dann den grössten Nutzen, wenn vier Bedingungen zusammenkommen:
1) Regeln reichen nicht – meist unstrukturierte Daten oder stark variierende Eingaben.
2) Genügend Daten in brauchbarer Qualität sind vorhanden.
3) Das Volumen ist gross genug, dass sich der Einmalaufwand amortisiert – grob ab einigen hundert, klar ab einigen tausend Fällen pro Monat.
4) Fehler sind tolerierbar oder ein Mensch fängt sie ab.
Unten auf jeder Karte steht, was passiert, wenn die Bedingung fehlt: Regeln reichen → klassisch; keine Daten → erst Daten erheben; zu wenig Volumen → manuell; Fehler nicht tolerierbar → nur Assistenz.
Schlusssatz: «KI formuliert, Regeln entscheiden, und Menschen tragen die Verantwortung.»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(mit allen) · ca. 1:15 Min. (Reflexion 15 %)
Diese Folie enthält die belegbaren Punkte aus der Arbeit mit Claude Code. ERGÄNZT mündlich je ein persönliches Beispiel pro Person: Welche KI habt ihr für die ursprüngliche App benutzt (Code, Design, Idee), was war gut, was musstet ihr korrigieren?
Wo KI geholfen hat: Lückenanalyse gegen die Bewertungskriterien, Boilerplate (Schema, Routen, Tests), Aggregation-Syntax, konsistente Dokumentation.
Wo Korrektur nötig war: Die erste Bewertungsformel war unplausibel. Passwort-Reset bekam einen KI-Nutzwert von 66 und war trotzdem «klassisch»; Hochrisiko-Fälle wie Triage fielen auf «manuell», weil das Risiko doppelt bestraft wurde. Das fiel erst beim Durchsehen der berechneten Verteilung auf; ein Test deckte zusätzlich auf, dass sich zwei Korrekturen aufhoben.
Grenzen: Daten sind geschätzt; Beispieldaten und Modell stammen aus derselben Quelle (Zirkularität); die Tests prüfen Konsistenz, nicht externe Gültigkeit; die Gewichte beeinflussen das Ergebnis kaum, die Schwellenwerte schon.
Kernbotschaft: Wir haben KI bewusst nicht als Entscheider eingesetzt, sondern nur für den Begründungstext. Das ist die Antwort auf «welche Aufgaben soll KI übernehmen».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ca. 2:00 Min. LIVE-DEMO (Server vorher starten: npm run seed:reset, npm start).
Schritt 1: Neuen Use Case erfassen. Die Live-Bewertung unter dem Formular ändert sich beim Tippen. Zeigen: leer = «Entscheidung noch nicht möglich», mit Fehlende-Angaben-Liste.
Schritt 2: Werte ausfüllen (z. B. 12000 Fälle, unstrukturiert, Fehlertoleranz hoch) → KI sinnvoll. Dann Fehlertoleranz auf niedrig → springt auf Assistenz. Das ist der Aha-Moment.
Schritt 3: In der Liste «Diagnose-Unterstützung in der Radiologie» öffnen: Begründung, Teilscores, Lösungsansätze mit 12-Monats-Kosten und Break-even, ähnliche Use Cases.
Schritt 4 (wenn Zeit): Zwei Fälle vergleichen, z. B. Passwort-Reset (klassisch) und Chatbot (KI).
Falls die Demo ausfällt: dieser Screenshot reicht als Backup.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 ca. 0:15 Min.
Kurz danken, Fragen einladen. Mögliche Fragen: Warum eingebettet statt referenziert? Warum sind die Gewichte so? Wie objektiv ist die Bewertung? Was würde sich bei echten Daten ändern? Was ist mit dem Datenschutz beim LLM? (Antworten siehe docs/VORTRAGSSKRIPT.md.)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_DUNKEL">
    <p:bg>
      <p:bgPr>
        <a:solidFill>
          <a:srgbClr val="1B1F3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234440"/>
            <a:ext cx="7863840" cy="118872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r>
              <a:rPr lang="en-US" sz="4600" b="1" dirty="0">
                <a:solidFill>
                  <a:schemeClr val="bg1"/>
                </a:solidFill>
              </a:rPr>
              <a:t>Titel</a:t>
            </a:r>
            <a:endParaRPr lang="en-US" sz="4600" dirty="0"/>
          </a:p>
        </p:txBody>
      </p:sp>
      <p:sp>
        <p:nvSpPr>
          <p:cNvPr id="3" name="Text 0"/>
          <p:cNvSpPr>
            <a:spLocks noGrp="1"/>
          </p:cNvSpPr>
          <p:nvPr>
            <p:ph type="body" idx="101" hasCustomPrompt="1"/>
          </p:nvPr>
        </p:nvSpPr>
        <p:spPr>
          <a:xfrm>
            <a:off x="640080" y="2514600"/>
            <a:ext cx="7863840" cy="822960"/>
          </a:xfrm>
          <a:prstGeom prst="rect">
            <a:avLst/>
          </a:prstGeom>
          <a:noFill/>
          <a:ln/>
        </p:spPr>
        <p:txBody>
          <a:bodyPr wrap="square" rtlCol="0"/>
          <a:lstStyle>
            <a:lvl1pPr marL="0" indent="0" algn="l">
              <a:buNone/>
              <a:defRPr lang="en-US" sz="2200" dirty="0">
                <a:solidFill>
                  <a:schemeClr val="bg2"/>
                </a:solidFill>
              </a:defRPr>
            </a:lvl1pPr>
          </a:lstStyle>
          <a:p>
            <a:pPr marL="0" indent="0" algn="l">
              <a:buNone/>
            </a:pPr>
            <a:r>
              <a:rPr lang="en-US" sz="2200" dirty="0">
                <a:solidFill>
                  <a:schemeClr val="bg2"/>
                </a:solidFill>
              </a:rPr>
              <a:t>Untertitel</a:t>
            </a: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rgbClr val="F3F5F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r>
              <a:rPr lang="en-US" sz="3000" b="1" dirty="0">
                <a:solidFill>
                  <a:schemeClr val="tx2"/>
                </a:solidFill>
              </a:rPr>
              <a:t>Titel</a:t>
            </a:r>
            <a:endParaRPr lang="en-US" sz="3000" dirty="0"/>
          </a:p>
        </p:txBody>
      </p:sp>
      <p:sp>
        <p:nvSpPr>
          <p:cNvPr id="3" name="Text 0"/>
          <p:cNvSpPr/>
          <p:nvPr/>
        </p:nvSpPr>
        <p:spPr>
          <a:xfrm>
            <a:off x="457200" y="4773168"/>
            <a:ext cx="3657600" cy="228600"/>
          </a:xfrm>
          <a:prstGeom prst="rect">
            <a:avLst/>
          </a:prstGeom>
          <a:noFill/>
          <a:ln/>
        </p:spPr>
        <p:txBody>
          <a:bodyPr wrap="square" lIns="0" tIns="0" rIns="0" bIns="0" rtlCol="0" anchor="ctr"/>
          <a:lstStyle/>
          <a:p>
            <a:pPr marL="0" indent="0">
              <a:buNone/>
            </a:pPr>
            <a:r>
              <a:rPr lang="en-US" sz="1000" dirty="0">
                <a:solidFill>
                  <a:srgbClr val="565C75"/>
                </a:solidFill>
              </a:rPr>
              <a:t>KI UseCase Evaluator</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_DUNKEL">
    <p:bg>
      <p:bgPr>
        <a:solidFill>
          <a:srgbClr val="1B1F3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r>
              <a:rPr lang="en-US" sz="3000" b="1" dirty="0">
                <a:solidFill>
                  <a:schemeClr val="bg1"/>
                </a:solidFill>
              </a:rPr>
              <a:t>Titel</a:t>
            </a:r>
            <a:endParaRPr lang="en-US" sz="3000" dirty="0"/>
          </a:p>
        </p:txBody>
      </p:sp>
      <p:sp>
        <p:nvSpPr>
          <p:cNvPr id="3" name="Text 0"/>
          <p:cNvSpPr/>
          <p:nvPr/>
        </p:nvSpPr>
        <p:spPr>
          <a:xfrm>
            <a:off x="457200" y="4773168"/>
            <a:ext cx="3657600" cy="228600"/>
          </a:xfrm>
          <a:prstGeom prst="rect">
            <a:avLst/>
          </a:prstGeom>
          <a:noFill/>
          <a:ln/>
        </p:spPr>
        <p:txBody>
          <a:bodyPr wrap="square" lIns="0" tIns="0" rIns="0" bIns="0" rtlCol="0" anchor="ctr"/>
          <a:lstStyle/>
          <a:p>
            <a:pPr marL="0" indent="0">
              <a:buNone/>
            </a:pPr>
            <a:r>
              <a:rPr lang="en-US" sz="1000" dirty="0">
                <a:solidFill>
                  <a:srgbClr val="B8BCD0"/>
                </a:solidFill>
              </a:rPr>
              <a:t>KI UseCase Evaluator</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8BCD0"/>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640080" y="1234440"/>
            <a:ext cx="7863840" cy="1188720"/>
          </a:xfrm>
          <a:prstGeom prst="rect">
            <a:avLst/>
          </a:prstGeom>
          <a:noFill/>
          <a:ln/>
        </p:spPr>
        <p:txBody>
          <a:bodyPr wrap="square" lIns="0" tIns="0" rIns="0" bIns="0" rtlCol="0" anchor="b"/>
          <a:lstStyle/>
          <a:p>
            <a:pPr marL="0" indent="0" algn="l">
              <a:buNone/>
            </a:pPr>
            <a:r>
              <a:rPr lang="en-US" sz="4600" b="1" dirty="0">
                <a:solidFill>
                  <a:schemeClr val="bg1"/>
                </a:solidFill>
              </a:rPr>
              <a:t>KI UseCase Evaluator</a:t>
            </a:r>
            <a:endParaRPr lang="en-US" sz="4600" dirty="0"/>
          </a:p>
        </p:txBody>
      </p:sp>
      <p:sp>
        <p:nvSpPr>
          <p:cNvPr id="4" name="Text 0"/>
          <p:cNvSpPr>
            <a:spLocks noGrp="1"/>
          </p:cNvSpPr>
          <p:nvPr>
            <p:ph type="body" idx="101" hasCustomPrompt="1"/>
          </p:nvPr>
        </p:nvSpPr>
        <p:spPr>
          <a:xfrm>
            <a:off x="640080" y="2514600"/>
            <a:ext cx="7863840" cy="822960"/>
          </a:xfrm>
          <a:prstGeom prst="rect">
            <a:avLst/>
          </a:prstGeom>
          <a:noFill/>
          <a:ln/>
        </p:spPr>
        <p:txBody>
          <a:bodyPr wrap="square" lIns="0" tIns="0" rIns="0" bIns="0" rtlCol="0" anchor="t"/>
          <a:lstStyle/>
          <a:p>
            <a:pPr marL="0" indent="0" algn="l">
              <a:buNone/>
            </a:pPr>
            <a:r>
              <a:rPr lang="en-US" sz="2200" dirty="0">
                <a:solidFill>
                  <a:schemeClr val="bg2"/>
                </a:solidFill>
              </a:rPr>
              <a:t>Wann bringt KI am meisten Nutzen?</a:t>
            </a:r>
            <a:endParaRPr lang="en-US" sz="2200" dirty="0"/>
          </a:p>
        </p:txBody>
      </p:sp>
      <p:sp>
        <p:nvSpPr>
          <p:cNvPr id="5" name="Text 2"/>
          <p:cNvSpPr txBox="1"/>
          <p:nvPr/>
        </p:nvSpPr>
        <p:spPr>
          <a:xfrm>
            <a:off x="640080" y="3063240"/>
            <a:ext cx="7315200" cy="274320"/>
          </a:xfrm>
          <a:prstGeom prst="rect">
            <a:avLst/>
          </a:prstGeom>
          <a:noFill/>
          <a:ln/>
        </p:spPr>
        <p:txBody>
          <a:bodyPr wrap="square" lIns="0" tIns="0" rIns="0" bIns="0" rtlCol="0" anchor="t"/>
          <a:lstStyle/>
          <a:p>
            <a:pPr marL="0" indent="0">
              <a:buNone/>
            </a:pPr>
            <a:r>
              <a:rPr lang="en-US" sz="1400" dirty="0">
                <a:solidFill>
                  <a:srgbClr val="B8BCD0"/>
                </a:solidFill>
              </a:rPr>
              <a:t>NoSQL-Projekt · MongoDB · Node.js</a:t>
            </a:r>
            <a:endParaRPr lang="en-US" sz="1400" dirty="0"/>
          </a:p>
        </p:txBody>
      </p:sp>
      <p:sp>
        <p:nvSpPr>
          <p:cNvPr id="6" name="Empfehlung KI sinnvoll"/>
          <p:cNvSpPr txBox="1"/>
          <p:nvPr/>
        </p:nvSpPr>
        <p:spPr>
          <a:xfrm>
            <a:off x="640080" y="3840480"/>
            <a:ext cx="1143000" cy="365760"/>
          </a:xfrm>
          <a:prstGeom prst="roundRect">
            <a:avLst>
              <a:gd name="adj" fmla="val 25000"/>
            </a:avLst>
          </a:prstGeom>
          <a:solidFill>
            <a:srgbClr val="00C46A"/>
          </a:solidFill>
          <a:ln/>
        </p:spPr>
        <p:txBody>
          <a:bodyPr wrap="square" lIns="0" tIns="0" rIns="0" bIns="0" rtlCol="0" anchor="ctr"/>
          <a:lstStyle/>
          <a:p>
            <a:pPr marL="0" indent="0" algn="ctr">
              <a:buNone/>
            </a:pPr>
            <a:r>
              <a:rPr lang="en-US" sz="1300" b="1" dirty="0">
                <a:solidFill>
                  <a:srgbClr val="111427"/>
                </a:solidFill>
              </a:rPr>
              <a:t>KI sinnvoll</a:t>
            </a:r>
            <a:endParaRPr lang="en-US" sz="1300" dirty="0"/>
          </a:p>
        </p:txBody>
      </p:sp>
      <p:sp>
        <p:nvSpPr>
          <p:cNvPr id="7" name="Empfehlung KI als Assistenz"/>
          <p:cNvSpPr txBox="1"/>
          <p:nvPr/>
        </p:nvSpPr>
        <p:spPr>
          <a:xfrm>
            <a:off x="1920240" y="3840480"/>
            <a:ext cx="1463040" cy="365760"/>
          </a:xfrm>
          <a:prstGeom prst="roundRect">
            <a:avLst>
              <a:gd name="adj" fmla="val 25000"/>
            </a:avLst>
          </a:prstGeom>
          <a:solidFill>
            <a:srgbClr val="3D8BFF"/>
          </a:solidFill>
          <a:ln/>
        </p:spPr>
        <p:txBody>
          <a:bodyPr wrap="square" lIns="0" tIns="0" rIns="0" bIns="0" rtlCol="0" anchor="ctr"/>
          <a:lstStyle/>
          <a:p>
            <a:pPr marL="0" indent="0" algn="ctr">
              <a:buNone/>
            </a:pPr>
            <a:r>
              <a:rPr lang="en-US" sz="1300" b="1" dirty="0">
                <a:solidFill>
                  <a:srgbClr val="111427"/>
                </a:solidFill>
              </a:rPr>
              <a:t>KI als Assistenz</a:t>
            </a:r>
            <a:endParaRPr lang="en-US" sz="1300" dirty="0"/>
          </a:p>
        </p:txBody>
      </p:sp>
      <p:sp>
        <p:nvSpPr>
          <p:cNvPr id="8" name="Empfehlung Klassisch"/>
          <p:cNvSpPr txBox="1"/>
          <p:nvPr/>
        </p:nvSpPr>
        <p:spPr>
          <a:xfrm>
            <a:off x="3520440" y="3840480"/>
            <a:ext cx="1051560" cy="365760"/>
          </a:xfrm>
          <a:prstGeom prst="roundRect">
            <a:avLst>
              <a:gd name="adj" fmla="val 25000"/>
            </a:avLst>
          </a:prstGeom>
          <a:solidFill>
            <a:srgbClr val="FFD400"/>
          </a:solidFill>
          <a:ln/>
        </p:spPr>
        <p:txBody>
          <a:bodyPr wrap="square" lIns="0" tIns="0" rIns="0" bIns="0" rtlCol="0" anchor="ctr"/>
          <a:lstStyle/>
          <a:p>
            <a:pPr marL="0" indent="0" algn="ctr">
              <a:buNone/>
            </a:pPr>
            <a:r>
              <a:rPr lang="en-US" sz="1300" b="1" dirty="0">
                <a:solidFill>
                  <a:srgbClr val="111427"/>
                </a:solidFill>
              </a:rPr>
              <a:t>Klassisch</a:t>
            </a:r>
            <a:endParaRPr lang="en-US" sz="1300" dirty="0"/>
          </a:p>
        </p:txBody>
      </p:sp>
      <p:sp>
        <p:nvSpPr>
          <p:cNvPr id="9" name="Empfehlung Manuell"/>
          <p:cNvSpPr txBox="1"/>
          <p:nvPr/>
        </p:nvSpPr>
        <p:spPr>
          <a:xfrm>
            <a:off x="4709160" y="3840480"/>
            <a:ext cx="1051560" cy="365760"/>
          </a:xfrm>
          <a:prstGeom prst="roundRect">
            <a:avLst>
              <a:gd name="adj" fmla="val 25000"/>
            </a:avLst>
          </a:prstGeom>
          <a:solidFill>
            <a:srgbClr val="FF5A4F"/>
          </a:solidFill>
          <a:ln/>
        </p:spPr>
        <p:txBody>
          <a:bodyPr wrap="square" lIns="0" tIns="0" rIns="0" bIns="0" rtlCol="0" anchor="ctr"/>
          <a:lstStyle/>
          <a:p>
            <a:pPr marL="0" indent="0" algn="ctr">
              <a:buNone/>
            </a:pPr>
            <a:r>
              <a:rPr lang="en-US" sz="1300" b="1" dirty="0">
                <a:solidFill>
                  <a:srgbClr val="111427"/>
                </a:solidFill>
              </a:rPr>
              <a:t>Manuell</a:t>
            </a:r>
            <a:endParaRPr lang="en-US" sz="1300" dirty="0"/>
          </a:p>
        </p:txBody>
      </p:sp>
      <p:sp>
        <p:nvSpPr>
          <p:cNvPr id="10" name="Empfehlung Unklar"/>
          <p:cNvSpPr txBox="1"/>
          <p:nvPr/>
        </p:nvSpPr>
        <p:spPr>
          <a:xfrm>
            <a:off x="5897880" y="3840480"/>
            <a:ext cx="914400" cy="365760"/>
          </a:xfrm>
          <a:prstGeom prst="roundRect">
            <a:avLst>
              <a:gd name="adj" fmla="val 25000"/>
            </a:avLst>
          </a:prstGeom>
          <a:solidFill>
            <a:srgbClr val="9AA0B4"/>
          </a:solidFill>
          <a:ln/>
        </p:spPr>
        <p:txBody>
          <a:bodyPr wrap="square" lIns="0" tIns="0" rIns="0" bIns="0" rtlCol="0" anchor="ctr"/>
          <a:lstStyle/>
          <a:p>
            <a:pPr marL="0" indent="0" algn="ctr">
              <a:buNone/>
            </a:pPr>
            <a:r>
              <a:rPr lang="en-US" sz="1300" b="1" dirty="0">
                <a:solidFill>
                  <a:srgbClr val="111427"/>
                </a:solidFill>
              </a:rPr>
              <a:t>Unklar</a:t>
            </a:r>
            <a:endParaRPr lang="en-US" sz="1300" dirty="0"/>
          </a:p>
        </p:txBody>
      </p:sp>
      <p:sp>
        <p:nvSpPr>
          <p:cNvPr id="11" name="Text 8"/>
          <p:cNvSpPr txBox="1"/>
          <p:nvPr/>
        </p:nvSpPr>
        <p:spPr>
          <a:xfrm>
            <a:off x="640080" y="4297680"/>
            <a:ext cx="7315200" cy="274320"/>
          </a:xfrm>
          <a:prstGeom prst="rect">
            <a:avLst/>
          </a:prstGeom>
          <a:noFill/>
          <a:ln/>
        </p:spPr>
        <p:txBody>
          <a:bodyPr wrap="square" lIns="0" tIns="0" rIns="0" bIns="0" rtlCol="0" anchor="t"/>
          <a:lstStyle/>
          <a:p>
            <a:pPr marL="0" indent="0">
              <a:buNone/>
            </a:pPr>
            <a:r>
              <a:rPr lang="en-US" sz="1200" dirty="0">
                <a:solidFill>
                  <a:srgbClr val="B8BCD0"/>
                </a:solidFill>
              </a:rPr>
              <a:t>Die fünf möglichen Empfehlungen der Anwendung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Problem und Ziel</a:t>
            </a:r>
            <a:endParaRPr lang="en-US" sz="3000" dirty="0"/>
          </a:p>
        </p:txBody>
      </p:sp>
      <p:sp>
        <p:nvSpPr>
          <p:cNvPr id="4" name="Problem-Karte"/>
          <p:cNvSpPr/>
          <p:nvPr/>
        </p:nvSpPr>
        <p:spPr>
          <a:xfrm>
            <a:off x="457200" y="1188720"/>
            <a:ext cx="4846320" cy="804672"/>
          </a:xfrm>
          <a:prstGeom prst="roundRect">
            <a:avLst>
              <a:gd name="adj" fmla="val 909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Icon-Kreis"/>
          <p:cNvSpPr/>
          <p:nvPr/>
        </p:nvSpPr>
        <p:spPr>
          <a:xfrm>
            <a:off x="621792" y="1344168"/>
            <a:ext cx="493776" cy="493776"/>
          </a:xfrm>
          <a:prstGeom prst="ellipse">
            <a:avLst/>
          </a:prstGeom>
          <a:solidFill>
            <a:srgbClr val="FFD400"/>
          </a:solidFill>
          <a:ln w="12700">
            <a:solidFill>
              <a:srgbClr val="FFD400"/>
            </a:solidFill>
            <a:prstDash val="solid"/>
          </a:ln>
        </p:spPr>
        <p:txBody>
          <a:bodyPr/>
          <a:lstStyle/>
          <a:p>
            <a:endParaRPr lang="de-CH"/>
          </a:p>
        </p:txBody>
      </p:sp>
      <p:pic>
        <p:nvPicPr>
          <p:cNvPr id="6" name="Image 0" descr="Icon"/>
          <p:cNvPicPr>
            <a:picLocks noChangeAspect="1"/>
          </p:cNvPicPr>
          <p:nvPr/>
        </p:nvPicPr>
        <p:blipFill>
          <a:blip r:embed="rId3"/>
          <a:stretch>
            <a:fillRect/>
          </a:stretch>
        </p:blipFill>
        <p:spPr>
          <a:xfrm>
            <a:off x="745236" y="1467612"/>
            <a:ext cx="246888" cy="246888"/>
          </a:xfrm>
          <a:prstGeom prst="rect">
            <a:avLst/>
          </a:prstGeom>
        </p:spPr>
      </p:pic>
      <p:sp>
        <p:nvSpPr>
          <p:cNvPr id="7" name="Text 3"/>
          <p:cNvSpPr txBox="1"/>
          <p:nvPr/>
        </p:nvSpPr>
        <p:spPr>
          <a:xfrm>
            <a:off x="1298448" y="1298448"/>
            <a:ext cx="3886200" cy="274320"/>
          </a:xfrm>
          <a:prstGeom prst="rect">
            <a:avLst/>
          </a:prstGeom>
          <a:noFill/>
          <a:ln/>
        </p:spPr>
        <p:txBody>
          <a:bodyPr wrap="square" lIns="0" tIns="0" rIns="0" bIns="0" rtlCol="0" anchor="t"/>
          <a:lstStyle/>
          <a:p>
            <a:pPr marL="0" indent="0">
              <a:buNone/>
            </a:pPr>
            <a:r>
              <a:rPr lang="en-US" sz="1600" b="1" dirty="0">
                <a:solidFill>
                  <a:schemeClr val="tx2"/>
                </a:solidFill>
              </a:rPr>
              <a:t>Viele KI-Ideen, aber nicht jede lohnt sich</a:t>
            </a:r>
            <a:endParaRPr lang="en-US" sz="1600" dirty="0"/>
          </a:p>
        </p:txBody>
      </p:sp>
      <p:sp>
        <p:nvSpPr>
          <p:cNvPr id="8" name="Text 4"/>
          <p:cNvSpPr txBox="1"/>
          <p:nvPr/>
        </p:nvSpPr>
        <p:spPr>
          <a:xfrm>
            <a:off x="1298448" y="1591056"/>
            <a:ext cx="3886200" cy="274320"/>
          </a:xfrm>
          <a:prstGeom prst="rect">
            <a:avLst/>
          </a:prstGeom>
          <a:noFill/>
          <a:ln/>
        </p:spPr>
        <p:txBody>
          <a:bodyPr wrap="square" lIns="0" tIns="0" rIns="0" bIns="0" rtlCol="0" anchor="t"/>
          <a:lstStyle/>
          <a:p>
            <a:pPr marL="0" indent="0">
              <a:buNone/>
            </a:pPr>
            <a:r>
              <a:rPr lang="en-US" sz="1400" dirty="0">
                <a:solidFill>
                  <a:srgbClr val="565C75"/>
                </a:solidFill>
              </a:rPr>
              <a:t>Der Hype ersetzt keine Wirtschaftlichkeitsrechnung.</a:t>
            </a:r>
            <a:endParaRPr lang="en-US" sz="1400" dirty="0"/>
          </a:p>
        </p:txBody>
      </p:sp>
      <p:sp>
        <p:nvSpPr>
          <p:cNvPr id="9" name="Problem-Karte"/>
          <p:cNvSpPr/>
          <p:nvPr/>
        </p:nvSpPr>
        <p:spPr>
          <a:xfrm>
            <a:off x="457200" y="2121408"/>
            <a:ext cx="4846320" cy="804672"/>
          </a:xfrm>
          <a:prstGeom prst="roundRect">
            <a:avLst>
              <a:gd name="adj" fmla="val 909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0" name="Icon-Kreis"/>
          <p:cNvSpPr/>
          <p:nvPr/>
        </p:nvSpPr>
        <p:spPr>
          <a:xfrm>
            <a:off x="621792" y="2276856"/>
            <a:ext cx="493776" cy="493776"/>
          </a:xfrm>
          <a:prstGeom prst="ellipse">
            <a:avLst/>
          </a:prstGeom>
          <a:solidFill>
            <a:srgbClr val="3D8BFF"/>
          </a:solidFill>
          <a:ln w="12700">
            <a:solidFill>
              <a:srgbClr val="3D8BFF"/>
            </a:solidFill>
            <a:prstDash val="solid"/>
          </a:ln>
        </p:spPr>
        <p:txBody>
          <a:bodyPr/>
          <a:lstStyle/>
          <a:p>
            <a:endParaRPr lang="de-CH"/>
          </a:p>
        </p:txBody>
      </p:sp>
      <p:pic>
        <p:nvPicPr>
          <p:cNvPr id="11" name="Image 1" descr="Icon"/>
          <p:cNvPicPr>
            <a:picLocks noChangeAspect="1"/>
          </p:cNvPicPr>
          <p:nvPr/>
        </p:nvPicPr>
        <p:blipFill>
          <a:blip r:embed="rId4"/>
          <a:stretch>
            <a:fillRect/>
          </a:stretch>
        </p:blipFill>
        <p:spPr>
          <a:xfrm>
            <a:off x="745236" y="2400300"/>
            <a:ext cx="246888" cy="246888"/>
          </a:xfrm>
          <a:prstGeom prst="rect">
            <a:avLst/>
          </a:prstGeom>
        </p:spPr>
      </p:pic>
      <p:sp>
        <p:nvSpPr>
          <p:cNvPr id="12" name="Text 7"/>
          <p:cNvSpPr txBox="1"/>
          <p:nvPr/>
        </p:nvSpPr>
        <p:spPr>
          <a:xfrm>
            <a:off x="1298448" y="2231136"/>
            <a:ext cx="3886200" cy="274320"/>
          </a:xfrm>
          <a:prstGeom prst="rect">
            <a:avLst/>
          </a:prstGeom>
          <a:noFill/>
          <a:ln/>
        </p:spPr>
        <p:txBody>
          <a:bodyPr wrap="square" lIns="0" tIns="0" rIns="0" bIns="0" rtlCol="0" anchor="t"/>
          <a:lstStyle/>
          <a:p>
            <a:pPr marL="0" indent="0">
              <a:buNone/>
            </a:pPr>
            <a:r>
              <a:rPr lang="en-US" sz="1600" b="1" dirty="0">
                <a:solidFill>
                  <a:schemeClr val="tx2"/>
                </a:solidFill>
              </a:rPr>
              <a:t>Regeln sind oft besser</a:t>
            </a:r>
            <a:endParaRPr lang="en-US" sz="1600" dirty="0"/>
          </a:p>
        </p:txBody>
      </p:sp>
      <p:sp>
        <p:nvSpPr>
          <p:cNvPr id="13" name="Text 8"/>
          <p:cNvSpPr txBox="1"/>
          <p:nvPr/>
        </p:nvSpPr>
        <p:spPr>
          <a:xfrm>
            <a:off x="1298448" y="2523744"/>
            <a:ext cx="3886200" cy="274320"/>
          </a:xfrm>
          <a:prstGeom prst="rect">
            <a:avLst/>
          </a:prstGeom>
          <a:noFill/>
          <a:ln/>
        </p:spPr>
        <p:txBody>
          <a:bodyPr wrap="square" lIns="0" tIns="0" rIns="0" bIns="0" rtlCol="0" anchor="t"/>
          <a:lstStyle/>
          <a:p>
            <a:pPr marL="0" indent="0">
              <a:buNone/>
            </a:pPr>
            <a:r>
              <a:rPr lang="en-US" sz="1400" dirty="0">
                <a:solidFill>
                  <a:srgbClr val="565C75"/>
                </a:solidFill>
              </a:rPr>
              <a:t>Günstiger, zuverlässiger, erklärbarer.</a:t>
            </a:r>
            <a:endParaRPr lang="en-US" sz="1400" dirty="0"/>
          </a:p>
        </p:txBody>
      </p:sp>
      <p:sp>
        <p:nvSpPr>
          <p:cNvPr id="14" name="Problem-Karte"/>
          <p:cNvSpPr/>
          <p:nvPr/>
        </p:nvSpPr>
        <p:spPr>
          <a:xfrm>
            <a:off x="457200" y="3054096"/>
            <a:ext cx="4846320" cy="804672"/>
          </a:xfrm>
          <a:prstGeom prst="roundRect">
            <a:avLst>
              <a:gd name="adj" fmla="val 909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5" name="Icon-Kreis"/>
          <p:cNvSpPr/>
          <p:nvPr/>
        </p:nvSpPr>
        <p:spPr>
          <a:xfrm>
            <a:off x="621792" y="3209544"/>
            <a:ext cx="493776" cy="493776"/>
          </a:xfrm>
          <a:prstGeom prst="ellipse">
            <a:avLst/>
          </a:prstGeom>
          <a:solidFill>
            <a:srgbClr val="FF5A4F"/>
          </a:solidFill>
          <a:ln w="12700">
            <a:solidFill>
              <a:srgbClr val="FF5A4F"/>
            </a:solidFill>
            <a:prstDash val="solid"/>
          </a:ln>
        </p:spPr>
        <p:txBody>
          <a:bodyPr/>
          <a:lstStyle/>
          <a:p>
            <a:endParaRPr lang="de-CH"/>
          </a:p>
        </p:txBody>
      </p:sp>
      <p:pic>
        <p:nvPicPr>
          <p:cNvPr id="16" name="Image 2" descr="Icon"/>
          <p:cNvPicPr>
            <a:picLocks noChangeAspect="1"/>
          </p:cNvPicPr>
          <p:nvPr/>
        </p:nvPicPr>
        <p:blipFill>
          <a:blip r:embed="rId5"/>
          <a:stretch>
            <a:fillRect/>
          </a:stretch>
        </p:blipFill>
        <p:spPr>
          <a:xfrm>
            <a:off x="745236" y="3332988"/>
            <a:ext cx="246888" cy="246888"/>
          </a:xfrm>
          <a:prstGeom prst="rect">
            <a:avLst/>
          </a:prstGeom>
        </p:spPr>
      </p:pic>
      <p:sp>
        <p:nvSpPr>
          <p:cNvPr id="17" name="Text 11"/>
          <p:cNvSpPr txBox="1"/>
          <p:nvPr/>
        </p:nvSpPr>
        <p:spPr>
          <a:xfrm>
            <a:off x="1298448" y="3163824"/>
            <a:ext cx="3886200" cy="274320"/>
          </a:xfrm>
          <a:prstGeom prst="rect">
            <a:avLst/>
          </a:prstGeom>
          <a:noFill/>
          <a:ln/>
        </p:spPr>
        <p:txBody>
          <a:bodyPr wrap="square" lIns="0" tIns="0" rIns="0" bIns="0" rtlCol="0" anchor="t"/>
          <a:lstStyle/>
          <a:p>
            <a:pPr marL="0" indent="0">
              <a:buNone/>
            </a:pPr>
            <a:r>
              <a:rPr lang="en-US" sz="1600" b="1" dirty="0">
                <a:solidFill>
                  <a:schemeClr val="tx2"/>
                </a:solidFill>
              </a:rPr>
              <a:t>Fehler können teuer sein</a:t>
            </a:r>
            <a:endParaRPr lang="en-US" sz="1600" dirty="0"/>
          </a:p>
        </p:txBody>
      </p:sp>
      <p:sp>
        <p:nvSpPr>
          <p:cNvPr id="18" name="Text 12"/>
          <p:cNvSpPr txBox="1"/>
          <p:nvPr/>
        </p:nvSpPr>
        <p:spPr>
          <a:xfrm>
            <a:off x="1298448" y="3456432"/>
            <a:ext cx="3886200" cy="274320"/>
          </a:xfrm>
          <a:prstGeom prst="rect">
            <a:avLst/>
          </a:prstGeom>
          <a:noFill/>
          <a:ln/>
        </p:spPr>
        <p:txBody>
          <a:bodyPr wrap="square" lIns="0" tIns="0" rIns="0" bIns="0" rtlCol="0" anchor="t"/>
          <a:lstStyle/>
          <a:p>
            <a:pPr marL="0" indent="0">
              <a:buNone/>
            </a:pPr>
            <a:r>
              <a:rPr lang="en-US" sz="1400" dirty="0">
                <a:solidFill>
                  <a:srgbClr val="565C75"/>
                </a:solidFill>
              </a:rPr>
              <a:t>Bei hohem Risiko darf KI nicht allein entscheiden.</a:t>
            </a:r>
            <a:endParaRPr lang="en-US" sz="1400" dirty="0"/>
          </a:p>
        </p:txBody>
      </p:sp>
      <p:sp>
        <p:nvSpPr>
          <p:cNvPr id="19" name="Leitfrage"/>
          <p:cNvSpPr/>
          <p:nvPr/>
        </p:nvSpPr>
        <p:spPr>
          <a:xfrm>
            <a:off x="5577840" y="1188720"/>
            <a:ext cx="3108960" cy="2706624"/>
          </a:xfrm>
          <a:prstGeom prst="roundRect">
            <a:avLst>
              <a:gd name="adj" fmla="val 2703"/>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20" name="Text 14"/>
          <p:cNvSpPr txBox="1"/>
          <p:nvPr/>
        </p:nvSpPr>
        <p:spPr>
          <a:xfrm>
            <a:off x="5806440" y="1371600"/>
            <a:ext cx="2651760" cy="274320"/>
          </a:xfrm>
          <a:prstGeom prst="rect">
            <a:avLst/>
          </a:prstGeom>
          <a:noFill/>
          <a:ln/>
        </p:spPr>
        <p:txBody>
          <a:bodyPr wrap="square" lIns="0" tIns="0" rIns="0" bIns="0" rtlCol="0" anchor="t"/>
          <a:lstStyle/>
          <a:p>
            <a:pPr marL="0" indent="0">
              <a:buNone/>
            </a:pPr>
            <a:r>
              <a:rPr lang="en-US" sz="1200" b="1" kern="0" spc="200" dirty="0">
                <a:solidFill>
                  <a:srgbClr val="B8BCD0"/>
                </a:solidFill>
              </a:rPr>
              <a:t>LEITFRAGE</a:t>
            </a:r>
            <a:endParaRPr lang="en-US" sz="1200" dirty="0"/>
          </a:p>
        </p:txBody>
      </p:sp>
      <p:sp>
        <p:nvSpPr>
          <p:cNvPr id="21" name="Text 15"/>
          <p:cNvSpPr txBox="1"/>
          <p:nvPr/>
        </p:nvSpPr>
        <p:spPr>
          <a:xfrm>
            <a:off x="5806440" y="1691640"/>
            <a:ext cx="2651760" cy="2103120"/>
          </a:xfrm>
          <a:prstGeom prst="rect">
            <a:avLst/>
          </a:prstGeom>
          <a:noFill/>
          <a:ln/>
        </p:spPr>
        <p:txBody>
          <a:bodyPr wrap="square" lIns="0" tIns="0" rIns="0" bIns="0" rtlCol="0" anchor="t"/>
          <a:lstStyle/>
          <a:p>
            <a:pPr marL="0" indent="0">
              <a:buNone/>
            </a:pPr>
            <a:r>
              <a:rPr lang="en-US" sz="1700" dirty="0">
                <a:solidFill>
                  <a:schemeClr val="bg1"/>
                </a:solidFill>
              </a:rPr>
              <a:t>Unter welchen Bedingungen erzeugt KI einen grösseren Nutzen als eine klassische, regelbasierte oder manuelle Lösung?</a:t>
            </a:r>
            <a:endParaRPr lang="en-US" sz="1700" dirty="0"/>
          </a:p>
        </p:txBody>
      </p:sp>
      <p:sp>
        <p:nvSpPr>
          <p:cNvPr id="22" name="Ziel"/>
          <p:cNvSpPr/>
          <p:nvPr/>
        </p:nvSpPr>
        <p:spPr>
          <a:xfrm>
            <a:off x="457200" y="4023360"/>
            <a:ext cx="8229600" cy="594360"/>
          </a:xfrm>
          <a:prstGeom prst="roundRect">
            <a:avLst>
              <a:gd name="adj" fmla="val 1230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3" name="Text 17"/>
          <p:cNvSpPr txBox="1"/>
          <p:nvPr/>
        </p:nvSpPr>
        <p:spPr>
          <a:xfrm>
            <a:off x="685800" y="4023360"/>
            <a:ext cx="7772400" cy="594360"/>
          </a:xfrm>
          <a:prstGeom prst="rect">
            <a:avLst/>
          </a:prstGeom>
          <a:noFill/>
          <a:ln/>
        </p:spPr>
        <p:txBody>
          <a:bodyPr wrap="square" lIns="0" tIns="0" rIns="0" bIns="0" rtlCol="0" anchor="ctr"/>
          <a:lstStyle/>
          <a:p>
            <a:pPr marL="0" indent="0">
              <a:buNone/>
            </a:pPr>
            <a:r>
              <a:rPr lang="en-US" sz="1500" b="1" dirty="0">
                <a:solidFill>
                  <a:schemeClr val="tx2"/>
                </a:solidFill>
              </a:rPr>
              <a:t>Ziel: </a:t>
            </a:r>
            <a:r>
              <a:rPr lang="en-US" sz="1500" dirty="0">
                <a:solidFill>
                  <a:schemeClr val="tx1"/>
                </a:solidFill>
              </a:rPr>
              <a:t>erfassen  →  transparent bewerten  →  begründet empfehlen  →  auswerten</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Kriterienkatalog für sinnvollen KI-Einsatz</a:t>
            </a:r>
            <a:endParaRPr lang="en-US" sz="3000" dirty="0"/>
          </a:p>
        </p:txBody>
      </p:sp>
      <p:sp>
        <p:nvSpPr>
          <p:cNvPr id="4" name="Diagramm-Karte"/>
          <p:cNvSpPr/>
          <p:nvPr/>
        </p:nvSpPr>
        <p:spPr>
          <a:xfrm>
            <a:off x="457200" y="1143000"/>
            <a:ext cx="5120640" cy="3474720"/>
          </a:xfrm>
          <a:prstGeom prst="roundRect">
            <a:avLst>
              <a:gd name="adj" fmla="val 210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Text 2"/>
          <p:cNvSpPr txBox="1"/>
          <p:nvPr/>
        </p:nvSpPr>
        <p:spPr>
          <a:xfrm>
            <a:off x="685800" y="1261872"/>
            <a:ext cx="4663440" cy="274320"/>
          </a:xfrm>
          <a:prstGeom prst="rect">
            <a:avLst/>
          </a:prstGeom>
          <a:noFill/>
          <a:ln/>
        </p:spPr>
        <p:txBody>
          <a:bodyPr wrap="square" lIns="0" tIns="0" rIns="0" bIns="0" rtlCol="0" anchor="t"/>
          <a:lstStyle/>
          <a:p>
            <a:pPr marL="0" indent="0">
              <a:buNone/>
            </a:pPr>
            <a:r>
              <a:rPr lang="en-US" sz="1400" b="1" dirty="0">
                <a:solidFill>
                  <a:schemeClr val="tx2"/>
                </a:solidFill>
              </a:rPr>
              <a:t>Gewicht der Kriterien im KI-Nutzwert</a:t>
            </a:r>
            <a:endParaRPr lang="en-US" sz="1400" dirty="0"/>
          </a:p>
        </p:txBody>
      </p:sp>
      <p:graphicFrame>
        <p:nvGraphicFramePr>
          <p:cNvPr id="6" name="Chart 0"/>
          <p:cNvGraphicFramePr/>
          <p:nvPr/>
        </p:nvGraphicFramePr>
        <p:xfrm>
          <a:off x="594360" y="1554480"/>
          <a:ext cx="484632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7" name="Formel"/>
          <p:cNvSpPr/>
          <p:nvPr/>
        </p:nvSpPr>
        <p:spPr>
          <a:xfrm>
            <a:off x="5852160" y="1143000"/>
            <a:ext cx="2834640" cy="1600200"/>
          </a:xfrm>
          <a:prstGeom prst="roundRect">
            <a:avLst>
              <a:gd name="adj" fmla="val 4571"/>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8" name="Text 4"/>
          <p:cNvSpPr txBox="1"/>
          <p:nvPr/>
        </p:nvSpPr>
        <p:spPr>
          <a:xfrm>
            <a:off x="6035040" y="1261872"/>
            <a:ext cx="2560320" cy="228600"/>
          </a:xfrm>
          <a:prstGeom prst="rect">
            <a:avLst/>
          </a:prstGeom>
          <a:noFill/>
          <a:ln/>
        </p:spPr>
        <p:txBody>
          <a:bodyPr wrap="square" lIns="0" tIns="0" rIns="0" bIns="0" rtlCol="0" anchor="t"/>
          <a:lstStyle/>
          <a:p>
            <a:pPr marL="0" indent="0">
              <a:buNone/>
            </a:pPr>
            <a:r>
              <a:rPr lang="en-US" sz="1200" b="1" kern="0" spc="200" dirty="0">
                <a:solidFill>
                  <a:srgbClr val="B8BCD0"/>
                </a:solidFill>
              </a:rPr>
              <a:t>KI-NUTZWERT 0–100</a:t>
            </a:r>
            <a:endParaRPr lang="en-US" sz="1200" dirty="0"/>
          </a:p>
        </p:txBody>
      </p:sp>
      <p:sp>
        <p:nvSpPr>
          <p:cNvPr id="9" name="Text 5"/>
          <p:cNvSpPr txBox="1"/>
          <p:nvPr/>
        </p:nvSpPr>
        <p:spPr>
          <a:xfrm>
            <a:off x="6035040" y="1536192"/>
            <a:ext cx="2514600" cy="1143000"/>
          </a:xfrm>
          <a:prstGeom prst="rect">
            <a:avLst/>
          </a:prstGeom>
          <a:noFill/>
          <a:ln/>
        </p:spPr>
        <p:txBody>
          <a:bodyPr wrap="square" lIns="0" tIns="0" rIns="0" bIns="0" rtlCol="0" anchor="t"/>
          <a:lstStyle/>
          <a:p>
            <a:pPr marL="0" indent="0">
              <a:buNone/>
            </a:pPr>
            <a:r>
              <a:rPr lang="en-US" sz="1800" dirty="0">
                <a:solidFill>
                  <a:schemeClr val="bg1"/>
                </a:solidFill>
              </a:rPr>
              <a:t>gewichtete Summe der 7 Teilscores × KI-Bedarf-Faktor</a:t>
            </a:r>
            <a:endParaRPr lang="en-US" sz="1800" dirty="0"/>
          </a:p>
        </p:txBody>
      </p:sp>
      <p:sp>
        <p:nvSpPr>
          <p:cNvPr id="10" name="Hinweis"/>
          <p:cNvSpPr/>
          <p:nvPr/>
        </p:nvSpPr>
        <p:spPr>
          <a:xfrm>
            <a:off x="5852160" y="2880360"/>
            <a:ext cx="2834640" cy="1737360"/>
          </a:xfrm>
          <a:prstGeom prst="roundRect">
            <a:avLst>
              <a:gd name="adj" fmla="val 421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1" name="Icon-Kreis"/>
          <p:cNvSpPr/>
          <p:nvPr/>
        </p:nvSpPr>
        <p:spPr>
          <a:xfrm>
            <a:off x="6035040" y="3017520"/>
            <a:ext cx="411480" cy="411480"/>
          </a:xfrm>
          <a:prstGeom prst="ellipse">
            <a:avLst/>
          </a:prstGeom>
          <a:solidFill>
            <a:srgbClr val="00C46A"/>
          </a:solidFill>
          <a:ln w="12700">
            <a:solidFill>
              <a:srgbClr val="00C46A"/>
            </a:solidFill>
            <a:prstDash val="solid"/>
          </a:ln>
        </p:spPr>
        <p:txBody>
          <a:bodyPr/>
          <a:lstStyle/>
          <a:p>
            <a:endParaRPr lang="de-CH"/>
          </a:p>
        </p:txBody>
      </p:sp>
      <p:pic>
        <p:nvPicPr>
          <p:cNvPr id="12" name="Image 0" descr="Icon"/>
          <p:cNvPicPr>
            <a:picLocks noChangeAspect="1"/>
          </p:cNvPicPr>
          <p:nvPr/>
        </p:nvPicPr>
        <p:blipFill>
          <a:blip r:embed="rId4"/>
          <a:stretch>
            <a:fillRect/>
          </a:stretch>
        </p:blipFill>
        <p:spPr>
          <a:xfrm>
            <a:off x="6137910" y="3120390"/>
            <a:ext cx="205740" cy="205740"/>
          </a:xfrm>
          <a:prstGeom prst="rect">
            <a:avLst/>
          </a:prstGeom>
        </p:spPr>
      </p:pic>
      <p:sp>
        <p:nvSpPr>
          <p:cNvPr id="13" name="Text 8"/>
          <p:cNvSpPr txBox="1"/>
          <p:nvPr/>
        </p:nvSpPr>
        <p:spPr>
          <a:xfrm>
            <a:off x="6583680" y="3072384"/>
            <a:ext cx="2011680" cy="320040"/>
          </a:xfrm>
          <a:prstGeom prst="rect">
            <a:avLst/>
          </a:prstGeom>
          <a:noFill/>
          <a:ln/>
        </p:spPr>
        <p:txBody>
          <a:bodyPr wrap="square" lIns="0" tIns="0" rIns="0" bIns="0" rtlCol="0" anchor="t"/>
          <a:lstStyle/>
          <a:p>
            <a:pPr marL="0" indent="0">
              <a:buNone/>
            </a:pPr>
            <a:r>
              <a:rPr lang="en-US" sz="1500" b="1" dirty="0">
                <a:solidFill>
                  <a:schemeClr val="tx2"/>
                </a:solidFill>
              </a:rPr>
              <a:t>Transparent und testbar</a:t>
            </a:r>
            <a:endParaRPr lang="en-US" sz="1500" dirty="0"/>
          </a:p>
        </p:txBody>
      </p:sp>
      <p:sp>
        <p:nvSpPr>
          <p:cNvPr id="14" name="Text 9"/>
          <p:cNvSpPr txBox="1"/>
          <p:nvPr/>
        </p:nvSpPr>
        <p:spPr>
          <a:xfrm>
            <a:off x="6035040" y="3566160"/>
            <a:ext cx="2514600" cy="1005840"/>
          </a:xfrm>
          <a:prstGeom prst="rect">
            <a:avLst/>
          </a:prstGeom>
          <a:noFill/>
          <a:ln/>
        </p:spPr>
        <p:txBody>
          <a:bodyPr wrap="square" lIns="0" tIns="0" rIns="0" bIns="0" rtlCol="0" anchor="t"/>
          <a:lstStyle/>
          <a:p>
            <a:pPr marL="0" indent="0">
              <a:buNone/>
            </a:pPr>
            <a:r>
              <a:rPr lang="en-US" sz="1400" dirty="0">
                <a:solidFill>
                  <a:srgbClr val="565C75"/>
                </a:solidFill>
              </a:rPr>
              <a:t>Jeder Teilscore ist in der App sichtbar. Die Gewichte sind Annahmen, keine Naturgesetze.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Von den Kriterien zur Empfehlung</a:t>
            </a:r>
            <a:endParaRPr lang="en-US" sz="3000" dirty="0"/>
          </a:p>
        </p:txBody>
      </p:sp>
      <p:sp>
        <p:nvSpPr>
          <p:cNvPr id="4" name="Regel-Zeile"/>
          <p:cNvSpPr/>
          <p:nvPr/>
        </p:nvSpPr>
        <p:spPr>
          <a:xfrm>
            <a:off x="457200" y="1143000"/>
            <a:ext cx="822960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Nummer"/>
          <p:cNvSpPr/>
          <p:nvPr/>
        </p:nvSpPr>
        <p:spPr>
          <a:xfrm>
            <a:off x="594360" y="1252728"/>
            <a:ext cx="329184" cy="329184"/>
          </a:xfrm>
          <a:prstGeom prst="ellipse">
            <a:avLst/>
          </a:prstGeom>
          <a:solidFill>
            <a:srgbClr val="1B1F3B"/>
          </a:solidFill>
          <a:ln w="12700">
            <a:solidFill>
              <a:srgbClr val="1B1F3B"/>
            </a:solidFill>
            <a:prstDash val="solid"/>
          </a:ln>
        </p:spPr>
        <p:txBody>
          <a:bodyPr/>
          <a:lstStyle/>
          <a:p>
            <a:endParaRPr lang="de-CH"/>
          </a:p>
        </p:txBody>
      </p:sp>
      <p:sp>
        <p:nvSpPr>
          <p:cNvPr id="6" name="Text 3"/>
          <p:cNvSpPr txBox="1"/>
          <p:nvPr/>
        </p:nvSpPr>
        <p:spPr>
          <a:xfrm>
            <a:off x="594360" y="1252728"/>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4"/>
          <p:cNvSpPr txBox="1"/>
          <p:nvPr/>
        </p:nvSpPr>
        <p:spPr>
          <a:xfrm>
            <a:off x="1097280" y="1143000"/>
            <a:ext cx="4114800" cy="548640"/>
          </a:xfrm>
          <a:prstGeom prst="rect">
            <a:avLst/>
          </a:prstGeom>
          <a:noFill/>
          <a:ln/>
        </p:spPr>
        <p:txBody>
          <a:bodyPr wrap="square" lIns="0" tIns="0" rIns="0" bIns="0" rtlCol="0" anchor="ctr"/>
          <a:lstStyle/>
          <a:p>
            <a:pPr marL="0" indent="0">
              <a:buNone/>
            </a:pPr>
            <a:r>
              <a:rPr lang="en-US" sz="1500" dirty="0">
                <a:solidFill>
                  <a:schemeClr val="tx1"/>
                </a:solidFill>
              </a:rPr>
              <a:t>Pflichtangabe oder Daten fehlen</a:t>
            </a:r>
            <a:endParaRPr lang="en-US" sz="1500" dirty="0"/>
          </a:p>
        </p:txBody>
      </p:sp>
      <p:sp>
        <p:nvSpPr>
          <p:cNvPr id="8" name="Text 5"/>
          <p:cNvSpPr txBox="1"/>
          <p:nvPr/>
        </p:nvSpPr>
        <p:spPr>
          <a:xfrm>
            <a:off x="5257800" y="1143000"/>
            <a:ext cx="365760" cy="548640"/>
          </a:xfrm>
          <a:prstGeom prst="rect">
            <a:avLst/>
          </a:prstGeom>
          <a:noFill/>
          <a:ln/>
        </p:spPr>
        <p:txBody>
          <a:bodyPr wrap="square" lIns="0" tIns="0" rIns="0" bIns="0" rtlCol="0" anchor="ctr"/>
          <a:lstStyle/>
          <a:p>
            <a:pPr marL="0" indent="0" algn="ctr">
              <a:buNone/>
            </a:pPr>
            <a:r>
              <a:rPr lang="en-US" sz="1800" dirty="0">
                <a:solidFill>
                  <a:srgbClr val="565C75"/>
                </a:solidFill>
              </a:rPr>
              <a:t>→</a:t>
            </a:r>
            <a:endParaRPr lang="en-US" sz="1800" dirty="0"/>
          </a:p>
        </p:txBody>
      </p:sp>
      <p:sp>
        <p:nvSpPr>
          <p:cNvPr id="9" name="Ergebnis 1"/>
          <p:cNvSpPr txBox="1"/>
          <p:nvPr/>
        </p:nvSpPr>
        <p:spPr>
          <a:xfrm>
            <a:off x="5669280" y="1243584"/>
            <a:ext cx="2834640" cy="347472"/>
          </a:xfrm>
          <a:prstGeom prst="roundRect">
            <a:avLst>
              <a:gd name="adj" fmla="val 26316"/>
            </a:avLst>
          </a:prstGeom>
          <a:solidFill>
            <a:srgbClr val="9AA0B4"/>
          </a:solidFill>
          <a:ln/>
        </p:spPr>
        <p:txBody>
          <a:bodyPr wrap="square" lIns="0" tIns="0" rIns="0" bIns="0" rtlCol="0" anchor="ctr"/>
          <a:lstStyle/>
          <a:p>
            <a:pPr marL="0" indent="0" algn="ctr">
              <a:buNone/>
            </a:pPr>
            <a:r>
              <a:rPr lang="en-US" sz="1300" b="1" dirty="0">
                <a:solidFill>
                  <a:srgbClr val="111427"/>
                </a:solidFill>
              </a:rPr>
              <a:t>Entscheidung noch nicht möglich</a:t>
            </a:r>
            <a:endParaRPr lang="en-US" sz="1300" dirty="0"/>
          </a:p>
        </p:txBody>
      </p:sp>
      <p:sp>
        <p:nvSpPr>
          <p:cNvPr id="10" name="Regel-Zeile"/>
          <p:cNvSpPr/>
          <p:nvPr/>
        </p:nvSpPr>
        <p:spPr>
          <a:xfrm>
            <a:off x="457200" y="1783080"/>
            <a:ext cx="822960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1" name="Nummer"/>
          <p:cNvSpPr/>
          <p:nvPr/>
        </p:nvSpPr>
        <p:spPr>
          <a:xfrm>
            <a:off x="594360" y="1892808"/>
            <a:ext cx="329184" cy="329184"/>
          </a:xfrm>
          <a:prstGeom prst="ellipse">
            <a:avLst/>
          </a:prstGeom>
          <a:solidFill>
            <a:srgbClr val="1B1F3B"/>
          </a:solidFill>
          <a:ln w="12700">
            <a:solidFill>
              <a:srgbClr val="1B1F3B"/>
            </a:solidFill>
            <a:prstDash val="solid"/>
          </a:ln>
        </p:spPr>
        <p:txBody>
          <a:bodyPr/>
          <a:lstStyle/>
          <a:p>
            <a:endParaRPr lang="de-CH"/>
          </a:p>
        </p:txBody>
      </p:sp>
      <p:sp>
        <p:nvSpPr>
          <p:cNvPr id="12" name="Text 9"/>
          <p:cNvSpPr txBox="1"/>
          <p:nvPr/>
        </p:nvSpPr>
        <p:spPr>
          <a:xfrm>
            <a:off x="594360" y="1892808"/>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3" name="Text 10"/>
          <p:cNvSpPr txBox="1"/>
          <p:nvPr/>
        </p:nvSpPr>
        <p:spPr>
          <a:xfrm>
            <a:off x="1097280" y="1783080"/>
            <a:ext cx="4114800" cy="548640"/>
          </a:xfrm>
          <a:prstGeom prst="rect">
            <a:avLst/>
          </a:prstGeom>
          <a:noFill/>
          <a:ln/>
        </p:spPr>
        <p:txBody>
          <a:bodyPr wrap="square" lIns="0" tIns="0" rIns="0" bIns="0" rtlCol="0" anchor="ctr"/>
          <a:lstStyle/>
          <a:p>
            <a:pPr marL="0" indent="0">
              <a:buNone/>
            </a:pPr>
            <a:r>
              <a:rPr lang="en-US" sz="1500" dirty="0">
                <a:solidFill>
                  <a:schemeClr val="tx1"/>
                </a:solidFill>
              </a:rPr>
              <a:t>Weniger als 50 Fälle pro Monat</a:t>
            </a:r>
            <a:endParaRPr lang="en-US" sz="1500" dirty="0"/>
          </a:p>
        </p:txBody>
      </p:sp>
      <p:sp>
        <p:nvSpPr>
          <p:cNvPr id="14" name="Text 11"/>
          <p:cNvSpPr txBox="1"/>
          <p:nvPr/>
        </p:nvSpPr>
        <p:spPr>
          <a:xfrm>
            <a:off x="5257800" y="1783080"/>
            <a:ext cx="365760" cy="548640"/>
          </a:xfrm>
          <a:prstGeom prst="rect">
            <a:avLst/>
          </a:prstGeom>
          <a:noFill/>
          <a:ln/>
        </p:spPr>
        <p:txBody>
          <a:bodyPr wrap="square" lIns="0" tIns="0" rIns="0" bIns="0" rtlCol="0" anchor="ctr"/>
          <a:lstStyle/>
          <a:p>
            <a:pPr marL="0" indent="0" algn="ctr">
              <a:buNone/>
            </a:pPr>
            <a:r>
              <a:rPr lang="en-US" sz="1800" dirty="0">
                <a:solidFill>
                  <a:srgbClr val="565C75"/>
                </a:solidFill>
              </a:rPr>
              <a:t>→</a:t>
            </a:r>
            <a:endParaRPr lang="en-US" sz="1800" dirty="0"/>
          </a:p>
        </p:txBody>
      </p:sp>
      <p:sp>
        <p:nvSpPr>
          <p:cNvPr id="15" name="Ergebnis 2"/>
          <p:cNvSpPr txBox="1"/>
          <p:nvPr/>
        </p:nvSpPr>
        <p:spPr>
          <a:xfrm>
            <a:off x="5669280" y="1883664"/>
            <a:ext cx="2834640" cy="347472"/>
          </a:xfrm>
          <a:prstGeom prst="roundRect">
            <a:avLst>
              <a:gd name="adj" fmla="val 26316"/>
            </a:avLst>
          </a:prstGeom>
          <a:solidFill>
            <a:srgbClr val="FF5A4F"/>
          </a:solidFill>
          <a:ln/>
        </p:spPr>
        <p:txBody>
          <a:bodyPr wrap="square" lIns="0" tIns="0" rIns="0" bIns="0" rtlCol="0" anchor="ctr"/>
          <a:lstStyle/>
          <a:p>
            <a:pPr marL="0" indent="0" algn="ctr">
              <a:buNone/>
            </a:pPr>
            <a:r>
              <a:rPr lang="en-US" sz="1300" b="1" dirty="0">
                <a:solidFill>
                  <a:srgbClr val="111427"/>
                </a:solidFill>
              </a:rPr>
              <a:t>Manuelle Bearbeitung</a:t>
            </a:r>
            <a:endParaRPr lang="en-US" sz="1300" dirty="0"/>
          </a:p>
        </p:txBody>
      </p:sp>
      <p:sp>
        <p:nvSpPr>
          <p:cNvPr id="16" name="Regel-Zeile"/>
          <p:cNvSpPr/>
          <p:nvPr/>
        </p:nvSpPr>
        <p:spPr>
          <a:xfrm>
            <a:off x="457200" y="2423160"/>
            <a:ext cx="822960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7" name="Nummer"/>
          <p:cNvSpPr/>
          <p:nvPr/>
        </p:nvSpPr>
        <p:spPr>
          <a:xfrm>
            <a:off x="594360" y="2532888"/>
            <a:ext cx="329184" cy="329184"/>
          </a:xfrm>
          <a:prstGeom prst="ellipse">
            <a:avLst/>
          </a:prstGeom>
          <a:solidFill>
            <a:srgbClr val="1B1F3B"/>
          </a:solidFill>
          <a:ln w="12700">
            <a:solidFill>
              <a:srgbClr val="1B1F3B"/>
            </a:solidFill>
            <a:prstDash val="solid"/>
          </a:ln>
        </p:spPr>
        <p:txBody>
          <a:bodyPr/>
          <a:lstStyle/>
          <a:p>
            <a:endParaRPr lang="de-CH"/>
          </a:p>
        </p:txBody>
      </p:sp>
      <p:sp>
        <p:nvSpPr>
          <p:cNvPr id="18" name="Text 15"/>
          <p:cNvSpPr txBox="1"/>
          <p:nvPr/>
        </p:nvSpPr>
        <p:spPr>
          <a:xfrm>
            <a:off x="594360" y="2532888"/>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9" name="Text 16"/>
          <p:cNvSpPr txBox="1"/>
          <p:nvPr/>
        </p:nvSpPr>
        <p:spPr>
          <a:xfrm>
            <a:off x="1097280" y="2423160"/>
            <a:ext cx="4114800" cy="548640"/>
          </a:xfrm>
          <a:prstGeom prst="rect">
            <a:avLst/>
          </a:prstGeom>
          <a:noFill/>
          <a:ln/>
        </p:spPr>
        <p:txBody>
          <a:bodyPr wrap="square" lIns="0" tIns="0" rIns="0" bIns="0" rtlCol="0" anchor="ctr"/>
          <a:lstStyle/>
          <a:p>
            <a:pPr marL="0" indent="0">
              <a:buNone/>
            </a:pPr>
            <a:r>
              <a:rPr lang="en-US" sz="1500" dirty="0">
                <a:solidFill>
                  <a:schemeClr val="tx1"/>
                </a:solidFill>
              </a:rPr>
              <a:t>Regeln reichen aus (KI-Bedarf &lt; 40)</a:t>
            </a:r>
            <a:endParaRPr lang="en-US" sz="1500" dirty="0"/>
          </a:p>
        </p:txBody>
      </p:sp>
      <p:sp>
        <p:nvSpPr>
          <p:cNvPr id="20" name="Text 17"/>
          <p:cNvSpPr txBox="1"/>
          <p:nvPr/>
        </p:nvSpPr>
        <p:spPr>
          <a:xfrm>
            <a:off x="5257800" y="2423160"/>
            <a:ext cx="365760" cy="548640"/>
          </a:xfrm>
          <a:prstGeom prst="rect">
            <a:avLst/>
          </a:prstGeom>
          <a:noFill/>
          <a:ln/>
        </p:spPr>
        <p:txBody>
          <a:bodyPr wrap="square" lIns="0" tIns="0" rIns="0" bIns="0" rtlCol="0" anchor="ctr"/>
          <a:lstStyle/>
          <a:p>
            <a:pPr marL="0" indent="0" algn="ctr">
              <a:buNone/>
            </a:pPr>
            <a:r>
              <a:rPr lang="en-US" sz="1800" dirty="0">
                <a:solidFill>
                  <a:srgbClr val="565C75"/>
                </a:solidFill>
              </a:rPr>
              <a:t>→</a:t>
            </a:r>
            <a:endParaRPr lang="en-US" sz="1800" dirty="0"/>
          </a:p>
        </p:txBody>
      </p:sp>
      <p:sp>
        <p:nvSpPr>
          <p:cNvPr id="21" name="Ergebnis 3"/>
          <p:cNvSpPr txBox="1"/>
          <p:nvPr/>
        </p:nvSpPr>
        <p:spPr>
          <a:xfrm>
            <a:off x="5669280" y="2523744"/>
            <a:ext cx="2834640" cy="347472"/>
          </a:xfrm>
          <a:prstGeom prst="roundRect">
            <a:avLst>
              <a:gd name="adj" fmla="val 26316"/>
            </a:avLst>
          </a:prstGeom>
          <a:solidFill>
            <a:srgbClr val="FFD400"/>
          </a:solidFill>
          <a:ln/>
        </p:spPr>
        <p:txBody>
          <a:bodyPr wrap="square" lIns="0" tIns="0" rIns="0" bIns="0" rtlCol="0" anchor="ctr"/>
          <a:lstStyle/>
          <a:p>
            <a:pPr marL="0" indent="0" algn="ctr">
              <a:buNone/>
            </a:pPr>
            <a:r>
              <a:rPr lang="en-US" sz="1300" b="1" dirty="0">
                <a:solidFill>
                  <a:srgbClr val="111427"/>
                </a:solidFill>
              </a:rPr>
              <a:t>Klassische Lösung</a:t>
            </a:r>
            <a:endParaRPr lang="en-US" sz="1300" dirty="0"/>
          </a:p>
        </p:txBody>
      </p:sp>
      <p:sp>
        <p:nvSpPr>
          <p:cNvPr id="22" name="Regel-Zeile"/>
          <p:cNvSpPr/>
          <p:nvPr/>
        </p:nvSpPr>
        <p:spPr>
          <a:xfrm>
            <a:off x="457200" y="3063240"/>
            <a:ext cx="822960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3" name="Nummer"/>
          <p:cNvSpPr/>
          <p:nvPr/>
        </p:nvSpPr>
        <p:spPr>
          <a:xfrm>
            <a:off x="594360" y="3172968"/>
            <a:ext cx="329184" cy="329184"/>
          </a:xfrm>
          <a:prstGeom prst="ellipse">
            <a:avLst/>
          </a:prstGeom>
          <a:solidFill>
            <a:srgbClr val="1B1F3B"/>
          </a:solidFill>
          <a:ln w="12700">
            <a:solidFill>
              <a:srgbClr val="1B1F3B"/>
            </a:solidFill>
            <a:prstDash val="solid"/>
          </a:ln>
        </p:spPr>
        <p:txBody>
          <a:bodyPr/>
          <a:lstStyle/>
          <a:p>
            <a:endParaRPr lang="de-CH"/>
          </a:p>
        </p:txBody>
      </p:sp>
      <p:sp>
        <p:nvSpPr>
          <p:cNvPr id="24" name="Text 21"/>
          <p:cNvSpPr txBox="1"/>
          <p:nvPr/>
        </p:nvSpPr>
        <p:spPr>
          <a:xfrm>
            <a:off x="594360" y="3172968"/>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5" name="Text 22"/>
          <p:cNvSpPr txBox="1"/>
          <p:nvPr/>
        </p:nvSpPr>
        <p:spPr>
          <a:xfrm>
            <a:off x="1097280" y="3063240"/>
            <a:ext cx="4114800" cy="548640"/>
          </a:xfrm>
          <a:prstGeom prst="rect">
            <a:avLst/>
          </a:prstGeom>
          <a:noFill/>
          <a:ln/>
        </p:spPr>
        <p:txBody>
          <a:bodyPr wrap="square" lIns="0" tIns="0" rIns="0" bIns="0" rtlCol="0" anchor="ctr"/>
          <a:lstStyle/>
          <a:p>
            <a:pPr marL="0" indent="0">
              <a:buNone/>
            </a:pPr>
            <a:r>
              <a:rPr lang="en-US" sz="1500" dirty="0">
                <a:solidFill>
                  <a:schemeClr val="tx1"/>
                </a:solidFill>
              </a:rPr>
              <a:t>Hohes Risiko, niedrige Fehlertoleranz oder sensible Daten</a:t>
            </a:r>
            <a:endParaRPr lang="en-US" sz="1500" dirty="0"/>
          </a:p>
        </p:txBody>
      </p:sp>
      <p:sp>
        <p:nvSpPr>
          <p:cNvPr id="26" name="Text 23"/>
          <p:cNvSpPr txBox="1"/>
          <p:nvPr/>
        </p:nvSpPr>
        <p:spPr>
          <a:xfrm>
            <a:off x="5257800" y="3063240"/>
            <a:ext cx="365760" cy="548640"/>
          </a:xfrm>
          <a:prstGeom prst="rect">
            <a:avLst/>
          </a:prstGeom>
          <a:noFill/>
          <a:ln/>
        </p:spPr>
        <p:txBody>
          <a:bodyPr wrap="square" lIns="0" tIns="0" rIns="0" bIns="0" rtlCol="0" anchor="ctr"/>
          <a:lstStyle/>
          <a:p>
            <a:pPr marL="0" indent="0" algn="ctr">
              <a:buNone/>
            </a:pPr>
            <a:r>
              <a:rPr lang="en-US" sz="1800" dirty="0">
                <a:solidFill>
                  <a:srgbClr val="565C75"/>
                </a:solidFill>
              </a:rPr>
              <a:t>→</a:t>
            </a:r>
            <a:endParaRPr lang="en-US" sz="1800" dirty="0"/>
          </a:p>
        </p:txBody>
      </p:sp>
      <p:sp>
        <p:nvSpPr>
          <p:cNvPr id="27" name="Ergebnis 4"/>
          <p:cNvSpPr txBox="1"/>
          <p:nvPr/>
        </p:nvSpPr>
        <p:spPr>
          <a:xfrm>
            <a:off x="5669280" y="3163824"/>
            <a:ext cx="2834640" cy="347472"/>
          </a:xfrm>
          <a:prstGeom prst="roundRect">
            <a:avLst>
              <a:gd name="adj" fmla="val 26316"/>
            </a:avLst>
          </a:prstGeom>
          <a:solidFill>
            <a:srgbClr val="3D8BFF"/>
          </a:solidFill>
          <a:ln/>
        </p:spPr>
        <p:txBody>
          <a:bodyPr wrap="square" lIns="0" tIns="0" rIns="0" bIns="0" rtlCol="0" anchor="ctr"/>
          <a:lstStyle/>
          <a:p>
            <a:pPr marL="0" indent="0" algn="ctr">
              <a:buNone/>
            </a:pPr>
            <a:r>
              <a:rPr lang="en-US" sz="1300" b="1" dirty="0">
                <a:solidFill>
                  <a:srgbClr val="111427"/>
                </a:solidFill>
              </a:rPr>
              <a:t>KI als Assistenz (Human in the Loop)</a:t>
            </a:r>
            <a:endParaRPr lang="en-US" sz="1300" dirty="0"/>
          </a:p>
        </p:txBody>
      </p:sp>
      <p:sp>
        <p:nvSpPr>
          <p:cNvPr id="28" name="Regel-Zeile"/>
          <p:cNvSpPr/>
          <p:nvPr/>
        </p:nvSpPr>
        <p:spPr>
          <a:xfrm>
            <a:off x="457200" y="3703320"/>
            <a:ext cx="8229600" cy="548640"/>
          </a:xfrm>
          <a:prstGeom prst="roundRect">
            <a:avLst>
              <a:gd name="adj" fmla="val 1333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9" name="Nummer"/>
          <p:cNvSpPr/>
          <p:nvPr/>
        </p:nvSpPr>
        <p:spPr>
          <a:xfrm>
            <a:off x="594360" y="3813048"/>
            <a:ext cx="329184" cy="329184"/>
          </a:xfrm>
          <a:prstGeom prst="ellipse">
            <a:avLst/>
          </a:prstGeom>
          <a:solidFill>
            <a:srgbClr val="1B1F3B"/>
          </a:solidFill>
          <a:ln w="12700">
            <a:solidFill>
              <a:srgbClr val="1B1F3B"/>
            </a:solidFill>
            <a:prstDash val="solid"/>
          </a:ln>
        </p:spPr>
        <p:txBody>
          <a:bodyPr/>
          <a:lstStyle/>
          <a:p>
            <a:endParaRPr lang="de-CH"/>
          </a:p>
        </p:txBody>
      </p:sp>
      <p:sp>
        <p:nvSpPr>
          <p:cNvPr id="30" name="Text 27"/>
          <p:cNvSpPr txBox="1"/>
          <p:nvPr/>
        </p:nvSpPr>
        <p:spPr>
          <a:xfrm>
            <a:off x="594360" y="3813048"/>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31" name="Text 28"/>
          <p:cNvSpPr txBox="1"/>
          <p:nvPr/>
        </p:nvSpPr>
        <p:spPr>
          <a:xfrm>
            <a:off x="1097280" y="3703320"/>
            <a:ext cx="4114800" cy="548640"/>
          </a:xfrm>
          <a:prstGeom prst="rect">
            <a:avLst/>
          </a:prstGeom>
          <a:noFill/>
          <a:ln/>
        </p:spPr>
        <p:txBody>
          <a:bodyPr wrap="square" lIns="0" tIns="0" rIns="0" bIns="0" rtlCol="0" anchor="ctr"/>
          <a:lstStyle/>
          <a:p>
            <a:pPr marL="0" indent="0">
              <a:buNone/>
            </a:pPr>
            <a:r>
              <a:rPr lang="en-US" sz="1500" dirty="0">
                <a:solidFill>
                  <a:schemeClr val="tx1"/>
                </a:solidFill>
              </a:rPr>
              <a:t>KI-Nutzwert ≥ 60 ohne Einschränkung</a:t>
            </a:r>
            <a:endParaRPr lang="en-US" sz="1500" dirty="0"/>
          </a:p>
        </p:txBody>
      </p:sp>
      <p:sp>
        <p:nvSpPr>
          <p:cNvPr id="32" name="Text 29"/>
          <p:cNvSpPr txBox="1"/>
          <p:nvPr/>
        </p:nvSpPr>
        <p:spPr>
          <a:xfrm>
            <a:off x="5257800" y="3703320"/>
            <a:ext cx="365760" cy="548640"/>
          </a:xfrm>
          <a:prstGeom prst="rect">
            <a:avLst/>
          </a:prstGeom>
          <a:noFill/>
          <a:ln/>
        </p:spPr>
        <p:txBody>
          <a:bodyPr wrap="square" lIns="0" tIns="0" rIns="0" bIns="0" rtlCol="0" anchor="ctr"/>
          <a:lstStyle/>
          <a:p>
            <a:pPr marL="0" indent="0" algn="ctr">
              <a:buNone/>
            </a:pPr>
            <a:r>
              <a:rPr lang="en-US" sz="1800" dirty="0">
                <a:solidFill>
                  <a:srgbClr val="565C75"/>
                </a:solidFill>
              </a:rPr>
              <a:t>→</a:t>
            </a:r>
            <a:endParaRPr lang="en-US" sz="1800" dirty="0"/>
          </a:p>
        </p:txBody>
      </p:sp>
      <p:sp>
        <p:nvSpPr>
          <p:cNvPr id="33" name="Ergebnis 5"/>
          <p:cNvSpPr txBox="1"/>
          <p:nvPr/>
        </p:nvSpPr>
        <p:spPr>
          <a:xfrm>
            <a:off x="5669280" y="3803904"/>
            <a:ext cx="2834640" cy="347472"/>
          </a:xfrm>
          <a:prstGeom prst="roundRect">
            <a:avLst>
              <a:gd name="adj" fmla="val 26316"/>
            </a:avLst>
          </a:prstGeom>
          <a:solidFill>
            <a:srgbClr val="00C46A"/>
          </a:solidFill>
          <a:ln/>
        </p:spPr>
        <p:txBody>
          <a:bodyPr wrap="square" lIns="0" tIns="0" rIns="0" bIns="0" rtlCol="0" anchor="ctr"/>
          <a:lstStyle/>
          <a:p>
            <a:pPr marL="0" indent="0" algn="ctr">
              <a:buNone/>
            </a:pPr>
            <a:r>
              <a:rPr lang="en-US" sz="1300" b="1" dirty="0">
                <a:solidFill>
                  <a:srgbClr val="111427"/>
                </a:solidFill>
              </a:rPr>
              <a:t>KI sinnvoll</a:t>
            </a:r>
            <a:endParaRPr lang="en-US" sz="1300" dirty="0"/>
          </a:p>
        </p:txBody>
      </p:sp>
      <p:sp>
        <p:nvSpPr>
          <p:cNvPr id="34" name="Text 31"/>
          <p:cNvSpPr txBox="1"/>
          <p:nvPr/>
        </p:nvSpPr>
        <p:spPr>
          <a:xfrm>
            <a:off x="457200" y="4389120"/>
            <a:ext cx="8229600" cy="274320"/>
          </a:xfrm>
          <a:prstGeom prst="rect">
            <a:avLst/>
          </a:prstGeom>
          <a:noFill/>
          <a:ln/>
        </p:spPr>
        <p:txBody>
          <a:bodyPr wrap="square" lIns="0" tIns="0" rIns="0" bIns="0" rtlCol="0" anchor="t"/>
          <a:lstStyle/>
          <a:p>
            <a:pPr marL="0" indent="0">
              <a:buNone/>
            </a:pPr>
            <a:r>
              <a:rPr lang="en-US" sz="1200" dirty="0">
                <a:solidFill>
                  <a:srgbClr val="565C75"/>
                </a:solidFill>
              </a:rPr>
              <a:t>Reihenfolge = Priorität · deterministisch und testbar · ein Sprachmodell formuliert höchstens den Begründungstext</a:t>
            </a:r>
            <a:endParaRPr lang="en-US" sz="12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NoSQL-Datenmodell</a:t>
            </a:r>
            <a:endParaRPr lang="en-US" sz="3000" dirty="0"/>
          </a:p>
        </p:txBody>
      </p:sp>
      <p:sp>
        <p:nvSpPr>
          <p:cNvPr id="4" name="Dokument"/>
          <p:cNvSpPr/>
          <p:nvPr/>
        </p:nvSpPr>
        <p:spPr>
          <a:xfrm>
            <a:off x="457200" y="1143000"/>
            <a:ext cx="4846320" cy="3474720"/>
          </a:xfrm>
          <a:prstGeom prst="roundRect">
            <a:avLst>
              <a:gd name="adj" fmla="val 2105"/>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5" name="Text 2"/>
          <p:cNvSpPr txBox="1"/>
          <p:nvPr/>
        </p:nvSpPr>
        <p:spPr>
          <a:xfrm>
            <a:off x="640080" y="1234440"/>
            <a:ext cx="4480560" cy="274320"/>
          </a:xfrm>
          <a:prstGeom prst="rect">
            <a:avLst/>
          </a:prstGeom>
          <a:noFill/>
          <a:ln/>
        </p:spPr>
        <p:txBody>
          <a:bodyPr wrap="square" lIns="0" tIns="0" rIns="0" bIns="0" rtlCol="0" anchor="t"/>
          <a:lstStyle/>
          <a:p>
            <a:pPr marL="0" indent="0">
              <a:buNone/>
            </a:pPr>
            <a:r>
              <a:rPr lang="en-US" sz="1400" b="1" dirty="0">
                <a:solidFill>
                  <a:schemeClr val="bg1"/>
                </a:solidFill>
              </a:rPr>
              <a:t>usecases  ·  1 Dokument pro Use Case</a:t>
            </a:r>
            <a:endParaRPr lang="en-US" sz="1400" dirty="0"/>
          </a:p>
        </p:txBody>
      </p:sp>
      <p:sp>
        <p:nvSpPr>
          <p:cNvPr id="6" name="Text 3"/>
          <p:cNvSpPr txBox="1"/>
          <p:nvPr/>
        </p:nvSpPr>
        <p:spPr>
          <a:xfrm>
            <a:off x="640080" y="1536192"/>
            <a:ext cx="4480560" cy="274320"/>
          </a:xfrm>
          <a:prstGeom prst="rect">
            <a:avLst/>
          </a:prstGeom>
          <a:noFill/>
          <a:ln/>
        </p:spPr>
        <p:txBody>
          <a:bodyPr wrap="square" lIns="0" tIns="0" rIns="0" bIns="0" rtlCol="0" anchor="t"/>
          <a:lstStyle/>
          <a:p>
            <a:pPr marL="0" indent="0">
              <a:buNone/>
            </a:pPr>
            <a:r>
              <a:rPr lang="en-US" sz="1300" dirty="0">
                <a:solidFill>
                  <a:srgbClr val="B8BCD0"/>
                </a:solidFill>
              </a:rPr>
              <a:t>titel · branche · problemtyp · risiko · tags[ ]</a:t>
            </a:r>
            <a:endParaRPr lang="en-US" sz="1300" dirty="0"/>
          </a:p>
        </p:txBody>
      </p:sp>
      <p:sp>
        <p:nvSpPr>
          <p:cNvPr id="7" name="Eingebettet"/>
          <p:cNvSpPr/>
          <p:nvPr/>
        </p:nvSpPr>
        <p:spPr>
          <a:xfrm>
            <a:off x="640080" y="1920240"/>
            <a:ext cx="2148840" cy="1188720"/>
          </a:xfrm>
          <a:prstGeom prst="roundRect">
            <a:avLst>
              <a:gd name="adj" fmla="val 6154"/>
            </a:avLst>
          </a:prstGeom>
          <a:solidFill>
            <a:srgbClr val="FFFFFF"/>
          </a:solidFill>
          <a:ln w="12700">
            <a:solidFill>
              <a:srgbClr val="FFFFFF"/>
            </a:solidFill>
            <a:prstDash val="solid"/>
          </a:ln>
        </p:spPr>
        <p:txBody>
          <a:bodyPr/>
          <a:lstStyle/>
          <a:p>
            <a:endParaRPr lang="de-CH"/>
          </a:p>
        </p:txBody>
      </p:sp>
      <p:sp>
        <p:nvSpPr>
          <p:cNvPr id="8" name="Marker"/>
          <p:cNvSpPr/>
          <p:nvPr/>
        </p:nvSpPr>
        <p:spPr>
          <a:xfrm>
            <a:off x="777240" y="2075688"/>
            <a:ext cx="128016" cy="128016"/>
          </a:xfrm>
          <a:prstGeom prst="ellipse">
            <a:avLst/>
          </a:prstGeom>
          <a:solidFill>
            <a:srgbClr val="3D8BFF"/>
          </a:solidFill>
          <a:ln w="12700">
            <a:solidFill>
              <a:srgbClr val="3D8BFF"/>
            </a:solidFill>
            <a:prstDash val="solid"/>
          </a:ln>
        </p:spPr>
        <p:txBody>
          <a:bodyPr/>
          <a:lstStyle/>
          <a:p>
            <a:endParaRPr lang="de-CH"/>
          </a:p>
        </p:txBody>
      </p:sp>
      <p:sp>
        <p:nvSpPr>
          <p:cNvPr id="9" name="Text 6"/>
          <p:cNvSpPr txBox="1"/>
          <p:nvPr/>
        </p:nvSpPr>
        <p:spPr>
          <a:xfrm>
            <a:off x="987552" y="2011680"/>
            <a:ext cx="1737360" cy="274320"/>
          </a:xfrm>
          <a:prstGeom prst="rect">
            <a:avLst/>
          </a:prstGeom>
          <a:noFill/>
          <a:ln/>
        </p:spPr>
        <p:txBody>
          <a:bodyPr wrap="square" lIns="0" tIns="0" rIns="0" bIns="0" rtlCol="0" anchor="t"/>
          <a:lstStyle/>
          <a:p>
            <a:pPr marL="0" indent="0">
              <a:buNone/>
            </a:pPr>
            <a:r>
              <a:rPr lang="en-US" sz="1300" b="1" dirty="0">
                <a:solidFill>
                  <a:schemeClr val="tx2"/>
                </a:solidFill>
              </a:rPr>
              <a:t>kriterien { }</a:t>
            </a:r>
            <a:endParaRPr lang="en-US" sz="1300" dirty="0"/>
          </a:p>
        </p:txBody>
      </p:sp>
      <p:sp>
        <p:nvSpPr>
          <p:cNvPr id="10" name="Text 7"/>
          <p:cNvSpPr txBox="1"/>
          <p:nvPr/>
        </p:nvSpPr>
        <p:spPr>
          <a:xfrm>
            <a:off x="777240" y="2377440"/>
            <a:ext cx="1920240" cy="685800"/>
          </a:xfrm>
          <a:prstGeom prst="rect">
            <a:avLst/>
          </a:prstGeom>
          <a:noFill/>
          <a:ln/>
        </p:spPr>
        <p:txBody>
          <a:bodyPr wrap="square" lIns="0" tIns="0" rIns="0" bIns="0" rtlCol="0" anchor="t"/>
          <a:lstStyle/>
          <a:p>
            <a:pPr marL="0" indent="0">
              <a:buNone/>
            </a:pPr>
            <a:r>
              <a:rPr lang="en-US" sz="1200" dirty="0">
                <a:solidFill>
                  <a:srgbClr val="565C75"/>
                </a:solidFill>
              </a:rPr>
              <a:t>Volumen, Datenverfügbarkeit, Regelkomplexität, Fehlertoleranz …</a:t>
            </a:r>
            <a:endParaRPr lang="en-US" sz="1200" dirty="0"/>
          </a:p>
        </p:txBody>
      </p:sp>
      <p:sp>
        <p:nvSpPr>
          <p:cNvPr id="11" name="Eingebettet"/>
          <p:cNvSpPr/>
          <p:nvPr/>
        </p:nvSpPr>
        <p:spPr>
          <a:xfrm>
            <a:off x="3017520" y="1920240"/>
            <a:ext cx="2148840" cy="1188720"/>
          </a:xfrm>
          <a:prstGeom prst="roundRect">
            <a:avLst>
              <a:gd name="adj" fmla="val 6154"/>
            </a:avLst>
          </a:prstGeom>
          <a:solidFill>
            <a:srgbClr val="FFFFFF"/>
          </a:solidFill>
          <a:ln w="12700">
            <a:solidFill>
              <a:srgbClr val="FFFFFF"/>
            </a:solidFill>
            <a:prstDash val="solid"/>
          </a:ln>
        </p:spPr>
        <p:txBody>
          <a:bodyPr/>
          <a:lstStyle/>
          <a:p>
            <a:endParaRPr lang="de-CH"/>
          </a:p>
        </p:txBody>
      </p:sp>
      <p:sp>
        <p:nvSpPr>
          <p:cNvPr id="12" name="Marker"/>
          <p:cNvSpPr/>
          <p:nvPr/>
        </p:nvSpPr>
        <p:spPr>
          <a:xfrm>
            <a:off x="3154680" y="2075688"/>
            <a:ext cx="128016" cy="128016"/>
          </a:xfrm>
          <a:prstGeom prst="ellipse">
            <a:avLst/>
          </a:prstGeom>
          <a:solidFill>
            <a:srgbClr val="3D8BFF"/>
          </a:solidFill>
          <a:ln w="12700">
            <a:solidFill>
              <a:srgbClr val="3D8BFF"/>
            </a:solidFill>
            <a:prstDash val="solid"/>
          </a:ln>
        </p:spPr>
        <p:txBody>
          <a:bodyPr/>
          <a:lstStyle/>
          <a:p>
            <a:endParaRPr lang="de-CH"/>
          </a:p>
        </p:txBody>
      </p:sp>
      <p:sp>
        <p:nvSpPr>
          <p:cNvPr id="13" name="Text 10"/>
          <p:cNvSpPr txBox="1"/>
          <p:nvPr/>
        </p:nvSpPr>
        <p:spPr>
          <a:xfrm>
            <a:off x="3364992" y="2011680"/>
            <a:ext cx="1737360" cy="274320"/>
          </a:xfrm>
          <a:prstGeom prst="rect">
            <a:avLst/>
          </a:prstGeom>
          <a:noFill/>
          <a:ln/>
        </p:spPr>
        <p:txBody>
          <a:bodyPr wrap="square" lIns="0" tIns="0" rIns="0" bIns="0" rtlCol="0" anchor="t"/>
          <a:lstStyle/>
          <a:p>
            <a:pPr marL="0" indent="0">
              <a:buNone/>
            </a:pPr>
            <a:r>
              <a:rPr lang="en-US" sz="1300" b="1" dirty="0">
                <a:solidFill>
                  <a:schemeClr val="tx2"/>
                </a:solidFill>
              </a:rPr>
              <a:t>geschaeftswert { }</a:t>
            </a:r>
            <a:endParaRPr lang="en-US" sz="1300" dirty="0"/>
          </a:p>
        </p:txBody>
      </p:sp>
      <p:sp>
        <p:nvSpPr>
          <p:cNvPr id="14" name="Text 11"/>
          <p:cNvSpPr txBox="1"/>
          <p:nvPr/>
        </p:nvSpPr>
        <p:spPr>
          <a:xfrm>
            <a:off x="3154680" y="2377440"/>
            <a:ext cx="1920240" cy="685800"/>
          </a:xfrm>
          <a:prstGeom prst="rect">
            <a:avLst/>
          </a:prstGeom>
          <a:noFill/>
          <a:ln/>
        </p:spPr>
        <p:txBody>
          <a:bodyPr wrap="square" lIns="0" tIns="0" rIns="0" bIns="0" rtlCol="0" anchor="t"/>
          <a:lstStyle/>
          <a:p>
            <a:pPr marL="0" indent="0">
              <a:buNone/>
            </a:pPr>
            <a:r>
              <a:rPr lang="en-US" sz="1200" dirty="0">
                <a:solidFill>
                  <a:srgbClr val="565C75"/>
                </a:solidFill>
              </a:rPr>
              <a:t>Nutzen, Aufwand, Zeit- und Kostenersparnis</a:t>
            </a:r>
            <a:endParaRPr lang="en-US" sz="1200" dirty="0"/>
          </a:p>
        </p:txBody>
      </p:sp>
      <p:sp>
        <p:nvSpPr>
          <p:cNvPr id="15" name="Eingebettet"/>
          <p:cNvSpPr/>
          <p:nvPr/>
        </p:nvSpPr>
        <p:spPr>
          <a:xfrm>
            <a:off x="640080" y="3246120"/>
            <a:ext cx="2148840" cy="1188720"/>
          </a:xfrm>
          <a:prstGeom prst="roundRect">
            <a:avLst>
              <a:gd name="adj" fmla="val 6154"/>
            </a:avLst>
          </a:prstGeom>
          <a:solidFill>
            <a:srgbClr val="FFFFFF"/>
          </a:solidFill>
          <a:ln w="12700">
            <a:solidFill>
              <a:srgbClr val="FFFFFF"/>
            </a:solidFill>
            <a:prstDash val="solid"/>
          </a:ln>
        </p:spPr>
        <p:txBody>
          <a:bodyPr/>
          <a:lstStyle/>
          <a:p>
            <a:endParaRPr lang="de-CH"/>
          </a:p>
        </p:txBody>
      </p:sp>
      <p:sp>
        <p:nvSpPr>
          <p:cNvPr id="16" name="Marker"/>
          <p:cNvSpPr/>
          <p:nvPr/>
        </p:nvSpPr>
        <p:spPr>
          <a:xfrm>
            <a:off x="777240" y="3401568"/>
            <a:ext cx="128016" cy="128016"/>
          </a:xfrm>
          <a:prstGeom prst="ellipse">
            <a:avLst/>
          </a:prstGeom>
          <a:solidFill>
            <a:srgbClr val="FFD400"/>
          </a:solidFill>
          <a:ln w="12700">
            <a:solidFill>
              <a:srgbClr val="FFD400"/>
            </a:solidFill>
            <a:prstDash val="solid"/>
          </a:ln>
        </p:spPr>
        <p:txBody>
          <a:bodyPr/>
          <a:lstStyle/>
          <a:p>
            <a:endParaRPr lang="de-CH"/>
          </a:p>
        </p:txBody>
      </p:sp>
      <p:sp>
        <p:nvSpPr>
          <p:cNvPr id="17" name="Text 14"/>
          <p:cNvSpPr txBox="1"/>
          <p:nvPr/>
        </p:nvSpPr>
        <p:spPr>
          <a:xfrm>
            <a:off x="987552" y="3337560"/>
            <a:ext cx="1737360" cy="274320"/>
          </a:xfrm>
          <a:prstGeom prst="rect">
            <a:avLst/>
          </a:prstGeom>
          <a:noFill/>
          <a:ln/>
        </p:spPr>
        <p:txBody>
          <a:bodyPr wrap="square" lIns="0" tIns="0" rIns="0" bIns="0" rtlCol="0" anchor="t"/>
          <a:lstStyle/>
          <a:p>
            <a:pPr marL="0" indent="0">
              <a:buNone/>
            </a:pPr>
            <a:r>
              <a:rPr lang="en-US" sz="1300" b="1" dirty="0">
                <a:solidFill>
                  <a:schemeClr val="tx2"/>
                </a:solidFill>
              </a:rPr>
              <a:t>loesungsansaetze [ ]</a:t>
            </a:r>
            <a:endParaRPr lang="en-US" sz="1300" dirty="0"/>
          </a:p>
        </p:txBody>
      </p:sp>
      <p:sp>
        <p:nvSpPr>
          <p:cNvPr id="18" name="Text 15"/>
          <p:cNvSpPr txBox="1"/>
          <p:nvPr/>
        </p:nvSpPr>
        <p:spPr>
          <a:xfrm>
            <a:off x="777240" y="3703320"/>
            <a:ext cx="1920240" cy="685800"/>
          </a:xfrm>
          <a:prstGeom prst="rect">
            <a:avLst/>
          </a:prstGeom>
          <a:noFill/>
          <a:ln/>
        </p:spPr>
        <p:txBody>
          <a:bodyPr wrap="square" lIns="0" tIns="0" rIns="0" bIns="0" rtlCol="0" anchor="t"/>
          <a:lstStyle/>
          <a:p>
            <a:pPr marL="0" indent="0">
              <a:buNone/>
            </a:pPr>
            <a:r>
              <a:rPr lang="en-US" sz="1200" dirty="0">
                <a:solidFill>
                  <a:srgbClr val="565C75"/>
                </a:solidFill>
              </a:rPr>
              <a:t>Manuell · Regel · KI · Hybrid mit Kosten und Genauigkeit</a:t>
            </a:r>
            <a:endParaRPr lang="en-US" sz="1200" dirty="0"/>
          </a:p>
        </p:txBody>
      </p:sp>
      <p:sp>
        <p:nvSpPr>
          <p:cNvPr id="19" name="Eingebettet"/>
          <p:cNvSpPr/>
          <p:nvPr/>
        </p:nvSpPr>
        <p:spPr>
          <a:xfrm>
            <a:off x="3017520" y="3246120"/>
            <a:ext cx="2148840" cy="1188720"/>
          </a:xfrm>
          <a:prstGeom prst="roundRect">
            <a:avLst>
              <a:gd name="adj" fmla="val 6154"/>
            </a:avLst>
          </a:prstGeom>
          <a:solidFill>
            <a:srgbClr val="FFFFFF"/>
          </a:solidFill>
          <a:ln w="12700">
            <a:solidFill>
              <a:srgbClr val="FFFFFF"/>
            </a:solidFill>
            <a:prstDash val="solid"/>
          </a:ln>
        </p:spPr>
        <p:txBody>
          <a:bodyPr/>
          <a:lstStyle/>
          <a:p>
            <a:endParaRPr lang="de-CH"/>
          </a:p>
        </p:txBody>
      </p:sp>
      <p:sp>
        <p:nvSpPr>
          <p:cNvPr id="20" name="Marker"/>
          <p:cNvSpPr/>
          <p:nvPr/>
        </p:nvSpPr>
        <p:spPr>
          <a:xfrm>
            <a:off x="3154680" y="3401568"/>
            <a:ext cx="128016" cy="128016"/>
          </a:xfrm>
          <a:prstGeom prst="ellipse">
            <a:avLst/>
          </a:prstGeom>
          <a:solidFill>
            <a:srgbClr val="00C46A"/>
          </a:solidFill>
          <a:ln w="12700">
            <a:solidFill>
              <a:srgbClr val="00C46A"/>
            </a:solidFill>
            <a:prstDash val="solid"/>
          </a:ln>
        </p:spPr>
        <p:txBody>
          <a:bodyPr/>
          <a:lstStyle/>
          <a:p>
            <a:endParaRPr lang="de-CH"/>
          </a:p>
        </p:txBody>
      </p:sp>
      <p:sp>
        <p:nvSpPr>
          <p:cNvPr id="21" name="Text 18"/>
          <p:cNvSpPr txBox="1"/>
          <p:nvPr/>
        </p:nvSpPr>
        <p:spPr>
          <a:xfrm>
            <a:off x="3364992" y="3337560"/>
            <a:ext cx="1737360" cy="274320"/>
          </a:xfrm>
          <a:prstGeom prst="rect">
            <a:avLst/>
          </a:prstGeom>
          <a:noFill/>
          <a:ln/>
        </p:spPr>
        <p:txBody>
          <a:bodyPr wrap="square" lIns="0" tIns="0" rIns="0" bIns="0" rtlCol="0" anchor="t"/>
          <a:lstStyle/>
          <a:p>
            <a:pPr marL="0" indent="0">
              <a:buNone/>
            </a:pPr>
            <a:r>
              <a:rPr lang="en-US" sz="1300" b="1" dirty="0">
                <a:solidFill>
                  <a:schemeClr val="tx2"/>
                </a:solidFill>
              </a:rPr>
              <a:t>bewertung { }  berechnet</a:t>
            </a:r>
            <a:endParaRPr lang="en-US" sz="1300" dirty="0"/>
          </a:p>
        </p:txBody>
      </p:sp>
      <p:sp>
        <p:nvSpPr>
          <p:cNvPr id="22" name="Text 19"/>
          <p:cNvSpPr txBox="1"/>
          <p:nvPr/>
        </p:nvSpPr>
        <p:spPr>
          <a:xfrm>
            <a:off x="3154680" y="3703320"/>
            <a:ext cx="1920240" cy="685800"/>
          </a:xfrm>
          <a:prstGeom prst="rect">
            <a:avLst/>
          </a:prstGeom>
          <a:noFill/>
          <a:ln/>
        </p:spPr>
        <p:txBody>
          <a:bodyPr wrap="square" lIns="0" tIns="0" rIns="0" bIns="0" rtlCol="0" anchor="t"/>
          <a:lstStyle/>
          <a:p>
            <a:pPr marL="0" indent="0">
              <a:buNone/>
            </a:pPr>
            <a:r>
              <a:rPr lang="en-US" sz="1200" dirty="0">
                <a:solidFill>
                  <a:srgbClr val="565C75"/>
                </a:solidFill>
              </a:rPr>
              <a:t>Empfehlung, Nutzwert, Teilscores, Begründung</a:t>
            </a:r>
            <a:endParaRPr lang="en-US" sz="1200" dirty="0"/>
          </a:p>
        </p:txBody>
      </p:sp>
      <p:sp>
        <p:nvSpPr>
          <p:cNvPr id="23" name="Begründung"/>
          <p:cNvSpPr/>
          <p:nvPr/>
        </p:nvSpPr>
        <p:spPr>
          <a:xfrm>
            <a:off x="5532120" y="1143000"/>
            <a:ext cx="3154680" cy="1051560"/>
          </a:xfrm>
          <a:prstGeom prst="roundRect">
            <a:avLst>
              <a:gd name="adj" fmla="val 695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4" name="Icon-Kreis"/>
          <p:cNvSpPr/>
          <p:nvPr/>
        </p:nvSpPr>
        <p:spPr>
          <a:xfrm>
            <a:off x="5669280" y="1280160"/>
            <a:ext cx="411480" cy="411480"/>
          </a:xfrm>
          <a:prstGeom prst="ellipse">
            <a:avLst/>
          </a:prstGeom>
          <a:solidFill>
            <a:srgbClr val="3D8BFF"/>
          </a:solidFill>
          <a:ln w="12700">
            <a:solidFill>
              <a:srgbClr val="3D8BFF"/>
            </a:solidFill>
            <a:prstDash val="solid"/>
          </a:ln>
        </p:spPr>
        <p:txBody>
          <a:bodyPr/>
          <a:lstStyle/>
          <a:p>
            <a:endParaRPr lang="de-CH"/>
          </a:p>
        </p:txBody>
      </p:sp>
      <p:pic>
        <p:nvPicPr>
          <p:cNvPr id="25" name="Image 0" descr="Icon"/>
          <p:cNvPicPr>
            <a:picLocks noChangeAspect="1"/>
          </p:cNvPicPr>
          <p:nvPr/>
        </p:nvPicPr>
        <p:blipFill>
          <a:blip r:embed="rId3"/>
          <a:stretch>
            <a:fillRect/>
          </a:stretch>
        </p:blipFill>
        <p:spPr>
          <a:xfrm>
            <a:off x="5772150" y="1383030"/>
            <a:ext cx="205740" cy="205740"/>
          </a:xfrm>
          <a:prstGeom prst="rect">
            <a:avLst/>
          </a:prstGeom>
        </p:spPr>
      </p:pic>
      <p:sp>
        <p:nvSpPr>
          <p:cNvPr id="26" name="Text 22"/>
          <p:cNvSpPr txBox="1"/>
          <p:nvPr/>
        </p:nvSpPr>
        <p:spPr>
          <a:xfrm>
            <a:off x="6217920" y="1280160"/>
            <a:ext cx="2377440" cy="274320"/>
          </a:xfrm>
          <a:prstGeom prst="rect">
            <a:avLst/>
          </a:prstGeom>
          <a:noFill/>
          <a:ln/>
        </p:spPr>
        <p:txBody>
          <a:bodyPr wrap="square" lIns="0" tIns="0" rIns="0" bIns="0" rtlCol="0" anchor="t"/>
          <a:lstStyle/>
          <a:p>
            <a:pPr marL="0" indent="0">
              <a:buNone/>
            </a:pPr>
            <a:r>
              <a:rPr lang="en-US" sz="1500" b="1" dirty="0">
                <a:solidFill>
                  <a:schemeClr val="tx2"/>
                </a:solidFill>
              </a:rPr>
              <a:t>Einbetten statt Joins</a:t>
            </a:r>
            <a:endParaRPr lang="en-US" sz="1500" dirty="0"/>
          </a:p>
        </p:txBody>
      </p:sp>
      <p:sp>
        <p:nvSpPr>
          <p:cNvPr id="27" name="Text 23"/>
          <p:cNvSpPr txBox="1"/>
          <p:nvPr/>
        </p:nvSpPr>
        <p:spPr>
          <a:xfrm>
            <a:off x="6217920" y="1581912"/>
            <a:ext cx="2377440" cy="566928"/>
          </a:xfrm>
          <a:prstGeom prst="rect">
            <a:avLst/>
          </a:prstGeom>
          <a:noFill/>
          <a:ln/>
        </p:spPr>
        <p:txBody>
          <a:bodyPr wrap="square" lIns="0" tIns="0" rIns="0" bIns="0" rtlCol="0" anchor="t"/>
          <a:lstStyle/>
          <a:p>
            <a:pPr marL="0" indent="0">
              <a:buNone/>
            </a:pPr>
            <a:r>
              <a:rPr lang="en-US" sz="1300" dirty="0">
                <a:solidFill>
                  <a:srgbClr val="565C75"/>
                </a:solidFill>
              </a:rPr>
              <a:t>Wird immer zusammen gelesen; ein Dokument = atomar.</a:t>
            </a:r>
            <a:endParaRPr lang="en-US" sz="1300" dirty="0"/>
          </a:p>
        </p:txBody>
      </p:sp>
      <p:sp>
        <p:nvSpPr>
          <p:cNvPr id="28" name="Begründung"/>
          <p:cNvSpPr/>
          <p:nvPr/>
        </p:nvSpPr>
        <p:spPr>
          <a:xfrm>
            <a:off x="5532120" y="2331720"/>
            <a:ext cx="3154680" cy="1051560"/>
          </a:xfrm>
          <a:prstGeom prst="roundRect">
            <a:avLst>
              <a:gd name="adj" fmla="val 695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9" name="Icon-Kreis"/>
          <p:cNvSpPr/>
          <p:nvPr/>
        </p:nvSpPr>
        <p:spPr>
          <a:xfrm>
            <a:off x="5669280" y="2468880"/>
            <a:ext cx="411480" cy="411480"/>
          </a:xfrm>
          <a:prstGeom prst="ellipse">
            <a:avLst/>
          </a:prstGeom>
          <a:solidFill>
            <a:srgbClr val="3D8BFF"/>
          </a:solidFill>
          <a:ln w="12700">
            <a:solidFill>
              <a:srgbClr val="3D8BFF"/>
            </a:solidFill>
            <a:prstDash val="solid"/>
          </a:ln>
        </p:spPr>
        <p:txBody>
          <a:bodyPr/>
          <a:lstStyle/>
          <a:p>
            <a:endParaRPr lang="de-CH"/>
          </a:p>
        </p:txBody>
      </p:sp>
      <p:pic>
        <p:nvPicPr>
          <p:cNvPr id="30" name="Image 1" descr="Icon"/>
          <p:cNvPicPr>
            <a:picLocks noChangeAspect="1"/>
          </p:cNvPicPr>
          <p:nvPr/>
        </p:nvPicPr>
        <p:blipFill>
          <a:blip r:embed="rId4"/>
          <a:stretch>
            <a:fillRect/>
          </a:stretch>
        </p:blipFill>
        <p:spPr>
          <a:xfrm>
            <a:off x="5772150" y="2571750"/>
            <a:ext cx="205740" cy="205740"/>
          </a:xfrm>
          <a:prstGeom prst="rect">
            <a:avLst/>
          </a:prstGeom>
        </p:spPr>
      </p:pic>
      <p:sp>
        <p:nvSpPr>
          <p:cNvPr id="31" name="Text 26"/>
          <p:cNvSpPr txBox="1"/>
          <p:nvPr/>
        </p:nvSpPr>
        <p:spPr>
          <a:xfrm>
            <a:off x="6217920" y="2468880"/>
            <a:ext cx="2377440" cy="274320"/>
          </a:xfrm>
          <a:prstGeom prst="rect">
            <a:avLst/>
          </a:prstGeom>
          <a:noFill/>
          <a:ln/>
        </p:spPr>
        <p:txBody>
          <a:bodyPr wrap="square" lIns="0" tIns="0" rIns="0" bIns="0" rtlCol="0" anchor="t"/>
          <a:lstStyle/>
          <a:p>
            <a:pPr marL="0" indent="0">
              <a:buNone/>
            </a:pPr>
            <a:r>
              <a:rPr lang="en-US" sz="1500" b="1" dirty="0">
                <a:solidFill>
                  <a:schemeClr val="tx2"/>
                </a:solidFill>
              </a:rPr>
              <a:t>null heisst «unbekannt»</a:t>
            </a:r>
            <a:endParaRPr lang="en-US" sz="1500" dirty="0"/>
          </a:p>
        </p:txBody>
      </p:sp>
      <p:sp>
        <p:nvSpPr>
          <p:cNvPr id="32" name="Text 27"/>
          <p:cNvSpPr txBox="1"/>
          <p:nvPr/>
        </p:nvSpPr>
        <p:spPr>
          <a:xfrm>
            <a:off x="6217920" y="2770632"/>
            <a:ext cx="2377440" cy="566928"/>
          </a:xfrm>
          <a:prstGeom prst="rect">
            <a:avLst/>
          </a:prstGeom>
          <a:noFill/>
          <a:ln/>
        </p:spPr>
        <p:txBody>
          <a:bodyPr wrap="square" lIns="0" tIns="0" rIns="0" bIns="0" rtlCol="0" anchor="t"/>
          <a:lstStyle/>
          <a:p>
            <a:pPr marL="0" indent="0">
              <a:buNone/>
            </a:pPr>
            <a:r>
              <a:rPr lang="en-US" sz="1300" dirty="0">
                <a:solidFill>
                  <a:srgbClr val="565C75"/>
                </a:solidFill>
              </a:rPr>
              <a:t>Fehlende Daten sind Teil der Fachlogik.</a:t>
            </a:r>
            <a:endParaRPr lang="en-US" sz="1300" dirty="0"/>
          </a:p>
        </p:txBody>
      </p:sp>
      <p:sp>
        <p:nvSpPr>
          <p:cNvPr id="33" name="Begründung"/>
          <p:cNvSpPr/>
          <p:nvPr/>
        </p:nvSpPr>
        <p:spPr>
          <a:xfrm>
            <a:off x="5532120" y="3520440"/>
            <a:ext cx="3154680" cy="1051560"/>
          </a:xfrm>
          <a:prstGeom prst="roundRect">
            <a:avLst>
              <a:gd name="adj" fmla="val 695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34" name="Icon-Kreis"/>
          <p:cNvSpPr/>
          <p:nvPr/>
        </p:nvSpPr>
        <p:spPr>
          <a:xfrm>
            <a:off x="5669280" y="3657600"/>
            <a:ext cx="411480" cy="411480"/>
          </a:xfrm>
          <a:prstGeom prst="ellipse">
            <a:avLst/>
          </a:prstGeom>
          <a:solidFill>
            <a:srgbClr val="3D8BFF"/>
          </a:solidFill>
          <a:ln w="12700">
            <a:solidFill>
              <a:srgbClr val="3D8BFF"/>
            </a:solidFill>
            <a:prstDash val="solid"/>
          </a:ln>
        </p:spPr>
        <p:txBody>
          <a:bodyPr/>
          <a:lstStyle/>
          <a:p>
            <a:endParaRPr lang="de-CH"/>
          </a:p>
        </p:txBody>
      </p:sp>
      <p:pic>
        <p:nvPicPr>
          <p:cNvPr id="35" name="Image 2" descr="Icon"/>
          <p:cNvPicPr>
            <a:picLocks noChangeAspect="1"/>
          </p:cNvPicPr>
          <p:nvPr/>
        </p:nvPicPr>
        <p:blipFill>
          <a:blip r:embed="rId5"/>
          <a:stretch>
            <a:fillRect/>
          </a:stretch>
        </p:blipFill>
        <p:spPr>
          <a:xfrm>
            <a:off x="5772150" y="3760470"/>
            <a:ext cx="205740" cy="205740"/>
          </a:xfrm>
          <a:prstGeom prst="rect">
            <a:avLst/>
          </a:prstGeom>
        </p:spPr>
      </p:pic>
      <p:sp>
        <p:nvSpPr>
          <p:cNvPr id="36" name="Text 30"/>
          <p:cNvSpPr txBox="1"/>
          <p:nvPr/>
        </p:nvSpPr>
        <p:spPr>
          <a:xfrm>
            <a:off x="6217920" y="3657600"/>
            <a:ext cx="2377440" cy="274320"/>
          </a:xfrm>
          <a:prstGeom prst="rect">
            <a:avLst/>
          </a:prstGeom>
          <a:noFill/>
          <a:ln/>
        </p:spPr>
        <p:txBody>
          <a:bodyPr wrap="square" lIns="0" tIns="0" rIns="0" bIns="0" rtlCol="0" anchor="t"/>
          <a:lstStyle/>
          <a:p>
            <a:pPr marL="0" indent="0">
              <a:buNone/>
            </a:pPr>
            <a:r>
              <a:rPr lang="en-US" sz="1500" b="1" dirty="0">
                <a:solidFill>
                  <a:schemeClr val="tx2"/>
                </a:solidFill>
              </a:rPr>
              <a:t>Bewertung gespeichert</a:t>
            </a:r>
            <a:endParaRPr lang="en-US" sz="1500" dirty="0"/>
          </a:p>
        </p:txBody>
      </p:sp>
      <p:sp>
        <p:nvSpPr>
          <p:cNvPr id="37" name="Text 31"/>
          <p:cNvSpPr txBox="1"/>
          <p:nvPr/>
        </p:nvSpPr>
        <p:spPr>
          <a:xfrm>
            <a:off x="6217920" y="3959352"/>
            <a:ext cx="2377440" cy="566928"/>
          </a:xfrm>
          <a:prstGeom prst="rect">
            <a:avLst/>
          </a:prstGeom>
          <a:noFill/>
          <a:ln/>
        </p:spPr>
        <p:txBody>
          <a:bodyPr wrap="square" lIns="0" tIns="0" rIns="0" bIns="0" rtlCol="0" anchor="t"/>
          <a:lstStyle/>
          <a:p>
            <a:pPr marL="0" indent="0">
              <a:buNone/>
            </a:pPr>
            <a:r>
              <a:rPr lang="en-US" sz="1300" dirty="0">
                <a:solidFill>
                  <a:srgbClr val="565C75"/>
                </a:solidFill>
              </a:rPr>
              <a:t>Computed Pattern: indexierbar und schnell aggregierbar.</a:t>
            </a:r>
            <a:endParaRPr lang="en-US" sz="13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Beispieldatensatz: 48 Use Cases</a:t>
            </a:r>
            <a:endParaRPr lang="en-US" sz="3000" dirty="0"/>
          </a:p>
        </p:txBody>
      </p:sp>
      <p:sp>
        <p:nvSpPr>
          <p:cNvPr id="4" name="Diagramm-Karte"/>
          <p:cNvSpPr/>
          <p:nvPr/>
        </p:nvSpPr>
        <p:spPr>
          <a:xfrm>
            <a:off x="457200" y="1143000"/>
            <a:ext cx="3749040" cy="3474720"/>
          </a:xfrm>
          <a:prstGeom prst="roundRect">
            <a:avLst>
              <a:gd name="adj" fmla="val 210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Text 2"/>
          <p:cNvSpPr txBox="1"/>
          <p:nvPr/>
        </p:nvSpPr>
        <p:spPr>
          <a:xfrm>
            <a:off x="640080" y="1261872"/>
            <a:ext cx="3383280" cy="274320"/>
          </a:xfrm>
          <a:prstGeom prst="rect">
            <a:avLst/>
          </a:prstGeom>
          <a:noFill/>
          <a:ln/>
        </p:spPr>
        <p:txBody>
          <a:bodyPr wrap="square" lIns="0" tIns="0" rIns="0" bIns="0" rtlCol="0" anchor="t"/>
          <a:lstStyle/>
          <a:p>
            <a:pPr marL="0" indent="0">
              <a:buNone/>
            </a:pPr>
            <a:r>
              <a:rPr lang="en-US" sz="1400" b="1" dirty="0">
                <a:solidFill>
                  <a:schemeClr val="tx2"/>
                </a:solidFill>
              </a:rPr>
              <a:t>Empfehlungen im Datensatz</a:t>
            </a:r>
            <a:endParaRPr lang="en-US" sz="1400" dirty="0"/>
          </a:p>
        </p:txBody>
      </p:sp>
      <p:graphicFrame>
        <p:nvGraphicFramePr>
          <p:cNvPr id="6" name="Chart 0"/>
          <p:cNvGraphicFramePr/>
          <p:nvPr/>
        </p:nvGraphicFramePr>
        <p:xfrm>
          <a:off x="548640" y="1554480"/>
          <a:ext cx="3566160" cy="2971800"/>
        </p:xfrm>
        <a:graphic>
          <a:graphicData uri="http://schemas.openxmlformats.org/drawingml/2006/chart">
            <c:chart xmlns:c="http://schemas.openxmlformats.org/drawingml/2006/chart" xmlns:r="http://schemas.openxmlformats.org/officeDocument/2006/relationships" r:id="rId3"/>
          </a:graphicData>
        </a:graphic>
      </p:graphicFrame>
      <p:pic>
        <p:nvPicPr>
          <p:cNvPr id="7" name="Image 0" descr="Screenshot der Use-Case-Liste mit KI-Nutzwert und Empfehlung"/>
          <p:cNvPicPr>
            <a:picLocks noChangeAspect="1"/>
          </p:cNvPicPr>
          <p:nvPr/>
        </p:nvPicPr>
        <p:blipFill>
          <a:blip r:embed="rId4"/>
          <a:stretch>
            <a:fillRect/>
          </a:stretch>
        </p:blipFill>
        <p:spPr>
          <a:xfrm>
            <a:off x="4434840" y="1143000"/>
            <a:ext cx="4251960" cy="2560320"/>
          </a:xfrm>
          <a:prstGeom prst="rect">
            <a:avLst/>
          </a:prstGeom>
          <a:effectLst>
            <a:outerShdw blurRad="76200" dist="25400" dir="5400000" algn="bl" rotWithShape="0">
              <a:srgbClr val="000000">
                <a:alpha val="12000"/>
              </a:srgbClr>
            </a:outerShdw>
          </a:effectLst>
        </p:spPr>
      </p:pic>
      <p:sp>
        <p:nvSpPr>
          <p:cNvPr id="8" name="Kennzahl"/>
          <p:cNvSpPr/>
          <p:nvPr/>
        </p:nvSpPr>
        <p:spPr>
          <a:xfrm>
            <a:off x="4434840" y="3840480"/>
            <a:ext cx="132588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9" name="Text 4"/>
          <p:cNvSpPr txBox="1"/>
          <p:nvPr/>
        </p:nvSpPr>
        <p:spPr>
          <a:xfrm>
            <a:off x="4434840" y="3877056"/>
            <a:ext cx="1325880" cy="457200"/>
          </a:xfrm>
          <a:prstGeom prst="rect">
            <a:avLst/>
          </a:prstGeom>
          <a:noFill/>
          <a:ln/>
        </p:spPr>
        <p:txBody>
          <a:bodyPr wrap="square" lIns="0" tIns="0" rIns="0" bIns="0" rtlCol="0" anchor="t"/>
          <a:lstStyle/>
          <a:p>
            <a:pPr marL="0" indent="0" algn="ctr">
              <a:buNone/>
            </a:pPr>
            <a:r>
              <a:rPr lang="en-US" sz="2600" b="1" dirty="0">
                <a:solidFill>
                  <a:schemeClr val="tx2"/>
                </a:solidFill>
                <a:latin typeface="Cambria" pitchFamily="34" charset="0"/>
                <a:ea typeface="Cambria" pitchFamily="34" charset="-122"/>
                <a:cs typeface="Cambria" pitchFamily="34" charset="-120"/>
              </a:rPr>
              <a:t>48</a:t>
            </a:r>
            <a:endParaRPr lang="en-US" sz="2600" dirty="0"/>
          </a:p>
        </p:txBody>
      </p:sp>
      <p:sp>
        <p:nvSpPr>
          <p:cNvPr id="10" name="Text 5"/>
          <p:cNvSpPr txBox="1"/>
          <p:nvPr/>
        </p:nvSpPr>
        <p:spPr>
          <a:xfrm>
            <a:off x="4434840" y="4315968"/>
            <a:ext cx="1325880" cy="274320"/>
          </a:xfrm>
          <a:prstGeom prst="rect">
            <a:avLst/>
          </a:prstGeom>
          <a:noFill/>
          <a:ln/>
        </p:spPr>
        <p:txBody>
          <a:bodyPr wrap="square" lIns="0" tIns="0" rIns="0" bIns="0" rtlCol="0" anchor="t"/>
          <a:lstStyle/>
          <a:p>
            <a:pPr marL="0" indent="0" algn="ctr">
              <a:buNone/>
            </a:pPr>
            <a:r>
              <a:rPr lang="en-US" sz="1200" dirty="0">
                <a:solidFill>
                  <a:srgbClr val="565C75"/>
                </a:solidFill>
              </a:rPr>
              <a:t>Use Cases</a:t>
            </a:r>
            <a:endParaRPr lang="en-US" sz="1200" dirty="0"/>
          </a:p>
        </p:txBody>
      </p:sp>
      <p:sp>
        <p:nvSpPr>
          <p:cNvPr id="11" name="Kennzahl"/>
          <p:cNvSpPr/>
          <p:nvPr/>
        </p:nvSpPr>
        <p:spPr>
          <a:xfrm>
            <a:off x="5897880" y="3840480"/>
            <a:ext cx="132588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2" name="Text 7"/>
          <p:cNvSpPr txBox="1"/>
          <p:nvPr/>
        </p:nvSpPr>
        <p:spPr>
          <a:xfrm>
            <a:off x="5897880" y="3877056"/>
            <a:ext cx="1325880" cy="457200"/>
          </a:xfrm>
          <a:prstGeom prst="rect">
            <a:avLst/>
          </a:prstGeom>
          <a:noFill/>
          <a:ln/>
        </p:spPr>
        <p:txBody>
          <a:bodyPr wrap="square" lIns="0" tIns="0" rIns="0" bIns="0" rtlCol="0" anchor="t"/>
          <a:lstStyle/>
          <a:p>
            <a:pPr marL="0" indent="0" algn="ctr">
              <a:buNone/>
            </a:pPr>
            <a:r>
              <a:rPr lang="en-US" sz="2600" b="1" dirty="0">
                <a:solidFill>
                  <a:schemeClr val="tx2"/>
                </a:solidFill>
                <a:latin typeface="Cambria" pitchFamily="34" charset="0"/>
                <a:ea typeface="Cambria" pitchFamily="34" charset="-122"/>
                <a:cs typeface="Cambria" pitchFamily="34" charset="-120"/>
              </a:rPr>
              <a:t>10</a:t>
            </a:r>
            <a:endParaRPr lang="en-US" sz="2600" dirty="0"/>
          </a:p>
        </p:txBody>
      </p:sp>
      <p:sp>
        <p:nvSpPr>
          <p:cNvPr id="13" name="Text 8"/>
          <p:cNvSpPr txBox="1"/>
          <p:nvPr/>
        </p:nvSpPr>
        <p:spPr>
          <a:xfrm>
            <a:off x="5897880" y="4315968"/>
            <a:ext cx="1325880" cy="274320"/>
          </a:xfrm>
          <a:prstGeom prst="rect">
            <a:avLst/>
          </a:prstGeom>
          <a:noFill/>
          <a:ln/>
        </p:spPr>
        <p:txBody>
          <a:bodyPr wrap="square" lIns="0" tIns="0" rIns="0" bIns="0" rtlCol="0" anchor="t"/>
          <a:lstStyle/>
          <a:p>
            <a:pPr marL="0" indent="0" algn="ctr">
              <a:buNone/>
            </a:pPr>
            <a:r>
              <a:rPr lang="en-US" sz="1200" dirty="0">
                <a:solidFill>
                  <a:srgbClr val="565C75"/>
                </a:solidFill>
              </a:rPr>
              <a:t>Branchen</a:t>
            </a:r>
            <a:endParaRPr lang="en-US" sz="1200" dirty="0"/>
          </a:p>
        </p:txBody>
      </p:sp>
      <p:sp>
        <p:nvSpPr>
          <p:cNvPr id="14" name="Kennzahl"/>
          <p:cNvSpPr/>
          <p:nvPr/>
        </p:nvSpPr>
        <p:spPr>
          <a:xfrm>
            <a:off x="7360920" y="3840480"/>
            <a:ext cx="132588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5" name="Text 10"/>
          <p:cNvSpPr txBox="1"/>
          <p:nvPr/>
        </p:nvSpPr>
        <p:spPr>
          <a:xfrm>
            <a:off x="7360920" y="3877056"/>
            <a:ext cx="1325880" cy="457200"/>
          </a:xfrm>
          <a:prstGeom prst="rect">
            <a:avLst/>
          </a:prstGeom>
          <a:noFill/>
          <a:ln/>
        </p:spPr>
        <p:txBody>
          <a:bodyPr wrap="square" lIns="0" tIns="0" rIns="0" bIns="0" rtlCol="0" anchor="t"/>
          <a:lstStyle/>
          <a:p>
            <a:pPr marL="0" indent="0" algn="ctr">
              <a:buNone/>
            </a:pPr>
            <a:r>
              <a:rPr lang="en-US" sz="2600" b="1" dirty="0">
                <a:solidFill>
                  <a:schemeClr val="tx2"/>
                </a:solidFill>
                <a:latin typeface="Cambria" pitchFamily="34" charset="0"/>
                <a:ea typeface="Cambria" pitchFamily="34" charset="-122"/>
                <a:cs typeface="Cambria" pitchFamily="34" charset="-120"/>
              </a:rPr>
              <a:t>8</a:t>
            </a:r>
            <a:endParaRPr lang="en-US" sz="2600" dirty="0"/>
          </a:p>
        </p:txBody>
      </p:sp>
      <p:sp>
        <p:nvSpPr>
          <p:cNvPr id="16" name="Text 11"/>
          <p:cNvSpPr txBox="1"/>
          <p:nvPr/>
        </p:nvSpPr>
        <p:spPr>
          <a:xfrm>
            <a:off x="7360920" y="4315968"/>
            <a:ext cx="1325880" cy="274320"/>
          </a:xfrm>
          <a:prstGeom prst="rect">
            <a:avLst/>
          </a:prstGeom>
          <a:noFill/>
          <a:ln/>
        </p:spPr>
        <p:txBody>
          <a:bodyPr wrap="square" lIns="0" tIns="0" rIns="0" bIns="0" rtlCol="0" anchor="t"/>
          <a:lstStyle/>
          <a:p>
            <a:pPr marL="0" indent="0" algn="ctr">
              <a:buNone/>
            </a:pPr>
            <a:r>
              <a:rPr lang="en-US" sz="1200" dirty="0">
                <a:solidFill>
                  <a:srgbClr val="565C75"/>
                </a:solidFill>
              </a:rPr>
              <a:t>Problemtypen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Aggregation Pipelines</a:t>
            </a:r>
            <a:endParaRPr lang="en-US" sz="3000" dirty="0"/>
          </a:p>
        </p:txBody>
      </p:sp>
      <p:sp>
        <p:nvSpPr>
          <p:cNvPr id="4" name="Pipeline-Zeile"/>
          <p:cNvSpPr/>
          <p:nvPr/>
        </p:nvSpPr>
        <p:spPr>
          <a:xfrm>
            <a:off x="457200" y="1143000"/>
            <a:ext cx="4846320" cy="475488"/>
          </a:xfrm>
          <a:prstGeom prst="roundRect">
            <a:avLst>
              <a:gd name="adj" fmla="val 1538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Text 2"/>
          <p:cNvSpPr txBox="1"/>
          <p:nvPr/>
        </p:nvSpPr>
        <p:spPr>
          <a:xfrm>
            <a:off x="594360" y="1143000"/>
            <a:ext cx="1234440" cy="475488"/>
          </a:xfrm>
          <a:prstGeom prst="rect">
            <a:avLst/>
          </a:prstGeom>
          <a:noFill/>
          <a:ln/>
        </p:spPr>
        <p:txBody>
          <a:bodyPr wrap="square" lIns="0" tIns="0" rIns="0" bIns="0" rtlCol="0" anchor="ctr"/>
          <a:lstStyle/>
          <a:p>
            <a:pPr marL="0" indent="0">
              <a:buNone/>
            </a:pPr>
            <a:r>
              <a:rPr lang="en-US" sz="1300" b="1" dirty="0">
                <a:solidFill>
                  <a:schemeClr val="tx2"/>
                </a:solidFill>
              </a:rPr>
              <a:t>volumen</a:t>
            </a:r>
            <a:endParaRPr lang="en-US" sz="1300" dirty="0"/>
          </a:p>
        </p:txBody>
      </p:sp>
      <p:sp>
        <p:nvSpPr>
          <p:cNvPr id="6" name="Text 3"/>
          <p:cNvSpPr txBox="1"/>
          <p:nvPr/>
        </p:nvSpPr>
        <p:spPr>
          <a:xfrm>
            <a:off x="1828800" y="1161288"/>
            <a:ext cx="1828800" cy="438912"/>
          </a:xfrm>
          <a:prstGeom prst="rect">
            <a:avLst/>
          </a:prstGeom>
          <a:noFill/>
          <a:ln/>
        </p:spPr>
        <p:txBody>
          <a:bodyPr wrap="square" lIns="0" tIns="0" rIns="0" bIns="0" rtlCol="0" anchor="ctr"/>
          <a:lstStyle/>
          <a:p>
            <a:pPr marL="0" indent="0">
              <a:buNone/>
            </a:pPr>
            <a:r>
              <a:rPr lang="en-US" sz="1200" dirty="0">
                <a:solidFill>
                  <a:schemeClr val="tx1"/>
                </a:solidFill>
              </a:rPr>
              <a:t>Ab welchem Volumen wird KI empfohlen?</a:t>
            </a:r>
            <a:endParaRPr lang="en-US" sz="1200" dirty="0"/>
          </a:p>
        </p:txBody>
      </p:sp>
      <p:sp>
        <p:nvSpPr>
          <p:cNvPr id="7" name="Text 4"/>
          <p:cNvSpPr txBox="1"/>
          <p:nvPr/>
        </p:nvSpPr>
        <p:spPr>
          <a:xfrm>
            <a:off x="3703320" y="1161288"/>
            <a:ext cx="1554480" cy="438912"/>
          </a:xfrm>
          <a:prstGeom prst="rect">
            <a:avLst/>
          </a:prstGeom>
          <a:noFill/>
          <a:ln/>
        </p:spPr>
        <p:txBody>
          <a:bodyPr wrap="square" lIns="0" tIns="0" rIns="0" bIns="0" rtlCol="0" anchor="ctr"/>
          <a:lstStyle/>
          <a:p>
            <a:pPr marL="0" indent="0">
              <a:buNone/>
            </a:pPr>
            <a:r>
              <a:rPr lang="en-US" sz="1100" dirty="0">
                <a:solidFill>
                  <a:srgbClr val="565C75"/>
                </a:solidFill>
              </a:rPr>
              <a:t>$bucket</a:t>
            </a:r>
            <a:endParaRPr lang="en-US" sz="1100" dirty="0"/>
          </a:p>
        </p:txBody>
      </p:sp>
      <p:sp>
        <p:nvSpPr>
          <p:cNvPr id="8" name="Pipeline-Zeile"/>
          <p:cNvSpPr/>
          <p:nvPr/>
        </p:nvSpPr>
        <p:spPr>
          <a:xfrm>
            <a:off x="457200" y="1691640"/>
            <a:ext cx="4846320" cy="475488"/>
          </a:xfrm>
          <a:prstGeom prst="roundRect">
            <a:avLst>
              <a:gd name="adj" fmla="val 1538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9" name="Text 6"/>
          <p:cNvSpPr txBox="1"/>
          <p:nvPr/>
        </p:nvSpPr>
        <p:spPr>
          <a:xfrm>
            <a:off x="594360" y="1691640"/>
            <a:ext cx="1234440" cy="475488"/>
          </a:xfrm>
          <a:prstGeom prst="rect">
            <a:avLst/>
          </a:prstGeom>
          <a:noFill/>
          <a:ln/>
        </p:spPr>
        <p:txBody>
          <a:bodyPr wrap="square" lIns="0" tIns="0" rIns="0" bIns="0" rtlCol="0" anchor="ctr"/>
          <a:lstStyle/>
          <a:p>
            <a:pPr marL="0" indent="0">
              <a:buNone/>
            </a:pPr>
            <a:r>
              <a:rPr lang="en-US" sz="1300" b="1" dirty="0">
                <a:solidFill>
                  <a:schemeClr val="tx2"/>
                </a:solidFill>
              </a:rPr>
              <a:t>korrelation</a:t>
            </a:r>
            <a:endParaRPr lang="en-US" sz="1300" dirty="0"/>
          </a:p>
        </p:txBody>
      </p:sp>
      <p:sp>
        <p:nvSpPr>
          <p:cNvPr id="10" name="Text 7"/>
          <p:cNvSpPr txBox="1"/>
          <p:nvPr/>
        </p:nvSpPr>
        <p:spPr>
          <a:xfrm>
            <a:off x="1828800" y="1709928"/>
            <a:ext cx="1828800" cy="438912"/>
          </a:xfrm>
          <a:prstGeom prst="rect">
            <a:avLst/>
          </a:prstGeom>
          <a:noFill/>
          <a:ln/>
        </p:spPr>
        <p:txBody>
          <a:bodyPr wrap="square" lIns="0" tIns="0" rIns="0" bIns="0" rtlCol="0" anchor="ctr"/>
          <a:lstStyle/>
          <a:p>
            <a:pPr marL="0" indent="0">
              <a:buNone/>
            </a:pPr>
            <a:r>
              <a:rPr lang="en-US" sz="1200" dirty="0">
                <a:solidFill>
                  <a:schemeClr val="tx1"/>
                </a:solidFill>
              </a:rPr>
              <a:t>Hängen Datenmenge und Nutzwert zusammen?</a:t>
            </a:r>
            <a:endParaRPr lang="en-US" sz="1200" dirty="0"/>
          </a:p>
        </p:txBody>
      </p:sp>
      <p:sp>
        <p:nvSpPr>
          <p:cNvPr id="11" name="Text 8"/>
          <p:cNvSpPr txBox="1"/>
          <p:nvPr/>
        </p:nvSpPr>
        <p:spPr>
          <a:xfrm>
            <a:off x="3703320" y="1709928"/>
            <a:ext cx="1554480" cy="438912"/>
          </a:xfrm>
          <a:prstGeom prst="rect">
            <a:avLst/>
          </a:prstGeom>
          <a:noFill/>
          <a:ln/>
        </p:spPr>
        <p:txBody>
          <a:bodyPr wrap="square" lIns="0" tIns="0" rIns="0" bIns="0" rtlCol="0" anchor="ctr"/>
          <a:lstStyle/>
          <a:p>
            <a:pPr marL="0" indent="0">
              <a:buNone/>
            </a:pPr>
            <a:r>
              <a:rPr lang="en-US" sz="1100" dirty="0">
                <a:solidFill>
                  <a:srgbClr val="565C75"/>
                </a:solidFill>
              </a:rPr>
              <a:t>$log10 · $group · $sqrt</a:t>
            </a:r>
            <a:endParaRPr lang="en-US" sz="1100" dirty="0"/>
          </a:p>
        </p:txBody>
      </p:sp>
      <p:sp>
        <p:nvSpPr>
          <p:cNvPr id="12" name="Pipeline-Zeile"/>
          <p:cNvSpPr/>
          <p:nvPr/>
        </p:nvSpPr>
        <p:spPr>
          <a:xfrm>
            <a:off x="457200" y="2240280"/>
            <a:ext cx="4846320" cy="475488"/>
          </a:xfrm>
          <a:prstGeom prst="roundRect">
            <a:avLst>
              <a:gd name="adj" fmla="val 1538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3" name="Text 10"/>
          <p:cNvSpPr txBox="1"/>
          <p:nvPr/>
        </p:nvSpPr>
        <p:spPr>
          <a:xfrm>
            <a:off x="594360" y="2240280"/>
            <a:ext cx="1234440" cy="475488"/>
          </a:xfrm>
          <a:prstGeom prst="rect">
            <a:avLst/>
          </a:prstGeom>
          <a:noFill/>
          <a:ln/>
        </p:spPr>
        <p:txBody>
          <a:bodyPr wrap="square" lIns="0" tIns="0" rIns="0" bIns="0" rtlCol="0" anchor="ctr"/>
          <a:lstStyle/>
          <a:p>
            <a:pPr marL="0" indent="0">
              <a:buNone/>
            </a:pPr>
            <a:r>
              <a:rPr lang="en-US" sz="1300" b="1" dirty="0">
                <a:solidFill>
                  <a:schemeClr val="tx2"/>
                </a:solidFill>
              </a:rPr>
              <a:t>risiko</a:t>
            </a:r>
            <a:endParaRPr lang="en-US" sz="1300" dirty="0"/>
          </a:p>
        </p:txBody>
      </p:sp>
      <p:sp>
        <p:nvSpPr>
          <p:cNvPr id="14" name="Text 11"/>
          <p:cNvSpPr txBox="1"/>
          <p:nvPr/>
        </p:nvSpPr>
        <p:spPr>
          <a:xfrm>
            <a:off x="1828800" y="2258568"/>
            <a:ext cx="1828800" cy="438912"/>
          </a:xfrm>
          <a:prstGeom prst="rect">
            <a:avLst/>
          </a:prstGeom>
          <a:noFill/>
          <a:ln/>
        </p:spPr>
        <p:txBody>
          <a:bodyPr wrap="square" lIns="0" tIns="0" rIns="0" bIns="0" rtlCol="0" anchor="ctr"/>
          <a:lstStyle/>
          <a:p>
            <a:pPr marL="0" indent="0">
              <a:buNone/>
            </a:pPr>
            <a:r>
              <a:rPr lang="en-US" sz="1200" dirty="0">
                <a:solidFill>
                  <a:schemeClr val="tx1"/>
                </a:solidFill>
              </a:rPr>
              <a:t>Wo nur Assistenz? (Risiko, Fehlertoleranz)</a:t>
            </a:r>
            <a:endParaRPr lang="en-US" sz="1200" dirty="0"/>
          </a:p>
        </p:txBody>
      </p:sp>
      <p:sp>
        <p:nvSpPr>
          <p:cNvPr id="15" name="Text 12"/>
          <p:cNvSpPr txBox="1"/>
          <p:nvPr/>
        </p:nvSpPr>
        <p:spPr>
          <a:xfrm>
            <a:off x="3703320" y="2258568"/>
            <a:ext cx="1554480" cy="438912"/>
          </a:xfrm>
          <a:prstGeom prst="rect">
            <a:avLst/>
          </a:prstGeom>
          <a:noFill/>
          <a:ln/>
        </p:spPr>
        <p:txBody>
          <a:bodyPr wrap="square" lIns="0" tIns="0" rIns="0" bIns="0" rtlCol="0" anchor="ctr"/>
          <a:lstStyle/>
          <a:p>
            <a:pPr marL="0" indent="0">
              <a:buNone/>
            </a:pPr>
            <a:r>
              <a:rPr lang="en-US" sz="1100" dirty="0">
                <a:solidFill>
                  <a:srgbClr val="565C75"/>
                </a:solidFill>
              </a:rPr>
              <a:t>$group · $cond · $indexOfArray</a:t>
            </a:r>
            <a:endParaRPr lang="en-US" sz="1100" dirty="0"/>
          </a:p>
        </p:txBody>
      </p:sp>
      <p:sp>
        <p:nvSpPr>
          <p:cNvPr id="16" name="Pipeline-Zeile"/>
          <p:cNvSpPr/>
          <p:nvPr/>
        </p:nvSpPr>
        <p:spPr>
          <a:xfrm>
            <a:off x="457200" y="2788920"/>
            <a:ext cx="4846320" cy="475488"/>
          </a:xfrm>
          <a:prstGeom prst="roundRect">
            <a:avLst>
              <a:gd name="adj" fmla="val 1538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7" name="Text 14"/>
          <p:cNvSpPr txBox="1"/>
          <p:nvPr/>
        </p:nvSpPr>
        <p:spPr>
          <a:xfrm>
            <a:off x="594360" y="2788920"/>
            <a:ext cx="1234440" cy="475488"/>
          </a:xfrm>
          <a:prstGeom prst="rect">
            <a:avLst/>
          </a:prstGeom>
          <a:noFill/>
          <a:ln/>
        </p:spPr>
        <p:txBody>
          <a:bodyPr wrap="square" lIns="0" tIns="0" rIns="0" bIns="0" rtlCol="0" anchor="ctr"/>
          <a:lstStyle/>
          <a:p>
            <a:pPr marL="0" indent="0">
              <a:buNone/>
            </a:pPr>
            <a:r>
              <a:rPr lang="en-US" sz="1300" b="1" dirty="0">
                <a:solidFill>
                  <a:schemeClr val="tx2"/>
                </a:solidFill>
              </a:rPr>
              <a:t>regelmaschine</a:t>
            </a:r>
            <a:endParaRPr lang="en-US" sz="1300" dirty="0"/>
          </a:p>
        </p:txBody>
      </p:sp>
      <p:sp>
        <p:nvSpPr>
          <p:cNvPr id="18" name="Text 15"/>
          <p:cNvSpPr txBox="1"/>
          <p:nvPr/>
        </p:nvSpPr>
        <p:spPr>
          <a:xfrm>
            <a:off x="1828800" y="2807208"/>
            <a:ext cx="1828800" cy="438912"/>
          </a:xfrm>
          <a:prstGeom prst="rect">
            <a:avLst/>
          </a:prstGeom>
          <a:noFill/>
          <a:ln/>
        </p:spPr>
        <p:txBody>
          <a:bodyPr wrap="square" lIns="0" tIns="0" rIns="0" bIns="0" rtlCol="0" anchor="ctr"/>
          <a:lstStyle/>
          <a:p>
            <a:pPr marL="0" indent="0">
              <a:buNone/>
            </a:pPr>
            <a:r>
              <a:rPr lang="en-US" sz="1200" dirty="0">
                <a:solidFill>
                  <a:schemeClr val="tx1"/>
                </a:solidFill>
              </a:rPr>
              <a:t>Wo ist eine Regelmaschine günstiger?</a:t>
            </a:r>
            <a:endParaRPr lang="en-US" sz="1200" dirty="0"/>
          </a:p>
        </p:txBody>
      </p:sp>
      <p:sp>
        <p:nvSpPr>
          <p:cNvPr id="19" name="Text 16"/>
          <p:cNvSpPr txBox="1"/>
          <p:nvPr/>
        </p:nvSpPr>
        <p:spPr>
          <a:xfrm>
            <a:off x="3703320" y="2807208"/>
            <a:ext cx="1554480" cy="438912"/>
          </a:xfrm>
          <a:prstGeom prst="rect">
            <a:avLst/>
          </a:prstGeom>
          <a:noFill/>
          <a:ln/>
        </p:spPr>
        <p:txBody>
          <a:bodyPr wrap="square" lIns="0" tIns="0" rIns="0" bIns="0" rtlCol="0" anchor="ctr"/>
          <a:lstStyle/>
          <a:p>
            <a:pPr marL="0" indent="0">
              <a:buNone/>
            </a:pPr>
            <a:r>
              <a:rPr lang="en-US" sz="1100" dirty="0">
                <a:solidFill>
                  <a:srgbClr val="565C75"/>
                </a:solidFill>
              </a:rPr>
              <a:t>$map · $filter · $min · $expr</a:t>
            </a:r>
            <a:endParaRPr lang="en-US" sz="1100" dirty="0"/>
          </a:p>
        </p:txBody>
      </p:sp>
      <p:sp>
        <p:nvSpPr>
          <p:cNvPr id="20" name="Pipeline-Zeile"/>
          <p:cNvSpPr/>
          <p:nvPr/>
        </p:nvSpPr>
        <p:spPr>
          <a:xfrm>
            <a:off x="457200" y="3337560"/>
            <a:ext cx="4846320" cy="475488"/>
          </a:xfrm>
          <a:prstGeom prst="roundRect">
            <a:avLst>
              <a:gd name="adj" fmla="val 1538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1" name="Text 18"/>
          <p:cNvSpPr txBox="1"/>
          <p:nvPr/>
        </p:nvSpPr>
        <p:spPr>
          <a:xfrm>
            <a:off x="594360" y="3337560"/>
            <a:ext cx="1234440" cy="475488"/>
          </a:xfrm>
          <a:prstGeom prst="rect">
            <a:avLst/>
          </a:prstGeom>
          <a:noFill/>
          <a:ln/>
        </p:spPr>
        <p:txBody>
          <a:bodyPr wrap="square" lIns="0" tIns="0" rIns="0" bIns="0" rtlCol="0" anchor="ctr"/>
          <a:lstStyle/>
          <a:p>
            <a:pPr marL="0" indent="0">
              <a:buNone/>
            </a:pPr>
            <a:r>
              <a:rPr lang="en-US" sz="1300" b="1" dirty="0">
                <a:solidFill>
                  <a:schemeClr val="tx2"/>
                </a:solidFill>
              </a:rPr>
              <a:t>amortisation</a:t>
            </a:r>
            <a:endParaRPr lang="en-US" sz="1300" dirty="0"/>
          </a:p>
        </p:txBody>
      </p:sp>
      <p:sp>
        <p:nvSpPr>
          <p:cNvPr id="22" name="Text 19"/>
          <p:cNvSpPr txBox="1"/>
          <p:nvPr/>
        </p:nvSpPr>
        <p:spPr>
          <a:xfrm>
            <a:off x="1828800" y="3355848"/>
            <a:ext cx="1828800" cy="438912"/>
          </a:xfrm>
          <a:prstGeom prst="rect">
            <a:avLst/>
          </a:prstGeom>
          <a:noFill/>
          <a:ln/>
        </p:spPr>
        <p:txBody>
          <a:bodyPr wrap="square" lIns="0" tIns="0" rIns="0" bIns="0" rtlCol="0" anchor="ctr"/>
          <a:lstStyle/>
          <a:p>
            <a:pPr marL="0" indent="0">
              <a:buNone/>
            </a:pPr>
            <a:r>
              <a:rPr lang="en-US" sz="1200" dirty="0">
                <a:solidFill>
                  <a:schemeClr val="tx1"/>
                </a:solidFill>
              </a:rPr>
              <a:t>Wann lohnt sich Automatisierung?</a:t>
            </a:r>
            <a:endParaRPr lang="en-US" sz="1200" dirty="0"/>
          </a:p>
        </p:txBody>
      </p:sp>
      <p:sp>
        <p:nvSpPr>
          <p:cNvPr id="23" name="Text 20"/>
          <p:cNvSpPr txBox="1"/>
          <p:nvPr/>
        </p:nvSpPr>
        <p:spPr>
          <a:xfrm>
            <a:off x="3703320" y="3355848"/>
            <a:ext cx="1554480" cy="438912"/>
          </a:xfrm>
          <a:prstGeom prst="rect">
            <a:avLst/>
          </a:prstGeom>
          <a:noFill/>
          <a:ln/>
        </p:spPr>
        <p:txBody>
          <a:bodyPr wrap="square" lIns="0" tIns="0" rIns="0" bIns="0" rtlCol="0" anchor="ctr"/>
          <a:lstStyle/>
          <a:p>
            <a:pPr marL="0" indent="0">
              <a:buNone/>
            </a:pPr>
            <a:r>
              <a:rPr lang="en-US" sz="1100" dirty="0">
                <a:solidFill>
                  <a:srgbClr val="565C75"/>
                </a:solidFill>
              </a:rPr>
              <a:t>$unwind · $bucket</a:t>
            </a:r>
            <a:endParaRPr lang="en-US" sz="1100" dirty="0"/>
          </a:p>
        </p:txBody>
      </p:sp>
      <p:sp>
        <p:nvSpPr>
          <p:cNvPr id="24" name="Pipeline-Zeile"/>
          <p:cNvSpPr/>
          <p:nvPr/>
        </p:nvSpPr>
        <p:spPr>
          <a:xfrm>
            <a:off x="457200" y="3886200"/>
            <a:ext cx="4846320" cy="475488"/>
          </a:xfrm>
          <a:prstGeom prst="roundRect">
            <a:avLst>
              <a:gd name="adj" fmla="val 1538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5" name="Text 22"/>
          <p:cNvSpPr txBox="1"/>
          <p:nvPr/>
        </p:nvSpPr>
        <p:spPr>
          <a:xfrm>
            <a:off x="594360" y="3886200"/>
            <a:ext cx="1234440" cy="475488"/>
          </a:xfrm>
          <a:prstGeom prst="rect">
            <a:avLst/>
          </a:prstGeom>
          <a:noFill/>
          <a:ln/>
        </p:spPr>
        <p:txBody>
          <a:bodyPr wrap="square" lIns="0" tIns="0" rIns="0" bIns="0" rtlCol="0" anchor="ctr"/>
          <a:lstStyle/>
          <a:p>
            <a:pPr marL="0" indent="0">
              <a:buNone/>
            </a:pPr>
            <a:r>
              <a:rPr lang="en-US" sz="1300" b="1" dirty="0">
                <a:solidFill>
                  <a:schemeClr val="tx2"/>
                </a:solidFill>
              </a:rPr>
              <a:t>aehnlich</a:t>
            </a:r>
            <a:endParaRPr lang="en-US" sz="1300" dirty="0"/>
          </a:p>
        </p:txBody>
      </p:sp>
      <p:sp>
        <p:nvSpPr>
          <p:cNvPr id="26" name="Text 23"/>
          <p:cNvSpPr txBox="1"/>
          <p:nvPr/>
        </p:nvSpPr>
        <p:spPr>
          <a:xfrm>
            <a:off x="1828800" y="3904488"/>
            <a:ext cx="1828800" cy="438912"/>
          </a:xfrm>
          <a:prstGeom prst="rect">
            <a:avLst/>
          </a:prstGeom>
          <a:noFill/>
          <a:ln/>
        </p:spPr>
        <p:txBody>
          <a:bodyPr wrap="square" lIns="0" tIns="0" rIns="0" bIns="0" rtlCol="0" anchor="ctr"/>
          <a:lstStyle/>
          <a:p>
            <a:pPr marL="0" indent="0">
              <a:buNone/>
            </a:pPr>
            <a:r>
              <a:rPr lang="en-US" sz="1200" dirty="0">
                <a:solidFill>
                  <a:schemeClr val="tx1"/>
                </a:solidFill>
              </a:rPr>
              <a:t>Welche Use Cases sind ähnlich?</a:t>
            </a:r>
            <a:endParaRPr lang="en-US" sz="1200" dirty="0"/>
          </a:p>
        </p:txBody>
      </p:sp>
      <p:sp>
        <p:nvSpPr>
          <p:cNvPr id="27" name="Text 24"/>
          <p:cNvSpPr txBox="1"/>
          <p:nvPr/>
        </p:nvSpPr>
        <p:spPr>
          <a:xfrm>
            <a:off x="3703320" y="3904488"/>
            <a:ext cx="1554480" cy="438912"/>
          </a:xfrm>
          <a:prstGeom prst="rect">
            <a:avLst/>
          </a:prstGeom>
          <a:noFill/>
          <a:ln/>
        </p:spPr>
        <p:txBody>
          <a:bodyPr wrap="square" lIns="0" tIns="0" rIns="0" bIns="0" rtlCol="0" anchor="ctr"/>
          <a:lstStyle/>
          <a:p>
            <a:pPr marL="0" indent="0">
              <a:buNone/>
            </a:pPr>
            <a:r>
              <a:rPr lang="en-US" sz="1100" dirty="0">
                <a:solidFill>
                  <a:srgbClr val="565C75"/>
                </a:solidFill>
              </a:rPr>
              <a:t>$setIntersection · $cond · $abs</a:t>
            </a:r>
            <a:endParaRPr lang="en-US" sz="1100" dirty="0"/>
          </a:p>
        </p:txBody>
      </p:sp>
      <p:sp>
        <p:nvSpPr>
          <p:cNvPr id="28" name="Text 25"/>
          <p:cNvSpPr txBox="1"/>
          <p:nvPr/>
        </p:nvSpPr>
        <p:spPr>
          <a:xfrm>
            <a:off x="457200" y="4480560"/>
            <a:ext cx="4846320" cy="201168"/>
          </a:xfrm>
          <a:prstGeom prst="rect">
            <a:avLst/>
          </a:prstGeom>
          <a:noFill/>
          <a:ln/>
        </p:spPr>
        <p:txBody>
          <a:bodyPr wrap="square" lIns="0" tIns="0" rIns="0" bIns="0" rtlCol="0" anchor="t"/>
          <a:lstStyle/>
          <a:p>
            <a:pPr marL="0" indent="0">
              <a:buNone/>
            </a:pPr>
            <a:r>
              <a:rPr lang="en-US" sz="1100" dirty="0">
                <a:solidFill>
                  <a:srgbClr val="565C75"/>
                </a:solidFill>
              </a:rPr>
              <a:t>13 Pipelines insgesamt, in der App mit JSON einsehbar</a:t>
            </a:r>
            <a:endParaRPr lang="en-US" sz="1100" dirty="0"/>
          </a:p>
        </p:txBody>
      </p:sp>
      <p:pic>
        <p:nvPicPr>
          <p:cNvPr id="29" name="Image 0" descr="Screenshot der Ansicht Auswertungen mit Fazit und Kennzahlen"/>
          <p:cNvPicPr>
            <a:picLocks noChangeAspect="1"/>
          </p:cNvPicPr>
          <p:nvPr/>
        </p:nvPicPr>
        <p:blipFill>
          <a:blip r:embed="rId3"/>
          <a:stretch>
            <a:fillRect/>
          </a:stretch>
        </p:blipFill>
        <p:spPr>
          <a:xfrm>
            <a:off x="5532120" y="1143000"/>
            <a:ext cx="3154680" cy="2093976"/>
          </a:xfrm>
          <a:prstGeom prst="rect">
            <a:avLst/>
          </a:prstGeom>
          <a:effectLst>
            <a:outerShdw blurRad="76200" dist="25400" dir="5400000" algn="bl" rotWithShape="0">
              <a:srgbClr val="000000">
                <a:alpha val="12000"/>
              </a:srgbClr>
            </a:outerShdw>
          </a:effectLst>
        </p:spPr>
      </p:pic>
      <p:sp>
        <p:nvSpPr>
          <p:cNvPr id="30" name="Highlight"/>
          <p:cNvSpPr/>
          <p:nvPr/>
        </p:nvSpPr>
        <p:spPr>
          <a:xfrm>
            <a:off x="5532120" y="3383280"/>
            <a:ext cx="3154680" cy="1170432"/>
          </a:xfrm>
          <a:prstGeom prst="roundRect">
            <a:avLst>
              <a:gd name="adj" fmla="val 6250"/>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31" name="Text 27"/>
          <p:cNvSpPr txBox="1"/>
          <p:nvPr/>
        </p:nvSpPr>
        <p:spPr>
          <a:xfrm>
            <a:off x="5715000" y="3456432"/>
            <a:ext cx="2788920" cy="457200"/>
          </a:xfrm>
          <a:prstGeom prst="rect">
            <a:avLst/>
          </a:prstGeom>
          <a:noFill/>
          <a:ln/>
        </p:spPr>
        <p:txBody>
          <a:bodyPr wrap="square" lIns="0" tIns="0" rIns="0" bIns="0" rtlCol="0" anchor="t"/>
          <a:lstStyle/>
          <a:p>
            <a:pPr marL="0" indent="0">
              <a:buNone/>
            </a:pPr>
            <a:r>
              <a:rPr lang="en-US" sz="2800" b="1" dirty="0">
                <a:solidFill>
                  <a:schemeClr val="bg1"/>
                </a:solidFill>
                <a:latin typeface="Cambria" pitchFamily="34" charset="0"/>
                <a:ea typeface="Cambria" pitchFamily="34" charset="-122"/>
                <a:cs typeface="Cambria" pitchFamily="34" charset="-120"/>
              </a:rPr>
              <a:t>r = 0.38</a:t>
            </a:r>
            <a:endParaRPr lang="en-US" sz="2800" dirty="0"/>
          </a:p>
        </p:txBody>
      </p:sp>
      <p:sp>
        <p:nvSpPr>
          <p:cNvPr id="32" name="Text 28"/>
          <p:cNvSpPr txBox="1"/>
          <p:nvPr/>
        </p:nvSpPr>
        <p:spPr>
          <a:xfrm>
            <a:off x="5715000" y="3931920"/>
            <a:ext cx="2788920" cy="594360"/>
          </a:xfrm>
          <a:prstGeom prst="rect">
            <a:avLst/>
          </a:prstGeom>
          <a:noFill/>
          <a:ln/>
        </p:spPr>
        <p:txBody>
          <a:bodyPr wrap="square" lIns="0" tIns="0" rIns="0" bIns="0" rtlCol="0" anchor="t"/>
          <a:lstStyle/>
          <a:p>
            <a:pPr marL="0" indent="0">
              <a:buNone/>
            </a:pPr>
            <a:r>
              <a:rPr lang="en-US" sz="1300" dirty="0">
                <a:solidFill>
                  <a:schemeClr val="bg2"/>
                </a:solidFill>
              </a:rPr>
              <a:t>Korrelation Datenmenge ↔ Nutzwert, komplett in MongoDB berechnet</a:t>
            </a:r>
            <a:endParaRPr lang="en-US" sz="13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Indexierungsstrategie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5486400" cy="3328416"/>
        </p:xfrm>
        <a:graphic>
          <a:graphicData uri="http://schemas.openxmlformats.org/drawingml/2006/table">
            <a:tbl>
              <a:tblPr/>
              <a:tblGrid>
                <a:gridCol w="26517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475488">
                <a:tc>
                  <a:txBody>
                    <a:bodyPr/>
                    <a:lstStyle/>
                    <a:p>
                      <a:pPr marL="0" indent="0">
                        <a:buNone/>
                      </a:pPr>
                      <a:r>
                        <a:rPr lang="en-US" sz="1300" b="1" dirty="0">
                          <a:solidFill>
                            <a:srgbClr val="FFFFFF"/>
                          </a:solidFill>
                        </a:rPr>
                        <a:t>Index</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1B1F3B"/>
                    </a:solidFill>
                  </a:tcPr>
                </a:tc>
                <a:tc>
                  <a:txBody>
                    <a:bodyPr/>
                    <a:lstStyle/>
                    <a:p>
                      <a:pPr marL="0" indent="0">
                        <a:buNone/>
                      </a:pPr>
                      <a:r>
                        <a:rPr lang="en-US" sz="1300" b="1" dirty="0">
                          <a:solidFill>
                            <a:srgbClr val="FFFFFF"/>
                          </a:solidFill>
                        </a:rPr>
                        <a:t>Wofür</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1B1F3B"/>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111427"/>
                          </a:solidFill>
                        </a:rPr>
                        <a:t>branche + problemtyp + nutzwert↓</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FFFFFF"/>
                    </a:solidFill>
                  </a:tcPr>
                </a:tc>
                <a:tc>
                  <a:txBody>
                    <a:bodyPr/>
                    <a:lstStyle/>
                    <a:p>
                      <a:pPr marL="0" indent="0">
                        <a:buNone/>
                      </a:pPr>
                      <a:r>
                        <a:rPr lang="en-US" sz="1300" dirty="0">
                          <a:solidFill>
                            <a:srgbClr val="111427"/>
                          </a:solidFill>
                        </a:rPr>
                        <a:t>Filter und Sortierung (ESR)</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111427"/>
                          </a:solidFill>
                        </a:rPr>
                        <a:t>risiko + empfehlung</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FFFFFF"/>
                    </a:solidFill>
                  </a:tcPr>
                </a:tc>
                <a:tc>
                  <a:txBody>
                    <a:bodyPr/>
                    <a:lstStyle/>
                    <a:p>
                      <a:pPr marL="0" indent="0">
                        <a:buNone/>
                      </a:pPr>
                      <a:r>
                        <a:rPr lang="en-US" sz="1300" dirty="0">
                          <a:solidFill>
                            <a:srgbClr val="111427"/>
                          </a:solidFill>
                        </a:rPr>
                        <a:t>Risiko-Auswertungen, Filter</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111427"/>
                          </a:solidFill>
                        </a:rPr>
                        <a:t>nutzwert↓</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FFFFFF"/>
                    </a:solidFill>
                  </a:tcPr>
                </a:tc>
                <a:tc>
                  <a:txBody>
                    <a:bodyPr/>
                    <a:lstStyle/>
                    <a:p>
                      <a:pPr marL="0" indent="0">
                        <a:buNone/>
                      </a:pPr>
                      <a:r>
                        <a:rPr lang="en-US" sz="1300" dirty="0">
                          <a:solidFill>
                            <a:srgbClr val="111427"/>
                          </a:solidFill>
                        </a:rPr>
                        <a:t>Rangliste, Top-N</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b="1" dirty="0">
                          <a:solidFill>
                            <a:srgbClr val="111427"/>
                          </a:solidFill>
                        </a:rPr>
                        <a:t>fallvolumen</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FFFFFF"/>
                    </a:solidFill>
                  </a:tcPr>
                </a:tc>
                <a:tc>
                  <a:txBody>
                    <a:bodyPr/>
                    <a:lstStyle/>
                    <a:p>
                      <a:pPr marL="0" indent="0">
                        <a:buNone/>
                      </a:pPr>
                      <a:r>
                        <a:rPr lang="en-US" sz="1300" dirty="0">
                          <a:solidFill>
                            <a:srgbClr val="111427"/>
                          </a:solidFill>
                        </a:rPr>
                        <a:t>Bereichsabfragen, $bucket</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300" b="1" dirty="0">
                          <a:solidFill>
                            <a:srgbClr val="111427"/>
                          </a:solidFill>
                        </a:rPr>
                        <a:t>tags (multikey)</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FFFFFF"/>
                    </a:solidFill>
                  </a:tcPr>
                </a:tc>
                <a:tc>
                  <a:txBody>
                    <a:bodyPr/>
                    <a:lstStyle/>
                    <a:p>
                      <a:pPr marL="0" indent="0">
                        <a:buNone/>
                      </a:pPr>
                      <a:r>
                        <a:rPr lang="en-US" sz="1300" dirty="0">
                          <a:solidFill>
                            <a:srgbClr val="111427"/>
                          </a:solidFill>
                        </a:rPr>
                        <a:t>Tag-Suche, Ähnlichkeit</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300" b="1" dirty="0">
                          <a:solidFill>
                            <a:srgbClr val="111427"/>
                          </a:solidFill>
                        </a:rPr>
                        <a:t>Volltext (de)</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FFFFFF"/>
                    </a:solidFill>
                  </a:tcPr>
                </a:tc>
                <a:tc>
                  <a:txBody>
                    <a:bodyPr/>
                    <a:lstStyle/>
                    <a:p>
                      <a:pPr marL="0" indent="0">
                        <a:buNone/>
                      </a:pPr>
                      <a:r>
                        <a:rPr lang="en-US" sz="1300" dirty="0">
                          <a:solidFill>
                            <a:srgbClr val="111427"/>
                          </a:solidFill>
                        </a:rPr>
                        <a:t>Relevanzsuche (Titel &gt; Tags)</a:t>
                      </a:r>
                      <a:endParaRPr lang="en-US" sz="1300" dirty="0"/>
                    </a:p>
                  </a:txBody>
                  <a:tcPr marT="36576" marB="36576" anchor="ctr">
                    <a:lnL w="9525" cap="flat" cmpd="sng" algn="ctr">
                      <a:solidFill>
                        <a:srgbClr val="D9DDEA"/>
                      </a:solidFill>
                      <a:prstDash val="solid"/>
                      <a:round/>
                      <a:headEnd type="none" w="med" len="med"/>
                      <a:tailEnd type="none" w="med" len="med"/>
                    </a:lnL>
                    <a:lnR w="9525" cap="flat" cmpd="sng" algn="ctr">
                      <a:solidFill>
                        <a:srgbClr val="D9DDEA"/>
                      </a:solidFill>
                      <a:prstDash val="solid"/>
                      <a:round/>
                      <a:headEnd type="none" w="med" len="med"/>
                      <a:tailEnd type="none" w="med" len="med"/>
                    </a:lnR>
                    <a:lnT w="9525" cap="flat" cmpd="sng" algn="ctr">
                      <a:solidFill>
                        <a:srgbClr val="D9DDEA"/>
                      </a:solidFill>
                      <a:prstDash val="solid"/>
                      <a:round/>
                      <a:headEnd type="none" w="med" len="med"/>
                      <a:tailEnd type="none" w="med" len="med"/>
                    </a:lnT>
                    <a:lnB w="9525" cap="flat" cmpd="sng" algn="ctr">
                      <a:solidFill>
                        <a:srgbClr val="D9DD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Kennzahl explain"/>
          <p:cNvSpPr/>
          <p:nvPr/>
        </p:nvSpPr>
        <p:spPr>
          <a:xfrm>
            <a:off x="6217920" y="1143000"/>
            <a:ext cx="2468880" cy="1600200"/>
          </a:xfrm>
          <a:prstGeom prst="roundRect">
            <a:avLst>
              <a:gd name="adj" fmla="val 4571"/>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6" name="Text 2"/>
          <p:cNvSpPr txBox="1"/>
          <p:nvPr/>
        </p:nvSpPr>
        <p:spPr>
          <a:xfrm>
            <a:off x="6355080" y="1261872"/>
            <a:ext cx="2194560" cy="502920"/>
          </a:xfrm>
          <a:prstGeom prst="rect">
            <a:avLst/>
          </a:prstGeom>
          <a:noFill/>
          <a:ln/>
        </p:spPr>
        <p:txBody>
          <a:bodyPr wrap="square" lIns="0" tIns="0" rIns="0" bIns="0" rtlCol="0" anchor="t"/>
          <a:lstStyle/>
          <a:p>
            <a:pPr marL="0" indent="0">
              <a:buNone/>
            </a:pPr>
            <a:r>
              <a:rPr lang="en-US" sz="3200" b="1" dirty="0">
                <a:solidFill>
                  <a:schemeClr val="bg1"/>
                </a:solidFill>
                <a:latin typeface="Cambria" pitchFamily="34" charset="0"/>
                <a:ea typeface="Cambria" pitchFamily="34" charset="-122"/>
                <a:cs typeface="Cambria" pitchFamily="34" charset="-120"/>
              </a:rPr>
              <a:t>5 von 5</a:t>
            </a:r>
            <a:endParaRPr lang="en-US" sz="3200" dirty="0"/>
          </a:p>
        </p:txBody>
      </p:sp>
      <p:sp>
        <p:nvSpPr>
          <p:cNvPr id="7" name="Text 3"/>
          <p:cNvSpPr txBox="1"/>
          <p:nvPr/>
        </p:nvSpPr>
        <p:spPr>
          <a:xfrm>
            <a:off x="6355080" y="1810512"/>
            <a:ext cx="2194560" cy="868680"/>
          </a:xfrm>
          <a:prstGeom prst="rect">
            <a:avLst/>
          </a:prstGeom>
          <a:noFill/>
          <a:ln/>
        </p:spPr>
        <p:txBody>
          <a:bodyPr wrap="square" lIns="0" tIns="0" rIns="0" bIns="0" rtlCol="0" anchor="t"/>
          <a:lstStyle/>
          <a:p>
            <a:pPr marL="0" indent="0">
              <a:buNone/>
            </a:pPr>
            <a:r>
              <a:rPr lang="en-US" sz="1400" dirty="0">
                <a:solidFill>
                  <a:schemeClr val="bg2"/>
                </a:solidFill>
              </a:rPr>
              <a:t>typischen Abfragen nutzen per explain einen Index-Scan</a:t>
            </a:r>
            <a:endParaRPr lang="en-US" sz="1400" dirty="0"/>
          </a:p>
        </p:txBody>
      </p:sp>
      <p:sp>
        <p:nvSpPr>
          <p:cNvPr id="8" name="Bewusst nicht"/>
          <p:cNvSpPr/>
          <p:nvPr/>
        </p:nvSpPr>
        <p:spPr>
          <a:xfrm>
            <a:off x="6217920" y="2926080"/>
            <a:ext cx="2468880" cy="1691640"/>
          </a:xfrm>
          <a:prstGeom prst="roundRect">
            <a:avLst>
              <a:gd name="adj" fmla="val 432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9" name="Text 5"/>
          <p:cNvSpPr txBox="1"/>
          <p:nvPr/>
        </p:nvSpPr>
        <p:spPr>
          <a:xfrm>
            <a:off x="6355080" y="3017520"/>
            <a:ext cx="2194560" cy="274320"/>
          </a:xfrm>
          <a:prstGeom prst="rect">
            <a:avLst/>
          </a:prstGeom>
          <a:noFill/>
          <a:ln/>
        </p:spPr>
        <p:txBody>
          <a:bodyPr wrap="square" lIns="0" tIns="0" rIns="0" bIns="0" rtlCol="0" anchor="t"/>
          <a:lstStyle/>
          <a:p>
            <a:pPr marL="0" indent="0">
              <a:buNone/>
            </a:pPr>
            <a:r>
              <a:rPr lang="en-US" sz="1400" b="1" dirty="0">
                <a:solidFill>
                  <a:schemeClr val="tx2"/>
                </a:solidFill>
              </a:rPr>
              <a:t>Bewusst nicht indexiert</a:t>
            </a:r>
            <a:endParaRPr lang="en-US" sz="1400" dirty="0"/>
          </a:p>
        </p:txBody>
      </p:sp>
      <p:sp>
        <p:nvSpPr>
          <p:cNvPr id="2" name="Text 6"/>
          <p:cNvSpPr txBox="1"/>
          <p:nvPr/>
        </p:nvSpPr>
        <p:spPr>
          <a:xfrm>
            <a:off x="6355080" y="3337560"/>
            <a:ext cx="2194560" cy="1188720"/>
          </a:xfrm>
          <a:prstGeom prst="rect">
            <a:avLst/>
          </a:prstGeom>
          <a:noFill/>
          <a:ln/>
        </p:spPr>
        <p:txBody>
          <a:bodyPr wrap="square" lIns="0" tIns="0" rIns="0" bIns="0" rtlCol="0" anchor="t"/>
          <a:lstStyle/>
          <a:p>
            <a:pPr marL="0" indent="0">
              <a:buNone/>
            </a:pPr>
            <a:r>
              <a:rPr lang="en-US" sz="1300" dirty="0">
                <a:solidFill>
                  <a:srgbClr val="565C75"/>
                </a:solidFill>
              </a:rPr>
              <a:t>Teilscores und Einzelfelder: Jeder Index kostet Schreibleistung und Speicher.</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Tests: geeignete und ungeeignete Fälle</a:t>
            </a:r>
            <a:endParaRPr lang="en-US" sz="3000" dirty="0"/>
          </a:p>
        </p:txBody>
      </p:sp>
      <p:sp>
        <p:nvSpPr>
          <p:cNvPr id="4" name="Kennzahl Tests"/>
          <p:cNvSpPr/>
          <p:nvPr/>
        </p:nvSpPr>
        <p:spPr>
          <a:xfrm>
            <a:off x="457200" y="1143000"/>
            <a:ext cx="3108960" cy="1600200"/>
          </a:xfrm>
          <a:prstGeom prst="roundRect">
            <a:avLst>
              <a:gd name="adj" fmla="val 4571"/>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5" name="Text 2"/>
          <p:cNvSpPr txBox="1"/>
          <p:nvPr/>
        </p:nvSpPr>
        <p:spPr>
          <a:xfrm>
            <a:off x="640080" y="1261872"/>
            <a:ext cx="2743200" cy="502920"/>
          </a:xfrm>
          <a:prstGeom prst="rect">
            <a:avLst/>
          </a:prstGeom>
          <a:noFill/>
          <a:ln/>
        </p:spPr>
        <p:txBody>
          <a:bodyPr wrap="square" lIns="0" tIns="0" rIns="0" bIns="0" rtlCol="0" anchor="t"/>
          <a:lstStyle/>
          <a:p>
            <a:pPr marL="0" indent="0">
              <a:buNone/>
            </a:pPr>
            <a:r>
              <a:rPr lang="en-US" sz="3200" b="1" dirty="0">
                <a:solidFill>
                  <a:schemeClr val="bg1"/>
                </a:solidFill>
                <a:latin typeface="Cambria" pitchFamily="34" charset="0"/>
                <a:ea typeface="Cambria" pitchFamily="34" charset="-122"/>
                <a:cs typeface="Cambria" pitchFamily="34" charset="-120"/>
              </a:rPr>
              <a:t>41 Tests</a:t>
            </a:r>
            <a:endParaRPr lang="en-US" sz="3200" dirty="0"/>
          </a:p>
        </p:txBody>
      </p:sp>
      <p:sp>
        <p:nvSpPr>
          <p:cNvPr id="6" name="Text 3"/>
          <p:cNvSpPr txBox="1"/>
          <p:nvPr/>
        </p:nvSpPr>
        <p:spPr>
          <a:xfrm>
            <a:off x="640080" y="1810512"/>
            <a:ext cx="2743200" cy="868680"/>
          </a:xfrm>
          <a:prstGeom prst="rect">
            <a:avLst/>
          </a:prstGeom>
          <a:noFill/>
          <a:ln/>
        </p:spPr>
        <p:txBody>
          <a:bodyPr wrap="square" lIns="0" tIns="0" rIns="0" bIns="0" rtlCol="0" anchor="t"/>
          <a:lstStyle/>
          <a:p>
            <a:pPr marL="0" indent="0">
              <a:buNone/>
            </a:pPr>
            <a:r>
              <a:rPr lang="en-US" sz="1400" dirty="0">
                <a:solidFill>
                  <a:schemeClr val="bg2"/>
                </a:solidFill>
              </a:rPr>
              <a:t>Unit-Tests und Integration gegen echte MongoDB</a:t>
            </a:r>
            <a:endParaRPr lang="en-US" sz="1400" dirty="0"/>
          </a:p>
        </p:txBody>
      </p:sp>
      <p:sp>
        <p:nvSpPr>
          <p:cNvPr id="7" name="Robustheit"/>
          <p:cNvSpPr/>
          <p:nvPr/>
        </p:nvSpPr>
        <p:spPr>
          <a:xfrm>
            <a:off x="457200" y="2926080"/>
            <a:ext cx="3108960" cy="1691640"/>
          </a:xfrm>
          <a:prstGeom prst="roundRect">
            <a:avLst>
              <a:gd name="adj" fmla="val 432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8" name="Text 5"/>
          <p:cNvSpPr txBox="1"/>
          <p:nvPr/>
        </p:nvSpPr>
        <p:spPr>
          <a:xfrm>
            <a:off x="640080" y="3017520"/>
            <a:ext cx="2743200" cy="274320"/>
          </a:xfrm>
          <a:prstGeom prst="rect">
            <a:avLst/>
          </a:prstGeom>
          <a:noFill/>
          <a:ln/>
        </p:spPr>
        <p:txBody>
          <a:bodyPr wrap="square" lIns="0" tIns="0" rIns="0" bIns="0" rtlCol="0" anchor="t"/>
          <a:lstStyle/>
          <a:p>
            <a:pPr marL="0" indent="0">
              <a:buNone/>
            </a:pPr>
            <a:r>
              <a:rPr lang="en-US" sz="1500" b="1" dirty="0">
                <a:solidFill>
                  <a:schemeClr val="tx2"/>
                </a:solidFill>
              </a:rPr>
              <a:t>Robustheit</a:t>
            </a:r>
            <a:endParaRPr lang="en-US" sz="1500" dirty="0"/>
          </a:p>
        </p:txBody>
      </p:sp>
      <p:sp>
        <p:nvSpPr>
          <p:cNvPr id="9" name="Text 6"/>
          <p:cNvSpPr txBox="1"/>
          <p:nvPr/>
        </p:nvSpPr>
        <p:spPr>
          <a:xfrm>
            <a:off x="640080" y="3337560"/>
            <a:ext cx="2743200" cy="1188720"/>
          </a:xfrm>
          <a:prstGeom prst="rect">
            <a:avLst/>
          </a:prstGeom>
          <a:noFill/>
          <a:ln/>
        </p:spPr>
        <p:txBody>
          <a:bodyPr wrap="square" lIns="0" tIns="0" rIns="0" bIns="0" rtlCol="0" anchor="t"/>
          <a:lstStyle/>
          <a:p>
            <a:pPr marL="0" indent="0">
              <a:buNone/>
            </a:pPr>
            <a:r>
              <a:rPr lang="en-US" sz="1400" dirty="0">
                <a:solidFill>
                  <a:srgbClr val="565C75"/>
                </a:solidFill>
              </a:rPr>
              <a:t>Jedes Gewicht um die Hälfte rauf oder runter: mindestens 95 Prozent der Empfehlungen bleiben gleich.</a:t>
            </a:r>
            <a:endParaRPr lang="en-US" sz="1400" dirty="0"/>
          </a:p>
        </p:txBody>
      </p:sp>
      <p:sp>
        <p:nvSpPr>
          <p:cNvPr id="10" name="Testfall"/>
          <p:cNvSpPr/>
          <p:nvPr/>
        </p:nvSpPr>
        <p:spPr>
          <a:xfrm>
            <a:off x="3794760" y="1143000"/>
            <a:ext cx="4892040" cy="612648"/>
          </a:xfrm>
          <a:prstGeom prst="roundRect">
            <a:avLst>
              <a:gd name="adj" fmla="val 1194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1" name="Text 8"/>
          <p:cNvSpPr txBox="1"/>
          <p:nvPr/>
        </p:nvSpPr>
        <p:spPr>
          <a:xfrm>
            <a:off x="3931920" y="1207008"/>
            <a:ext cx="3154680" cy="256032"/>
          </a:xfrm>
          <a:prstGeom prst="rect">
            <a:avLst/>
          </a:prstGeom>
          <a:noFill/>
          <a:ln/>
        </p:spPr>
        <p:txBody>
          <a:bodyPr wrap="square" lIns="0" tIns="0" rIns="0" bIns="0" rtlCol="0" anchor="t"/>
          <a:lstStyle/>
          <a:p>
            <a:pPr marL="0" indent="0">
              <a:buNone/>
            </a:pPr>
            <a:r>
              <a:rPr lang="en-US" sz="1400" b="1" dirty="0">
                <a:solidFill>
                  <a:schemeClr val="tx2"/>
                </a:solidFill>
              </a:rPr>
              <a:t>Support-Anfragen klassifizieren</a:t>
            </a:r>
            <a:endParaRPr lang="en-US" sz="1400" dirty="0"/>
          </a:p>
        </p:txBody>
      </p:sp>
      <p:sp>
        <p:nvSpPr>
          <p:cNvPr id="12" name="Text 9"/>
          <p:cNvSpPr txBox="1"/>
          <p:nvPr/>
        </p:nvSpPr>
        <p:spPr>
          <a:xfrm>
            <a:off x="3931920" y="1472184"/>
            <a:ext cx="3154680" cy="237744"/>
          </a:xfrm>
          <a:prstGeom prst="rect">
            <a:avLst/>
          </a:prstGeom>
          <a:noFill/>
          <a:ln/>
        </p:spPr>
        <p:txBody>
          <a:bodyPr wrap="square" lIns="0" tIns="0" rIns="0" bIns="0" rtlCol="0" anchor="t"/>
          <a:lstStyle/>
          <a:p>
            <a:pPr marL="0" indent="0">
              <a:buNone/>
            </a:pPr>
            <a:r>
              <a:rPr lang="en-US" sz="1200" dirty="0">
                <a:solidFill>
                  <a:srgbClr val="565C75"/>
                </a:solidFill>
              </a:rPr>
              <a:t>12’000 Fälle, Text, fehlertolerant</a:t>
            </a:r>
            <a:endParaRPr lang="en-US" sz="1200" dirty="0"/>
          </a:p>
        </p:txBody>
      </p:sp>
      <p:sp>
        <p:nvSpPr>
          <p:cNvPr id="13" name="Testergebnis KI sinnvoll"/>
          <p:cNvSpPr txBox="1"/>
          <p:nvPr/>
        </p:nvSpPr>
        <p:spPr>
          <a:xfrm>
            <a:off x="7269480" y="1298448"/>
            <a:ext cx="1280160" cy="310896"/>
          </a:xfrm>
          <a:prstGeom prst="roundRect">
            <a:avLst>
              <a:gd name="adj" fmla="val 29412"/>
            </a:avLst>
          </a:prstGeom>
          <a:solidFill>
            <a:srgbClr val="00C46A"/>
          </a:solidFill>
          <a:ln/>
        </p:spPr>
        <p:txBody>
          <a:bodyPr wrap="square" lIns="0" tIns="0" rIns="0" bIns="0" rtlCol="0" anchor="ctr"/>
          <a:lstStyle/>
          <a:p>
            <a:pPr marL="0" indent="0" algn="ctr">
              <a:buNone/>
            </a:pPr>
            <a:r>
              <a:rPr lang="en-US" sz="1200" b="1" dirty="0">
                <a:solidFill>
                  <a:srgbClr val="111427"/>
                </a:solidFill>
              </a:rPr>
              <a:t>KI sinnvoll</a:t>
            </a:r>
            <a:endParaRPr lang="en-US" sz="1200" dirty="0"/>
          </a:p>
        </p:txBody>
      </p:sp>
      <p:sp>
        <p:nvSpPr>
          <p:cNvPr id="14" name="Testfall"/>
          <p:cNvSpPr/>
          <p:nvPr/>
        </p:nvSpPr>
        <p:spPr>
          <a:xfrm>
            <a:off x="3794760" y="1847088"/>
            <a:ext cx="4892040" cy="612648"/>
          </a:xfrm>
          <a:prstGeom prst="roundRect">
            <a:avLst>
              <a:gd name="adj" fmla="val 1194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5" name="Text 12"/>
          <p:cNvSpPr txBox="1"/>
          <p:nvPr/>
        </p:nvSpPr>
        <p:spPr>
          <a:xfrm>
            <a:off x="3931920" y="1911096"/>
            <a:ext cx="3154680" cy="256032"/>
          </a:xfrm>
          <a:prstGeom prst="rect">
            <a:avLst/>
          </a:prstGeom>
          <a:noFill/>
          <a:ln/>
        </p:spPr>
        <p:txBody>
          <a:bodyPr wrap="square" lIns="0" tIns="0" rIns="0" bIns="0" rtlCol="0" anchor="t"/>
          <a:lstStyle/>
          <a:p>
            <a:pPr marL="0" indent="0">
              <a:buNone/>
            </a:pPr>
            <a:r>
              <a:rPr lang="en-US" sz="1400" b="1" dirty="0">
                <a:solidFill>
                  <a:schemeClr val="tx2"/>
                </a:solidFill>
              </a:rPr>
              <a:t>Diagnose-Unterstützung Radiologie</a:t>
            </a:r>
            <a:endParaRPr lang="en-US" sz="1400" dirty="0"/>
          </a:p>
        </p:txBody>
      </p:sp>
      <p:sp>
        <p:nvSpPr>
          <p:cNvPr id="16" name="Text 13"/>
          <p:cNvSpPr txBox="1"/>
          <p:nvPr/>
        </p:nvSpPr>
        <p:spPr>
          <a:xfrm>
            <a:off x="3931920" y="2176272"/>
            <a:ext cx="3154680" cy="237744"/>
          </a:xfrm>
          <a:prstGeom prst="rect">
            <a:avLst/>
          </a:prstGeom>
          <a:noFill/>
          <a:ln/>
        </p:spPr>
        <p:txBody>
          <a:bodyPr wrap="square" lIns="0" tIns="0" rIns="0" bIns="0" rtlCol="0" anchor="t"/>
          <a:lstStyle/>
          <a:p>
            <a:pPr marL="0" indent="0">
              <a:buNone/>
            </a:pPr>
            <a:r>
              <a:rPr lang="en-US" sz="1200" dirty="0">
                <a:solidFill>
                  <a:srgbClr val="565C75"/>
                </a:solidFill>
              </a:rPr>
              <a:t>Risiko hoch, Fehler nicht tolerierbar</a:t>
            </a:r>
            <a:endParaRPr lang="en-US" sz="1200" dirty="0"/>
          </a:p>
        </p:txBody>
      </p:sp>
      <p:sp>
        <p:nvSpPr>
          <p:cNvPr id="17" name="Testergebnis Assistenz"/>
          <p:cNvSpPr txBox="1"/>
          <p:nvPr/>
        </p:nvSpPr>
        <p:spPr>
          <a:xfrm>
            <a:off x="7269480" y="2002536"/>
            <a:ext cx="1280160" cy="310896"/>
          </a:xfrm>
          <a:prstGeom prst="roundRect">
            <a:avLst>
              <a:gd name="adj" fmla="val 29412"/>
            </a:avLst>
          </a:prstGeom>
          <a:solidFill>
            <a:srgbClr val="3D8BFF"/>
          </a:solidFill>
          <a:ln/>
        </p:spPr>
        <p:txBody>
          <a:bodyPr wrap="square" lIns="0" tIns="0" rIns="0" bIns="0" rtlCol="0" anchor="ctr"/>
          <a:lstStyle/>
          <a:p>
            <a:pPr marL="0" indent="0" algn="ctr">
              <a:buNone/>
            </a:pPr>
            <a:r>
              <a:rPr lang="en-US" sz="1200" b="1" dirty="0">
                <a:solidFill>
                  <a:srgbClr val="111427"/>
                </a:solidFill>
              </a:rPr>
              <a:t>Assistenz</a:t>
            </a:r>
            <a:endParaRPr lang="en-US" sz="1200" dirty="0"/>
          </a:p>
        </p:txBody>
      </p:sp>
      <p:sp>
        <p:nvSpPr>
          <p:cNvPr id="18" name="Testfall"/>
          <p:cNvSpPr/>
          <p:nvPr/>
        </p:nvSpPr>
        <p:spPr>
          <a:xfrm>
            <a:off x="3794760" y="2551176"/>
            <a:ext cx="4892040" cy="612648"/>
          </a:xfrm>
          <a:prstGeom prst="roundRect">
            <a:avLst>
              <a:gd name="adj" fmla="val 1194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9" name="Text 16"/>
          <p:cNvSpPr txBox="1"/>
          <p:nvPr/>
        </p:nvSpPr>
        <p:spPr>
          <a:xfrm>
            <a:off x="3931920" y="2615184"/>
            <a:ext cx="3154680" cy="256032"/>
          </a:xfrm>
          <a:prstGeom prst="rect">
            <a:avLst/>
          </a:prstGeom>
          <a:noFill/>
          <a:ln/>
        </p:spPr>
        <p:txBody>
          <a:bodyPr wrap="square" lIns="0" tIns="0" rIns="0" bIns="0" rtlCol="0" anchor="t"/>
          <a:lstStyle/>
          <a:p>
            <a:pPr marL="0" indent="0">
              <a:buNone/>
            </a:pPr>
            <a:r>
              <a:rPr lang="en-US" sz="1400" b="1" dirty="0">
                <a:solidFill>
                  <a:schemeClr val="tx2"/>
                </a:solidFill>
              </a:rPr>
              <a:t>Passwort-Reset automatisieren</a:t>
            </a:r>
            <a:endParaRPr lang="en-US" sz="1400" dirty="0"/>
          </a:p>
        </p:txBody>
      </p:sp>
      <p:sp>
        <p:nvSpPr>
          <p:cNvPr id="20" name="Text 17"/>
          <p:cNvSpPr txBox="1"/>
          <p:nvPr/>
        </p:nvSpPr>
        <p:spPr>
          <a:xfrm>
            <a:off x="3931920" y="2880360"/>
            <a:ext cx="3154680" cy="237744"/>
          </a:xfrm>
          <a:prstGeom prst="rect">
            <a:avLst/>
          </a:prstGeom>
          <a:noFill/>
          <a:ln/>
        </p:spPr>
        <p:txBody>
          <a:bodyPr wrap="square" lIns="0" tIns="0" rIns="0" bIns="0" rtlCol="0" anchor="t"/>
          <a:lstStyle/>
          <a:p>
            <a:pPr marL="0" indent="0">
              <a:buNone/>
            </a:pPr>
            <a:r>
              <a:rPr lang="en-US" sz="1200" dirty="0">
                <a:solidFill>
                  <a:srgbClr val="565C75"/>
                </a:solidFill>
              </a:rPr>
              <a:t>Eindeutige Regeln, strukturiert</a:t>
            </a:r>
            <a:endParaRPr lang="en-US" sz="1200" dirty="0"/>
          </a:p>
        </p:txBody>
      </p:sp>
      <p:sp>
        <p:nvSpPr>
          <p:cNvPr id="21" name="Testergebnis Klassisch"/>
          <p:cNvSpPr txBox="1"/>
          <p:nvPr/>
        </p:nvSpPr>
        <p:spPr>
          <a:xfrm>
            <a:off x="7269480" y="2706624"/>
            <a:ext cx="1280160" cy="310896"/>
          </a:xfrm>
          <a:prstGeom prst="roundRect">
            <a:avLst>
              <a:gd name="adj" fmla="val 29412"/>
            </a:avLst>
          </a:prstGeom>
          <a:solidFill>
            <a:srgbClr val="FFD400"/>
          </a:solidFill>
          <a:ln/>
        </p:spPr>
        <p:txBody>
          <a:bodyPr wrap="square" lIns="0" tIns="0" rIns="0" bIns="0" rtlCol="0" anchor="ctr"/>
          <a:lstStyle/>
          <a:p>
            <a:pPr marL="0" indent="0" algn="ctr">
              <a:buNone/>
            </a:pPr>
            <a:r>
              <a:rPr lang="en-US" sz="1200" b="1" dirty="0">
                <a:solidFill>
                  <a:srgbClr val="111427"/>
                </a:solidFill>
              </a:rPr>
              <a:t>Klassisch</a:t>
            </a:r>
            <a:endParaRPr lang="en-US" sz="1200" dirty="0"/>
          </a:p>
        </p:txBody>
      </p:sp>
      <p:sp>
        <p:nvSpPr>
          <p:cNvPr id="22" name="Testfall"/>
          <p:cNvSpPr/>
          <p:nvPr/>
        </p:nvSpPr>
        <p:spPr>
          <a:xfrm>
            <a:off x="3794760" y="3255264"/>
            <a:ext cx="4892040" cy="612648"/>
          </a:xfrm>
          <a:prstGeom prst="roundRect">
            <a:avLst>
              <a:gd name="adj" fmla="val 1194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3" name="Text 20"/>
          <p:cNvSpPr txBox="1"/>
          <p:nvPr/>
        </p:nvSpPr>
        <p:spPr>
          <a:xfrm>
            <a:off x="3931920" y="3319272"/>
            <a:ext cx="3154680" cy="256032"/>
          </a:xfrm>
          <a:prstGeom prst="rect">
            <a:avLst/>
          </a:prstGeom>
          <a:noFill/>
          <a:ln/>
        </p:spPr>
        <p:txBody>
          <a:bodyPr wrap="square" lIns="0" tIns="0" rIns="0" bIns="0" rtlCol="0" anchor="t"/>
          <a:lstStyle/>
          <a:p>
            <a:pPr marL="0" indent="0">
              <a:buNone/>
            </a:pPr>
            <a:r>
              <a:rPr lang="en-US" sz="1400" b="1" dirty="0">
                <a:solidFill>
                  <a:schemeClr val="tx2"/>
                </a:solidFill>
              </a:rPr>
              <a:t>Seltene Krankheiten abgleichen</a:t>
            </a:r>
            <a:endParaRPr lang="en-US" sz="1400" dirty="0"/>
          </a:p>
        </p:txBody>
      </p:sp>
      <p:sp>
        <p:nvSpPr>
          <p:cNvPr id="24" name="Text 21"/>
          <p:cNvSpPr txBox="1"/>
          <p:nvPr/>
        </p:nvSpPr>
        <p:spPr>
          <a:xfrm>
            <a:off x="3931920" y="3584448"/>
            <a:ext cx="3154680" cy="237744"/>
          </a:xfrm>
          <a:prstGeom prst="rect">
            <a:avLst/>
          </a:prstGeom>
          <a:noFill/>
          <a:ln/>
        </p:spPr>
        <p:txBody>
          <a:bodyPr wrap="square" lIns="0" tIns="0" rIns="0" bIns="0" rtlCol="0" anchor="t"/>
          <a:lstStyle/>
          <a:p>
            <a:pPr marL="0" indent="0">
              <a:buNone/>
            </a:pPr>
            <a:r>
              <a:rPr lang="en-US" sz="1200" dirty="0">
                <a:solidFill>
                  <a:srgbClr val="565C75"/>
                </a:solidFill>
              </a:rPr>
              <a:t>Nur 15 Fälle pro Monat</a:t>
            </a:r>
            <a:endParaRPr lang="en-US" sz="1200" dirty="0"/>
          </a:p>
        </p:txBody>
      </p:sp>
      <p:sp>
        <p:nvSpPr>
          <p:cNvPr id="25" name="Testergebnis Manuell"/>
          <p:cNvSpPr txBox="1"/>
          <p:nvPr/>
        </p:nvSpPr>
        <p:spPr>
          <a:xfrm>
            <a:off x="7269480" y="3410712"/>
            <a:ext cx="1280160" cy="310896"/>
          </a:xfrm>
          <a:prstGeom prst="roundRect">
            <a:avLst>
              <a:gd name="adj" fmla="val 29412"/>
            </a:avLst>
          </a:prstGeom>
          <a:solidFill>
            <a:srgbClr val="FF5A4F"/>
          </a:solidFill>
          <a:ln/>
        </p:spPr>
        <p:txBody>
          <a:bodyPr wrap="square" lIns="0" tIns="0" rIns="0" bIns="0" rtlCol="0" anchor="ctr"/>
          <a:lstStyle/>
          <a:p>
            <a:pPr marL="0" indent="0" algn="ctr">
              <a:buNone/>
            </a:pPr>
            <a:r>
              <a:rPr lang="en-US" sz="1200" b="1" dirty="0">
                <a:solidFill>
                  <a:srgbClr val="111427"/>
                </a:solidFill>
              </a:rPr>
              <a:t>Manuell</a:t>
            </a:r>
            <a:endParaRPr lang="en-US" sz="1200" dirty="0"/>
          </a:p>
        </p:txBody>
      </p:sp>
      <p:sp>
        <p:nvSpPr>
          <p:cNvPr id="26" name="Testfall"/>
          <p:cNvSpPr/>
          <p:nvPr/>
        </p:nvSpPr>
        <p:spPr>
          <a:xfrm>
            <a:off x="3794760" y="3959352"/>
            <a:ext cx="4892040" cy="612648"/>
          </a:xfrm>
          <a:prstGeom prst="roundRect">
            <a:avLst>
              <a:gd name="adj" fmla="val 1194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7" name="Text 24"/>
          <p:cNvSpPr txBox="1"/>
          <p:nvPr/>
        </p:nvSpPr>
        <p:spPr>
          <a:xfrm>
            <a:off x="3931920" y="4023360"/>
            <a:ext cx="3154680" cy="256032"/>
          </a:xfrm>
          <a:prstGeom prst="rect">
            <a:avLst/>
          </a:prstGeom>
          <a:noFill/>
          <a:ln/>
        </p:spPr>
        <p:txBody>
          <a:bodyPr wrap="square" lIns="0" tIns="0" rIns="0" bIns="0" rtlCol="0" anchor="t"/>
          <a:lstStyle/>
          <a:p>
            <a:pPr marL="0" indent="0">
              <a:buNone/>
            </a:pPr>
            <a:r>
              <a:rPr lang="en-US" sz="1400" b="1" dirty="0">
                <a:solidFill>
                  <a:schemeClr val="tx2"/>
                </a:solidFill>
              </a:rPr>
              <a:t>Kundenabwanderung vorhersagen</a:t>
            </a:r>
            <a:endParaRPr lang="en-US" sz="1400" dirty="0"/>
          </a:p>
        </p:txBody>
      </p:sp>
      <p:sp>
        <p:nvSpPr>
          <p:cNvPr id="28" name="Text 25"/>
          <p:cNvSpPr txBox="1"/>
          <p:nvPr/>
        </p:nvSpPr>
        <p:spPr>
          <a:xfrm>
            <a:off x="3931920" y="4288536"/>
            <a:ext cx="3154680" cy="237744"/>
          </a:xfrm>
          <a:prstGeom prst="rect">
            <a:avLst/>
          </a:prstGeom>
          <a:noFill/>
          <a:ln/>
        </p:spPr>
        <p:txBody>
          <a:bodyPr wrap="square" lIns="0" tIns="0" rIns="0" bIns="0" rtlCol="0" anchor="t"/>
          <a:lstStyle/>
          <a:p>
            <a:pPr marL="0" indent="0">
              <a:buNone/>
            </a:pPr>
            <a:r>
              <a:rPr lang="en-US" sz="1200" dirty="0">
                <a:solidFill>
                  <a:srgbClr val="565C75"/>
                </a:solidFill>
              </a:rPr>
              <a:t>Fehlertoleranz nicht geklärt</a:t>
            </a:r>
            <a:endParaRPr lang="en-US" sz="1200" dirty="0"/>
          </a:p>
        </p:txBody>
      </p:sp>
      <p:sp>
        <p:nvSpPr>
          <p:cNvPr id="29" name="Testergebnis Unklar"/>
          <p:cNvSpPr txBox="1"/>
          <p:nvPr/>
        </p:nvSpPr>
        <p:spPr>
          <a:xfrm>
            <a:off x="7269480" y="4114800"/>
            <a:ext cx="1280160" cy="310896"/>
          </a:xfrm>
          <a:prstGeom prst="roundRect">
            <a:avLst>
              <a:gd name="adj" fmla="val 29412"/>
            </a:avLst>
          </a:prstGeom>
          <a:solidFill>
            <a:srgbClr val="9AA0B4"/>
          </a:solidFill>
          <a:ln/>
        </p:spPr>
        <p:txBody>
          <a:bodyPr wrap="square" lIns="0" tIns="0" rIns="0" bIns="0" rtlCol="0" anchor="ctr"/>
          <a:lstStyle/>
          <a:p>
            <a:pPr marL="0" indent="0" algn="ctr">
              <a:buNone/>
            </a:pPr>
            <a:r>
              <a:rPr lang="en-US" sz="1200" b="1" dirty="0">
                <a:solidFill>
                  <a:srgbClr val="111427"/>
                </a:solidFill>
              </a:rPr>
              <a:t>Unklar</a:t>
            </a:r>
            <a:endParaRPr lang="en-US" sz="12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Was die Auswertungen zeigen</a:t>
            </a:r>
            <a:endParaRPr lang="en-US" sz="3000" dirty="0"/>
          </a:p>
        </p:txBody>
      </p:sp>
      <p:sp>
        <p:nvSpPr>
          <p:cNvPr id="4" name="Erkenntnis-Karte"/>
          <p:cNvSpPr/>
          <p:nvPr/>
        </p:nvSpPr>
        <p:spPr>
          <a:xfrm>
            <a:off x="457200"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Frage"/>
          <p:cNvSpPr txBox="1"/>
          <p:nvPr/>
        </p:nvSpPr>
        <p:spPr>
          <a:xfrm>
            <a:off x="640080" y="1298448"/>
            <a:ext cx="2249424" cy="310896"/>
          </a:xfrm>
          <a:prstGeom prst="roundRect">
            <a:avLst>
              <a:gd name="adj" fmla="val 29412"/>
            </a:avLst>
          </a:prstGeom>
          <a:solidFill>
            <a:srgbClr val="00C46A"/>
          </a:solidFill>
          <a:ln/>
        </p:spPr>
        <p:txBody>
          <a:bodyPr wrap="square" lIns="0" tIns="0" rIns="0" bIns="0" rtlCol="0" anchor="ctr"/>
          <a:lstStyle/>
          <a:p>
            <a:pPr marL="0" indent="0" algn="ctr">
              <a:buNone/>
            </a:pPr>
            <a:r>
              <a:rPr lang="en-US" sz="1200" b="1" dirty="0">
                <a:solidFill>
                  <a:srgbClr val="111427"/>
                </a:solidFill>
              </a:rPr>
              <a:t>Datenmenge und Nutzen</a:t>
            </a:r>
            <a:endParaRPr lang="en-US" sz="1200" dirty="0"/>
          </a:p>
        </p:txBody>
      </p:sp>
      <p:sp>
        <p:nvSpPr>
          <p:cNvPr id="6" name="Text 3"/>
          <p:cNvSpPr txBox="1"/>
          <p:nvPr/>
        </p:nvSpPr>
        <p:spPr>
          <a:xfrm>
            <a:off x="640080" y="1783080"/>
            <a:ext cx="2286000" cy="548640"/>
          </a:xfrm>
          <a:prstGeom prst="rect">
            <a:avLst/>
          </a:prstGeom>
          <a:noFill/>
          <a:ln/>
        </p:spPr>
        <p:txBody>
          <a:bodyPr wrap="square" lIns="0" tIns="0" rIns="0" bIns="0" rtlCol="0" anchor="t"/>
          <a:lstStyle/>
          <a:p>
            <a:pPr marL="0" indent="0">
              <a:buNone/>
            </a:pPr>
            <a:r>
              <a:rPr lang="en-US" sz="3200" b="1" dirty="0">
                <a:solidFill>
                  <a:schemeClr val="tx2"/>
                </a:solidFill>
                <a:latin typeface="Cambria" pitchFamily="34" charset="0"/>
                <a:ea typeface="Cambria" pitchFamily="34" charset="-122"/>
                <a:cs typeface="Cambria" pitchFamily="34" charset="-120"/>
              </a:rPr>
              <a:t>0 → 8 von 8</a:t>
            </a:r>
            <a:endParaRPr lang="en-US" sz="3200" dirty="0"/>
          </a:p>
        </p:txBody>
      </p:sp>
      <p:sp>
        <p:nvSpPr>
          <p:cNvPr id="7" name="Text 4"/>
          <p:cNvSpPr txBox="1"/>
          <p:nvPr/>
        </p:nvSpPr>
        <p:spPr>
          <a:xfrm>
            <a:off x="640080" y="2423160"/>
            <a:ext cx="2286000" cy="1554480"/>
          </a:xfrm>
          <a:prstGeom prst="rect">
            <a:avLst/>
          </a:prstGeom>
          <a:noFill/>
          <a:ln/>
        </p:spPr>
        <p:txBody>
          <a:bodyPr wrap="square" lIns="0" tIns="0" rIns="0" bIns="0" rtlCol="0" anchor="t"/>
          <a:lstStyle/>
          <a:p>
            <a:pPr marL="0" indent="0">
              <a:buNone/>
            </a:pPr>
            <a:r>
              <a:rPr lang="en-US" sz="1500" dirty="0">
                <a:solidFill>
                  <a:srgbClr val="565C75"/>
                </a:solidFill>
              </a:rPr>
              <a:t>Unter 50 Fällen/Monat nie KI, ab 50’000 immer. Korrelation nur r = 0.38: Volumen ist notwendig, nicht hinreichend.</a:t>
            </a:r>
            <a:endParaRPr lang="en-US" sz="1500" dirty="0"/>
          </a:p>
        </p:txBody>
      </p:sp>
      <p:sp>
        <p:nvSpPr>
          <p:cNvPr id="8" name="Erkenntnis-Karte"/>
          <p:cNvSpPr/>
          <p:nvPr/>
        </p:nvSpPr>
        <p:spPr>
          <a:xfrm>
            <a:off x="3264408"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9" name="Frage"/>
          <p:cNvSpPr txBox="1"/>
          <p:nvPr/>
        </p:nvSpPr>
        <p:spPr>
          <a:xfrm>
            <a:off x="3447288" y="1298448"/>
            <a:ext cx="2249424" cy="310896"/>
          </a:xfrm>
          <a:prstGeom prst="roundRect">
            <a:avLst>
              <a:gd name="adj" fmla="val 29412"/>
            </a:avLst>
          </a:prstGeom>
          <a:solidFill>
            <a:srgbClr val="3D8BFF"/>
          </a:solidFill>
          <a:ln/>
        </p:spPr>
        <p:txBody>
          <a:bodyPr wrap="square" lIns="0" tIns="0" rIns="0" bIns="0" rtlCol="0" anchor="ctr"/>
          <a:lstStyle/>
          <a:p>
            <a:pPr marL="0" indent="0" algn="ctr">
              <a:buNone/>
            </a:pPr>
            <a:r>
              <a:rPr lang="en-US" sz="1200" b="1" dirty="0">
                <a:solidFill>
                  <a:srgbClr val="111427"/>
                </a:solidFill>
              </a:rPr>
              <a:t>Human in the Loop</a:t>
            </a:r>
            <a:endParaRPr lang="en-US" sz="1200" dirty="0"/>
          </a:p>
        </p:txBody>
      </p:sp>
      <p:sp>
        <p:nvSpPr>
          <p:cNvPr id="10" name="Text 7"/>
          <p:cNvSpPr txBox="1"/>
          <p:nvPr/>
        </p:nvSpPr>
        <p:spPr>
          <a:xfrm>
            <a:off x="3447288" y="1783080"/>
            <a:ext cx="2286000" cy="548640"/>
          </a:xfrm>
          <a:prstGeom prst="rect">
            <a:avLst/>
          </a:prstGeom>
          <a:noFill/>
          <a:ln/>
        </p:spPr>
        <p:txBody>
          <a:bodyPr wrap="square" lIns="0" tIns="0" rIns="0" bIns="0" rtlCol="0" anchor="t"/>
          <a:lstStyle/>
          <a:p>
            <a:pPr marL="0" indent="0">
              <a:buNone/>
            </a:pPr>
            <a:r>
              <a:rPr lang="en-US" sz="3200" b="1" dirty="0">
                <a:solidFill>
                  <a:schemeClr val="tx2"/>
                </a:solidFill>
                <a:latin typeface="Cambria" pitchFamily="34" charset="0"/>
                <a:ea typeface="Cambria" pitchFamily="34" charset="-122"/>
                <a:cs typeface="Cambria" pitchFamily="34" charset="-120"/>
              </a:rPr>
              <a:t>0 von 14</a:t>
            </a:r>
            <a:endParaRPr lang="en-US" sz="3200" dirty="0"/>
          </a:p>
        </p:txBody>
      </p:sp>
      <p:sp>
        <p:nvSpPr>
          <p:cNvPr id="11" name="Text 8"/>
          <p:cNvSpPr txBox="1"/>
          <p:nvPr/>
        </p:nvSpPr>
        <p:spPr>
          <a:xfrm>
            <a:off x="3447288" y="2423160"/>
            <a:ext cx="2286000" cy="1554480"/>
          </a:xfrm>
          <a:prstGeom prst="rect">
            <a:avLst/>
          </a:prstGeom>
          <a:noFill/>
          <a:ln/>
        </p:spPr>
        <p:txBody>
          <a:bodyPr wrap="square" lIns="0" tIns="0" rIns="0" bIns="0" rtlCol="0" anchor="t"/>
          <a:lstStyle/>
          <a:p>
            <a:pPr marL="0" indent="0">
              <a:buNone/>
            </a:pPr>
            <a:r>
              <a:rPr lang="en-US" sz="1500" dirty="0">
                <a:solidFill>
                  <a:srgbClr val="565C75"/>
                </a:solidFill>
              </a:rPr>
              <a:t>Fälle mit hohem Risiko werden nie vollautomatisch empfohlen, 9 davon als Assistenz.</a:t>
            </a:r>
            <a:endParaRPr lang="en-US" sz="1500" dirty="0"/>
          </a:p>
        </p:txBody>
      </p:sp>
      <p:sp>
        <p:nvSpPr>
          <p:cNvPr id="12" name="Erkenntnis-Karte"/>
          <p:cNvSpPr/>
          <p:nvPr/>
        </p:nvSpPr>
        <p:spPr>
          <a:xfrm>
            <a:off x="6071616"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3" name="Frage"/>
          <p:cNvSpPr txBox="1"/>
          <p:nvPr/>
        </p:nvSpPr>
        <p:spPr>
          <a:xfrm>
            <a:off x="6254496" y="1298448"/>
            <a:ext cx="2249424" cy="310896"/>
          </a:xfrm>
          <a:prstGeom prst="roundRect">
            <a:avLst>
              <a:gd name="adj" fmla="val 29412"/>
            </a:avLst>
          </a:prstGeom>
          <a:solidFill>
            <a:srgbClr val="FFD400"/>
          </a:solidFill>
          <a:ln/>
        </p:spPr>
        <p:txBody>
          <a:bodyPr wrap="square" lIns="0" tIns="0" rIns="0" bIns="0" rtlCol="0" anchor="ctr"/>
          <a:lstStyle/>
          <a:p>
            <a:pPr marL="0" indent="0" algn="ctr">
              <a:buNone/>
            </a:pPr>
            <a:r>
              <a:rPr lang="en-US" sz="1200" b="1" dirty="0">
                <a:solidFill>
                  <a:srgbClr val="111427"/>
                </a:solidFill>
              </a:rPr>
              <a:t>Regelmaschine</a:t>
            </a:r>
            <a:endParaRPr lang="en-US" sz="1200" dirty="0"/>
          </a:p>
        </p:txBody>
      </p:sp>
      <p:sp>
        <p:nvSpPr>
          <p:cNvPr id="14" name="Text 11"/>
          <p:cNvSpPr txBox="1"/>
          <p:nvPr/>
        </p:nvSpPr>
        <p:spPr>
          <a:xfrm>
            <a:off x="6254496" y="1783080"/>
            <a:ext cx="2286000" cy="548640"/>
          </a:xfrm>
          <a:prstGeom prst="rect">
            <a:avLst/>
          </a:prstGeom>
          <a:noFill/>
          <a:ln/>
        </p:spPr>
        <p:txBody>
          <a:bodyPr wrap="square" lIns="0" tIns="0" rIns="0" bIns="0" rtlCol="0" anchor="t"/>
          <a:lstStyle/>
          <a:p>
            <a:pPr marL="0" indent="0">
              <a:buNone/>
            </a:pPr>
            <a:r>
              <a:rPr lang="en-US" sz="3200" b="1" dirty="0">
                <a:solidFill>
                  <a:schemeClr val="tx2"/>
                </a:solidFill>
                <a:latin typeface="Cambria" pitchFamily="34" charset="0"/>
                <a:ea typeface="Cambria" pitchFamily="34" charset="-122"/>
                <a:cs typeface="Cambria" pitchFamily="34" charset="-120"/>
              </a:rPr>
              <a:t>11 von 48</a:t>
            </a:r>
            <a:endParaRPr lang="en-US" sz="3200" dirty="0"/>
          </a:p>
        </p:txBody>
      </p:sp>
      <p:sp>
        <p:nvSpPr>
          <p:cNvPr id="15" name="Text 12"/>
          <p:cNvSpPr txBox="1"/>
          <p:nvPr/>
        </p:nvSpPr>
        <p:spPr>
          <a:xfrm>
            <a:off x="6254496" y="2423160"/>
            <a:ext cx="2286000" cy="1554480"/>
          </a:xfrm>
          <a:prstGeom prst="rect">
            <a:avLst/>
          </a:prstGeom>
          <a:noFill/>
          <a:ln/>
        </p:spPr>
        <p:txBody>
          <a:bodyPr wrap="square" lIns="0" tIns="0" rIns="0" bIns="0" rtlCol="0" anchor="t"/>
          <a:lstStyle/>
          <a:p>
            <a:pPr marL="0" indent="0">
              <a:buNone/>
            </a:pPr>
            <a:r>
              <a:rPr lang="en-US" sz="1500" dirty="0">
                <a:solidFill>
                  <a:srgbClr val="565C75"/>
                </a:solidFill>
              </a:rPr>
              <a:t>Über 12 Monate günstiger als KI bei ähnlicher Genauigkeit, v. a. bei strukturierten Daten.</a:t>
            </a:r>
            <a:endParaRPr lang="en-US" sz="1500" dirty="0"/>
          </a:p>
        </p:txBody>
      </p:sp>
      <p:sp>
        <p:nvSpPr>
          <p:cNvPr id="16" name="Zusatz"/>
          <p:cNvSpPr/>
          <p:nvPr/>
        </p:nvSpPr>
        <p:spPr>
          <a:xfrm>
            <a:off x="457200" y="4160520"/>
            <a:ext cx="8229600" cy="457200"/>
          </a:xfrm>
          <a:prstGeom prst="roundRect">
            <a:avLst>
              <a:gd name="adj" fmla="val 16000"/>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17" name="Text 14"/>
          <p:cNvSpPr txBox="1"/>
          <p:nvPr/>
        </p:nvSpPr>
        <p:spPr>
          <a:xfrm>
            <a:off x="640080" y="4160520"/>
            <a:ext cx="7863840" cy="457200"/>
          </a:xfrm>
          <a:prstGeom prst="rect">
            <a:avLst/>
          </a:prstGeom>
          <a:noFill/>
          <a:ln/>
        </p:spPr>
        <p:txBody>
          <a:bodyPr wrap="square" lIns="0" tIns="0" rIns="0" bIns="0" rtlCol="0" anchor="ctr"/>
          <a:lstStyle/>
          <a:p>
            <a:pPr marL="0" indent="0" algn="ctr">
              <a:buNone/>
            </a:pPr>
            <a:r>
              <a:rPr lang="en-US" sz="1400" dirty="0">
                <a:solidFill>
                  <a:schemeClr val="bg1"/>
                </a:solidFill>
              </a:rPr>
              <a:t>Unstrukturierte Daten (Text, Bild): 78 % KI-Quote  ·  strukturierte Daten: 44 %</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bg1"/>
                </a:solidFill>
              </a:rPr>
              <a:t>Antwort: KI lohnt sich, wenn …</a:t>
            </a:r>
            <a:endParaRPr lang="en-US" sz="3000" dirty="0"/>
          </a:p>
        </p:txBody>
      </p:sp>
      <p:sp>
        <p:nvSpPr>
          <p:cNvPr id="4" name="Bedingung"/>
          <p:cNvSpPr/>
          <p:nvPr/>
        </p:nvSpPr>
        <p:spPr>
          <a:xfrm>
            <a:off x="457200" y="1188720"/>
            <a:ext cx="1920240" cy="2834640"/>
          </a:xfrm>
          <a:prstGeom prst="roundRect">
            <a:avLst>
              <a:gd name="adj" fmla="val 3810"/>
            </a:avLst>
          </a:prstGeom>
          <a:solidFill>
            <a:srgbClr val="262B52"/>
          </a:solidFill>
          <a:ln w="12700">
            <a:solidFill>
              <a:srgbClr val="262B52"/>
            </a:solidFill>
            <a:prstDash val="solid"/>
          </a:ln>
        </p:spPr>
        <p:txBody>
          <a:bodyPr/>
          <a:lstStyle/>
          <a:p>
            <a:endParaRPr lang="de-CH"/>
          </a:p>
        </p:txBody>
      </p:sp>
      <p:sp>
        <p:nvSpPr>
          <p:cNvPr id="5" name="Nummer"/>
          <p:cNvSpPr/>
          <p:nvPr/>
        </p:nvSpPr>
        <p:spPr>
          <a:xfrm>
            <a:off x="640080" y="1371600"/>
            <a:ext cx="457200" cy="457200"/>
          </a:xfrm>
          <a:prstGeom prst="ellipse">
            <a:avLst/>
          </a:prstGeom>
          <a:solidFill>
            <a:srgbClr val="00C46A"/>
          </a:solidFill>
          <a:ln w="12700">
            <a:solidFill>
              <a:srgbClr val="00C46A"/>
            </a:solidFill>
            <a:prstDash val="solid"/>
          </a:ln>
        </p:spPr>
        <p:txBody>
          <a:bodyPr/>
          <a:lstStyle/>
          <a:p>
            <a:endParaRPr lang="de-CH"/>
          </a:p>
        </p:txBody>
      </p:sp>
      <p:sp>
        <p:nvSpPr>
          <p:cNvPr id="6" name="Text 3"/>
          <p:cNvSpPr txBox="1"/>
          <p:nvPr/>
        </p:nvSpPr>
        <p:spPr>
          <a:xfrm>
            <a:off x="640080" y="1371600"/>
            <a:ext cx="457200" cy="457200"/>
          </a:xfrm>
          <a:prstGeom prst="rect">
            <a:avLst/>
          </a:prstGeom>
          <a:noFill/>
          <a:ln/>
        </p:spPr>
        <p:txBody>
          <a:bodyPr wrap="square" lIns="0" tIns="0" rIns="0" bIns="0" rtlCol="0" anchor="ctr"/>
          <a:lstStyle/>
          <a:p>
            <a:pPr marL="0" indent="0" algn="ctr">
              <a:buNone/>
            </a:pPr>
            <a:r>
              <a:rPr lang="en-US" sz="1800" b="1" dirty="0">
                <a:solidFill>
                  <a:srgbClr val="111427"/>
                </a:solidFill>
              </a:rPr>
              <a:t>1</a:t>
            </a:r>
            <a:endParaRPr lang="en-US" sz="1800" dirty="0"/>
          </a:p>
        </p:txBody>
      </p:sp>
      <p:sp>
        <p:nvSpPr>
          <p:cNvPr id="7" name="Text 4"/>
          <p:cNvSpPr txBox="1"/>
          <p:nvPr/>
        </p:nvSpPr>
        <p:spPr>
          <a:xfrm>
            <a:off x="640080" y="1965960"/>
            <a:ext cx="1600200" cy="731520"/>
          </a:xfrm>
          <a:prstGeom prst="rect">
            <a:avLst/>
          </a:prstGeom>
          <a:noFill/>
          <a:ln/>
        </p:spPr>
        <p:txBody>
          <a:bodyPr wrap="square" lIns="0" tIns="0" rIns="0" bIns="0" rtlCol="0" anchor="t"/>
          <a:lstStyle/>
          <a:p>
            <a:pPr marL="0" indent="0">
              <a:buNone/>
            </a:pPr>
            <a:r>
              <a:rPr lang="en-US" sz="1700" b="1" dirty="0">
                <a:solidFill>
                  <a:schemeClr val="bg1"/>
                </a:solidFill>
              </a:rPr>
              <a:t>Regeln nicht reichen</a:t>
            </a:r>
            <a:endParaRPr lang="en-US" sz="1700" dirty="0"/>
          </a:p>
        </p:txBody>
      </p:sp>
      <p:sp>
        <p:nvSpPr>
          <p:cNvPr id="8" name="Text 5"/>
          <p:cNvSpPr txBox="1"/>
          <p:nvPr/>
        </p:nvSpPr>
        <p:spPr>
          <a:xfrm>
            <a:off x="640080" y="2743200"/>
            <a:ext cx="1600200" cy="685800"/>
          </a:xfrm>
          <a:prstGeom prst="rect">
            <a:avLst/>
          </a:prstGeom>
          <a:noFill/>
          <a:ln/>
        </p:spPr>
        <p:txBody>
          <a:bodyPr wrap="square" lIns="0" tIns="0" rIns="0" bIns="0" rtlCol="0" anchor="t"/>
          <a:lstStyle/>
          <a:p>
            <a:pPr marL="0" indent="0">
              <a:buNone/>
            </a:pPr>
            <a:r>
              <a:rPr lang="en-US" sz="1300" dirty="0">
                <a:solidFill>
                  <a:srgbClr val="C9CDE0"/>
                </a:solidFill>
              </a:rPr>
              <a:t>Text, Bild, hohe Variabilität</a:t>
            </a:r>
            <a:endParaRPr lang="en-US" sz="1300" dirty="0"/>
          </a:p>
        </p:txBody>
      </p:sp>
      <p:sp>
        <p:nvSpPr>
          <p:cNvPr id="9" name="Sonst 1"/>
          <p:cNvSpPr txBox="1"/>
          <p:nvPr/>
        </p:nvSpPr>
        <p:spPr>
          <a:xfrm>
            <a:off x="594360" y="3520440"/>
            <a:ext cx="1645920" cy="329184"/>
          </a:xfrm>
          <a:prstGeom prst="roundRect">
            <a:avLst>
              <a:gd name="adj" fmla="val 27778"/>
            </a:avLst>
          </a:prstGeom>
          <a:solidFill>
            <a:srgbClr val="FFD400"/>
          </a:solidFill>
          <a:ln/>
        </p:spPr>
        <p:txBody>
          <a:bodyPr wrap="square" lIns="0" tIns="0" rIns="0" bIns="0" rtlCol="0" anchor="ctr"/>
          <a:lstStyle/>
          <a:p>
            <a:pPr marL="0" indent="0" algn="ctr">
              <a:buNone/>
            </a:pPr>
            <a:r>
              <a:rPr lang="en-US" sz="1200" b="1" dirty="0">
                <a:solidFill>
                  <a:srgbClr val="111427"/>
                </a:solidFill>
              </a:rPr>
              <a:t>Sonst: Klassische Lösung</a:t>
            </a:r>
            <a:endParaRPr lang="en-US" sz="1200" dirty="0"/>
          </a:p>
        </p:txBody>
      </p:sp>
      <p:sp>
        <p:nvSpPr>
          <p:cNvPr id="10" name="Bedingung"/>
          <p:cNvSpPr/>
          <p:nvPr/>
        </p:nvSpPr>
        <p:spPr>
          <a:xfrm>
            <a:off x="2542032" y="1188720"/>
            <a:ext cx="1920240" cy="2834640"/>
          </a:xfrm>
          <a:prstGeom prst="roundRect">
            <a:avLst>
              <a:gd name="adj" fmla="val 3810"/>
            </a:avLst>
          </a:prstGeom>
          <a:solidFill>
            <a:srgbClr val="262B52"/>
          </a:solidFill>
          <a:ln w="12700">
            <a:solidFill>
              <a:srgbClr val="262B52"/>
            </a:solidFill>
            <a:prstDash val="solid"/>
          </a:ln>
        </p:spPr>
        <p:txBody>
          <a:bodyPr/>
          <a:lstStyle/>
          <a:p>
            <a:endParaRPr lang="de-CH"/>
          </a:p>
        </p:txBody>
      </p:sp>
      <p:sp>
        <p:nvSpPr>
          <p:cNvPr id="11" name="Nummer"/>
          <p:cNvSpPr/>
          <p:nvPr/>
        </p:nvSpPr>
        <p:spPr>
          <a:xfrm>
            <a:off x="2724912" y="1371600"/>
            <a:ext cx="457200" cy="457200"/>
          </a:xfrm>
          <a:prstGeom prst="ellipse">
            <a:avLst/>
          </a:prstGeom>
          <a:solidFill>
            <a:srgbClr val="00C46A"/>
          </a:solidFill>
          <a:ln w="12700">
            <a:solidFill>
              <a:srgbClr val="00C46A"/>
            </a:solidFill>
            <a:prstDash val="solid"/>
          </a:ln>
        </p:spPr>
        <p:txBody>
          <a:bodyPr/>
          <a:lstStyle/>
          <a:p>
            <a:endParaRPr lang="de-CH"/>
          </a:p>
        </p:txBody>
      </p:sp>
      <p:sp>
        <p:nvSpPr>
          <p:cNvPr id="12" name="Text 9"/>
          <p:cNvSpPr txBox="1"/>
          <p:nvPr/>
        </p:nvSpPr>
        <p:spPr>
          <a:xfrm>
            <a:off x="2724912" y="1371600"/>
            <a:ext cx="457200" cy="457200"/>
          </a:xfrm>
          <a:prstGeom prst="rect">
            <a:avLst/>
          </a:prstGeom>
          <a:noFill/>
          <a:ln/>
        </p:spPr>
        <p:txBody>
          <a:bodyPr wrap="square" lIns="0" tIns="0" rIns="0" bIns="0" rtlCol="0" anchor="ctr"/>
          <a:lstStyle/>
          <a:p>
            <a:pPr marL="0" indent="0" algn="ctr">
              <a:buNone/>
            </a:pPr>
            <a:r>
              <a:rPr lang="en-US" sz="1800" b="1" dirty="0">
                <a:solidFill>
                  <a:srgbClr val="111427"/>
                </a:solidFill>
              </a:rPr>
              <a:t>2</a:t>
            </a:r>
            <a:endParaRPr lang="en-US" sz="1800" dirty="0"/>
          </a:p>
        </p:txBody>
      </p:sp>
      <p:sp>
        <p:nvSpPr>
          <p:cNvPr id="13" name="Text 10"/>
          <p:cNvSpPr txBox="1"/>
          <p:nvPr/>
        </p:nvSpPr>
        <p:spPr>
          <a:xfrm>
            <a:off x="2724912" y="1965960"/>
            <a:ext cx="1600200" cy="731520"/>
          </a:xfrm>
          <a:prstGeom prst="rect">
            <a:avLst/>
          </a:prstGeom>
          <a:noFill/>
          <a:ln/>
        </p:spPr>
        <p:txBody>
          <a:bodyPr wrap="square" lIns="0" tIns="0" rIns="0" bIns="0" rtlCol="0" anchor="t"/>
          <a:lstStyle/>
          <a:p>
            <a:pPr marL="0" indent="0">
              <a:buNone/>
            </a:pPr>
            <a:r>
              <a:rPr lang="en-US" sz="1700" b="1" dirty="0">
                <a:solidFill>
                  <a:schemeClr val="bg1"/>
                </a:solidFill>
              </a:rPr>
              <a:t>Daten vorhanden sind</a:t>
            </a:r>
            <a:endParaRPr lang="en-US" sz="1700" dirty="0"/>
          </a:p>
        </p:txBody>
      </p:sp>
      <p:sp>
        <p:nvSpPr>
          <p:cNvPr id="14" name="Text 11"/>
          <p:cNvSpPr txBox="1"/>
          <p:nvPr/>
        </p:nvSpPr>
        <p:spPr>
          <a:xfrm>
            <a:off x="2724912" y="2743200"/>
            <a:ext cx="1600200" cy="685800"/>
          </a:xfrm>
          <a:prstGeom prst="rect">
            <a:avLst/>
          </a:prstGeom>
          <a:noFill/>
          <a:ln/>
        </p:spPr>
        <p:txBody>
          <a:bodyPr wrap="square" lIns="0" tIns="0" rIns="0" bIns="0" rtlCol="0" anchor="t"/>
          <a:lstStyle/>
          <a:p>
            <a:pPr marL="0" indent="0">
              <a:buNone/>
            </a:pPr>
            <a:r>
              <a:rPr lang="en-US" sz="1300" dirty="0">
                <a:solidFill>
                  <a:srgbClr val="C9CDE0"/>
                </a:solidFill>
              </a:rPr>
              <a:t>Genug Material in brauchbarer Qualität</a:t>
            </a:r>
            <a:endParaRPr lang="en-US" sz="1300" dirty="0"/>
          </a:p>
        </p:txBody>
      </p:sp>
      <p:sp>
        <p:nvSpPr>
          <p:cNvPr id="15" name="Sonst 2"/>
          <p:cNvSpPr txBox="1"/>
          <p:nvPr/>
        </p:nvSpPr>
        <p:spPr>
          <a:xfrm>
            <a:off x="2679192" y="3520440"/>
            <a:ext cx="1645920" cy="329184"/>
          </a:xfrm>
          <a:prstGeom prst="roundRect">
            <a:avLst>
              <a:gd name="adj" fmla="val 27778"/>
            </a:avLst>
          </a:prstGeom>
          <a:solidFill>
            <a:srgbClr val="9AA0B4"/>
          </a:solidFill>
          <a:ln/>
        </p:spPr>
        <p:txBody>
          <a:bodyPr wrap="square" lIns="0" tIns="0" rIns="0" bIns="0" rtlCol="0" anchor="ctr"/>
          <a:lstStyle/>
          <a:p>
            <a:pPr marL="0" indent="0" algn="ctr">
              <a:buNone/>
            </a:pPr>
            <a:r>
              <a:rPr lang="en-US" sz="1200" b="1" dirty="0">
                <a:solidFill>
                  <a:srgbClr val="111427"/>
                </a:solidFill>
              </a:rPr>
              <a:t>Sonst: Daten erheben</a:t>
            </a:r>
            <a:endParaRPr lang="en-US" sz="1200" dirty="0"/>
          </a:p>
        </p:txBody>
      </p:sp>
      <p:sp>
        <p:nvSpPr>
          <p:cNvPr id="16" name="Bedingung"/>
          <p:cNvSpPr/>
          <p:nvPr/>
        </p:nvSpPr>
        <p:spPr>
          <a:xfrm>
            <a:off x="4626864" y="1188720"/>
            <a:ext cx="1920240" cy="2834640"/>
          </a:xfrm>
          <a:prstGeom prst="roundRect">
            <a:avLst>
              <a:gd name="adj" fmla="val 3810"/>
            </a:avLst>
          </a:prstGeom>
          <a:solidFill>
            <a:srgbClr val="262B52"/>
          </a:solidFill>
          <a:ln w="12700">
            <a:solidFill>
              <a:srgbClr val="262B52"/>
            </a:solidFill>
            <a:prstDash val="solid"/>
          </a:ln>
        </p:spPr>
        <p:txBody>
          <a:bodyPr/>
          <a:lstStyle/>
          <a:p>
            <a:endParaRPr lang="de-CH"/>
          </a:p>
        </p:txBody>
      </p:sp>
      <p:sp>
        <p:nvSpPr>
          <p:cNvPr id="17" name="Nummer"/>
          <p:cNvSpPr/>
          <p:nvPr/>
        </p:nvSpPr>
        <p:spPr>
          <a:xfrm>
            <a:off x="4809744" y="1371600"/>
            <a:ext cx="457200" cy="457200"/>
          </a:xfrm>
          <a:prstGeom prst="ellipse">
            <a:avLst/>
          </a:prstGeom>
          <a:solidFill>
            <a:srgbClr val="00C46A"/>
          </a:solidFill>
          <a:ln w="12700">
            <a:solidFill>
              <a:srgbClr val="00C46A"/>
            </a:solidFill>
            <a:prstDash val="solid"/>
          </a:ln>
        </p:spPr>
        <p:txBody>
          <a:bodyPr/>
          <a:lstStyle/>
          <a:p>
            <a:endParaRPr lang="de-CH"/>
          </a:p>
        </p:txBody>
      </p:sp>
      <p:sp>
        <p:nvSpPr>
          <p:cNvPr id="18" name="Text 15"/>
          <p:cNvSpPr txBox="1"/>
          <p:nvPr/>
        </p:nvSpPr>
        <p:spPr>
          <a:xfrm>
            <a:off x="4809744" y="1371600"/>
            <a:ext cx="457200" cy="457200"/>
          </a:xfrm>
          <a:prstGeom prst="rect">
            <a:avLst/>
          </a:prstGeom>
          <a:noFill/>
          <a:ln/>
        </p:spPr>
        <p:txBody>
          <a:bodyPr wrap="square" lIns="0" tIns="0" rIns="0" bIns="0" rtlCol="0" anchor="ctr"/>
          <a:lstStyle/>
          <a:p>
            <a:pPr marL="0" indent="0" algn="ctr">
              <a:buNone/>
            </a:pPr>
            <a:r>
              <a:rPr lang="en-US" sz="1800" b="1" dirty="0">
                <a:solidFill>
                  <a:srgbClr val="111427"/>
                </a:solidFill>
              </a:rPr>
              <a:t>3</a:t>
            </a:r>
            <a:endParaRPr lang="en-US" sz="1800" dirty="0"/>
          </a:p>
        </p:txBody>
      </p:sp>
      <p:sp>
        <p:nvSpPr>
          <p:cNvPr id="19" name="Text 16"/>
          <p:cNvSpPr txBox="1"/>
          <p:nvPr/>
        </p:nvSpPr>
        <p:spPr>
          <a:xfrm>
            <a:off x="4809744" y="1965960"/>
            <a:ext cx="1600200" cy="731520"/>
          </a:xfrm>
          <a:prstGeom prst="rect">
            <a:avLst/>
          </a:prstGeom>
          <a:noFill/>
          <a:ln/>
        </p:spPr>
        <p:txBody>
          <a:bodyPr wrap="square" lIns="0" tIns="0" rIns="0" bIns="0" rtlCol="0" anchor="t"/>
          <a:lstStyle/>
          <a:p>
            <a:pPr marL="0" indent="0">
              <a:buNone/>
            </a:pPr>
            <a:r>
              <a:rPr lang="en-US" sz="1700" b="1" dirty="0">
                <a:solidFill>
                  <a:schemeClr val="bg1"/>
                </a:solidFill>
              </a:rPr>
              <a:t>das Volumen gross ist</a:t>
            </a:r>
            <a:endParaRPr lang="en-US" sz="1700" dirty="0"/>
          </a:p>
        </p:txBody>
      </p:sp>
      <p:sp>
        <p:nvSpPr>
          <p:cNvPr id="20" name="Text 17"/>
          <p:cNvSpPr txBox="1"/>
          <p:nvPr/>
        </p:nvSpPr>
        <p:spPr>
          <a:xfrm>
            <a:off x="4809744" y="2743200"/>
            <a:ext cx="1600200" cy="685800"/>
          </a:xfrm>
          <a:prstGeom prst="rect">
            <a:avLst/>
          </a:prstGeom>
          <a:noFill/>
          <a:ln/>
        </p:spPr>
        <p:txBody>
          <a:bodyPr wrap="square" lIns="0" tIns="0" rIns="0" bIns="0" rtlCol="0" anchor="t"/>
          <a:lstStyle/>
          <a:p>
            <a:pPr marL="0" indent="0">
              <a:buNone/>
            </a:pPr>
            <a:r>
              <a:rPr lang="en-US" sz="1300" dirty="0">
                <a:solidFill>
                  <a:srgbClr val="C9CDE0"/>
                </a:solidFill>
              </a:rPr>
              <a:t>Einige hundert bis tausend Fälle pro Monat</a:t>
            </a:r>
            <a:endParaRPr lang="en-US" sz="1300" dirty="0"/>
          </a:p>
        </p:txBody>
      </p:sp>
      <p:sp>
        <p:nvSpPr>
          <p:cNvPr id="21" name="Sonst 3"/>
          <p:cNvSpPr txBox="1"/>
          <p:nvPr/>
        </p:nvSpPr>
        <p:spPr>
          <a:xfrm>
            <a:off x="4764024" y="3520440"/>
            <a:ext cx="1645920" cy="329184"/>
          </a:xfrm>
          <a:prstGeom prst="roundRect">
            <a:avLst>
              <a:gd name="adj" fmla="val 27778"/>
            </a:avLst>
          </a:prstGeom>
          <a:solidFill>
            <a:srgbClr val="FF5A4F"/>
          </a:solidFill>
          <a:ln/>
        </p:spPr>
        <p:txBody>
          <a:bodyPr wrap="square" lIns="0" tIns="0" rIns="0" bIns="0" rtlCol="0" anchor="ctr"/>
          <a:lstStyle/>
          <a:p>
            <a:pPr marL="0" indent="0" algn="ctr">
              <a:buNone/>
            </a:pPr>
            <a:r>
              <a:rPr lang="en-US" sz="1200" b="1" dirty="0">
                <a:solidFill>
                  <a:srgbClr val="111427"/>
                </a:solidFill>
              </a:rPr>
              <a:t>Sonst: Manuell</a:t>
            </a:r>
            <a:endParaRPr lang="en-US" sz="1200" dirty="0"/>
          </a:p>
        </p:txBody>
      </p:sp>
      <p:sp>
        <p:nvSpPr>
          <p:cNvPr id="22" name="Bedingung"/>
          <p:cNvSpPr/>
          <p:nvPr/>
        </p:nvSpPr>
        <p:spPr>
          <a:xfrm>
            <a:off x="6711696" y="1188720"/>
            <a:ext cx="1920240" cy="2834640"/>
          </a:xfrm>
          <a:prstGeom prst="roundRect">
            <a:avLst>
              <a:gd name="adj" fmla="val 3810"/>
            </a:avLst>
          </a:prstGeom>
          <a:solidFill>
            <a:srgbClr val="262B52"/>
          </a:solidFill>
          <a:ln w="12700">
            <a:solidFill>
              <a:srgbClr val="262B52"/>
            </a:solidFill>
            <a:prstDash val="solid"/>
          </a:ln>
        </p:spPr>
        <p:txBody>
          <a:bodyPr/>
          <a:lstStyle/>
          <a:p>
            <a:endParaRPr lang="de-CH"/>
          </a:p>
        </p:txBody>
      </p:sp>
      <p:sp>
        <p:nvSpPr>
          <p:cNvPr id="23" name="Nummer"/>
          <p:cNvSpPr/>
          <p:nvPr/>
        </p:nvSpPr>
        <p:spPr>
          <a:xfrm>
            <a:off x="6894576" y="1371600"/>
            <a:ext cx="457200" cy="457200"/>
          </a:xfrm>
          <a:prstGeom prst="ellipse">
            <a:avLst/>
          </a:prstGeom>
          <a:solidFill>
            <a:srgbClr val="00C46A"/>
          </a:solidFill>
          <a:ln w="12700">
            <a:solidFill>
              <a:srgbClr val="00C46A"/>
            </a:solidFill>
            <a:prstDash val="solid"/>
          </a:ln>
        </p:spPr>
        <p:txBody>
          <a:bodyPr/>
          <a:lstStyle/>
          <a:p>
            <a:endParaRPr lang="de-CH"/>
          </a:p>
        </p:txBody>
      </p:sp>
      <p:sp>
        <p:nvSpPr>
          <p:cNvPr id="24" name="Text 21"/>
          <p:cNvSpPr txBox="1"/>
          <p:nvPr/>
        </p:nvSpPr>
        <p:spPr>
          <a:xfrm>
            <a:off x="6894576" y="1371600"/>
            <a:ext cx="457200" cy="457200"/>
          </a:xfrm>
          <a:prstGeom prst="rect">
            <a:avLst/>
          </a:prstGeom>
          <a:noFill/>
          <a:ln/>
        </p:spPr>
        <p:txBody>
          <a:bodyPr wrap="square" lIns="0" tIns="0" rIns="0" bIns="0" rtlCol="0" anchor="ctr"/>
          <a:lstStyle/>
          <a:p>
            <a:pPr marL="0" indent="0" algn="ctr">
              <a:buNone/>
            </a:pPr>
            <a:r>
              <a:rPr lang="en-US" sz="1800" b="1" dirty="0">
                <a:solidFill>
                  <a:srgbClr val="111427"/>
                </a:solidFill>
              </a:rPr>
              <a:t>4</a:t>
            </a:r>
            <a:endParaRPr lang="en-US" sz="1800" dirty="0"/>
          </a:p>
        </p:txBody>
      </p:sp>
      <p:sp>
        <p:nvSpPr>
          <p:cNvPr id="25" name="Text 22"/>
          <p:cNvSpPr txBox="1"/>
          <p:nvPr/>
        </p:nvSpPr>
        <p:spPr>
          <a:xfrm>
            <a:off x="6894576" y="1965960"/>
            <a:ext cx="1600200" cy="731520"/>
          </a:xfrm>
          <a:prstGeom prst="rect">
            <a:avLst/>
          </a:prstGeom>
          <a:noFill/>
          <a:ln/>
        </p:spPr>
        <p:txBody>
          <a:bodyPr wrap="square" lIns="0" tIns="0" rIns="0" bIns="0" rtlCol="0" anchor="t"/>
          <a:lstStyle/>
          <a:p>
            <a:pPr marL="0" indent="0">
              <a:buNone/>
            </a:pPr>
            <a:r>
              <a:rPr lang="en-US" sz="1700" b="1" dirty="0">
                <a:solidFill>
                  <a:schemeClr val="bg1"/>
                </a:solidFill>
              </a:rPr>
              <a:t>Fehler tragbar sind</a:t>
            </a:r>
            <a:endParaRPr lang="en-US" sz="1700" dirty="0"/>
          </a:p>
        </p:txBody>
      </p:sp>
      <p:sp>
        <p:nvSpPr>
          <p:cNvPr id="26" name="Text 23"/>
          <p:cNvSpPr txBox="1"/>
          <p:nvPr/>
        </p:nvSpPr>
        <p:spPr>
          <a:xfrm>
            <a:off x="6894576" y="2743200"/>
            <a:ext cx="1600200" cy="685800"/>
          </a:xfrm>
          <a:prstGeom prst="rect">
            <a:avLst/>
          </a:prstGeom>
          <a:noFill/>
          <a:ln/>
        </p:spPr>
        <p:txBody>
          <a:bodyPr wrap="square" lIns="0" tIns="0" rIns="0" bIns="0" rtlCol="0" anchor="t"/>
          <a:lstStyle/>
          <a:p>
            <a:pPr marL="0" indent="0">
              <a:buNone/>
            </a:pPr>
            <a:r>
              <a:rPr lang="en-US" sz="1300" dirty="0">
                <a:solidFill>
                  <a:srgbClr val="C9CDE0"/>
                </a:solidFill>
              </a:rPr>
              <a:t>Oder ein Mensch fängt sie ab</a:t>
            </a:r>
            <a:endParaRPr lang="en-US" sz="1300" dirty="0"/>
          </a:p>
        </p:txBody>
      </p:sp>
      <p:sp>
        <p:nvSpPr>
          <p:cNvPr id="27" name="Sonst 4"/>
          <p:cNvSpPr txBox="1"/>
          <p:nvPr/>
        </p:nvSpPr>
        <p:spPr>
          <a:xfrm>
            <a:off x="6848856" y="3520440"/>
            <a:ext cx="1645920" cy="329184"/>
          </a:xfrm>
          <a:prstGeom prst="roundRect">
            <a:avLst>
              <a:gd name="adj" fmla="val 27778"/>
            </a:avLst>
          </a:prstGeom>
          <a:solidFill>
            <a:srgbClr val="3D8BFF"/>
          </a:solidFill>
          <a:ln/>
        </p:spPr>
        <p:txBody>
          <a:bodyPr wrap="square" lIns="0" tIns="0" rIns="0" bIns="0" rtlCol="0" anchor="ctr"/>
          <a:lstStyle/>
          <a:p>
            <a:pPr marL="0" indent="0" algn="ctr">
              <a:buNone/>
            </a:pPr>
            <a:r>
              <a:rPr lang="en-US" sz="1200" b="1" dirty="0">
                <a:solidFill>
                  <a:srgbClr val="111427"/>
                </a:solidFill>
              </a:rPr>
              <a:t>Sonst: Nur Assistenz</a:t>
            </a:r>
            <a:endParaRPr lang="en-US" sz="1200" dirty="0"/>
          </a:p>
        </p:txBody>
      </p:sp>
      <p:sp>
        <p:nvSpPr>
          <p:cNvPr id="28" name="Text 25"/>
          <p:cNvSpPr txBox="1"/>
          <p:nvPr/>
        </p:nvSpPr>
        <p:spPr>
          <a:xfrm>
            <a:off x="457200" y="4206240"/>
            <a:ext cx="8229600" cy="365760"/>
          </a:xfrm>
          <a:prstGeom prst="rect">
            <a:avLst/>
          </a:prstGeom>
          <a:noFill/>
          <a:ln/>
        </p:spPr>
        <p:txBody>
          <a:bodyPr wrap="square" lIns="0" tIns="0" rIns="0" bIns="0" rtlCol="0" anchor="ctr"/>
          <a:lstStyle/>
          <a:p>
            <a:pPr marL="0" indent="0" algn="ctr">
              <a:buNone/>
            </a:pPr>
            <a:r>
              <a:rPr lang="en-US" sz="1600" i="1" dirty="0">
                <a:solidFill>
                  <a:schemeClr val="bg1"/>
                </a:solidFill>
              </a:rPr>
              <a:t>KI formuliert, Regeln entscheiden, Menschen tragen die Verantwortung.</a:t>
            </a:r>
            <a:endParaRPr lang="en-US" sz="1600" dirty="0"/>
          </a:p>
        </p:txBody>
      </p:sp>
      <p:sp>
        <p:nvSpPr>
          <p:cNvPr id="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8BCD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Reflexion: Wo hat KI geholfen?</a:t>
            </a:r>
            <a:endParaRPr lang="en-US" sz="3000" dirty="0"/>
          </a:p>
        </p:txBody>
      </p:sp>
      <p:sp>
        <p:nvSpPr>
          <p:cNvPr id="4" name="Reflexion-Karte"/>
          <p:cNvSpPr/>
          <p:nvPr/>
        </p:nvSpPr>
        <p:spPr>
          <a:xfrm>
            <a:off x="457200"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5" name="Icon-Kreis"/>
          <p:cNvSpPr/>
          <p:nvPr/>
        </p:nvSpPr>
        <p:spPr>
          <a:xfrm>
            <a:off x="640080" y="1298448"/>
            <a:ext cx="457200" cy="457200"/>
          </a:xfrm>
          <a:prstGeom prst="ellipse">
            <a:avLst/>
          </a:prstGeom>
          <a:solidFill>
            <a:srgbClr val="00C46A"/>
          </a:solidFill>
          <a:ln w="12700">
            <a:solidFill>
              <a:srgbClr val="00C46A"/>
            </a:solidFill>
            <a:prstDash val="solid"/>
          </a:ln>
        </p:spPr>
        <p:txBody>
          <a:bodyPr/>
          <a:lstStyle/>
          <a:p>
            <a:endParaRPr lang="de-CH"/>
          </a:p>
        </p:txBody>
      </p:sp>
      <p:pic>
        <p:nvPicPr>
          <p:cNvPr id="6" name="Image 0" descr="Icon"/>
          <p:cNvPicPr>
            <a:picLocks noChangeAspect="1"/>
          </p:cNvPicPr>
          <p:nvPr/>
        </p:nvPicPr>
        <p:blipFill>
          <a:blip r:embed="rId3"/>
          <a:stretch>
            <a:fillRect/>
          </a:stretch>
        </p:blipFill>
        <p:spPr>
          <a:xfrm>
            <a:off x="754380" y="1412748"/>
            <a:ext cx="228600" cy="228600"/>
          </a:xfrm>
          <a:prstGeom prst="rect">
            <a:avLst/>
          </a:prstGeom>
        </p:spPr>
      </p:pic>
      <p:sp>
        <p:nvSpPr>
          <p:cNvPr id="7" name="Text 3"/>
          <p:cNvSpPr txBox="1"/>
          <p:nvPr/>
        </p:nvSpPr>
        <p:spPr>
          <a:xfrm>
            <a:off x="1234440" y="1298448"/>
            <a:ext cx="1737360" cy="457200"/>
          </a:xfrm>
          <a:prstGeom prst="rect">
            <a:avLst/>
          </a:prstGeom>
          <a:noFill/>
          <a:ln/>
        </p:spPr>
        <p:txBody>
          <a:bodyPr wrap="square" lIns="0" tIns="0" rIns="0" bIns="0" rtlCol="0" anchor="ctr"/>
          <a:lstStyle/>
          <a:p>
            <a:pPr marL="0" indent="0">
              <a:buNone/>
            </a:pPr>
            <a:r>
              <a:rPr lang="en-US" sz="1500" b="1" dirty="0">
                <a:solidFill>
                  <a:schemeClr val="tx2"/>
                </a:solidFill>
              </a:rPr>
              <a:t>Wo KI geholfen hat</a:t>
            </a:r>
            <a:endParaRPr lang="en-US" sz="1500" dirty="0"/>
          </a:p>
        </p:txBody>
      </p:sp>
      <p:sp>
        <p:nvSpPr>
          <p:cNvPr id="8" name="Text 4"/>
          <p:cNvSpPr txBox="1"/>
          <p:nvPr/>
        </p:nvSpPr>
        <p:spPr>
          <a:xfrm>
            <a:off x="640080" y="1965960"/>
            <a:ext cx="228600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11427"/>
                </a:solidFill>
              </a:rPr>
              <a:t>Claude Code: Lücken gegen die Kriterien finden</a:t>
            </a:r>
            <a:endParaRPr lang="en-US" sz="1500" dirty="0"/>
          </a:p>
          <a:p>
            <a:pPr marL="342900" indent="-342900">
              <a:spcAft>
                <a:spcPts val="600"/>
              </a:spcAft>
              <a:buSzPct val="100000"/>
              <a:buChar char="•"/>
            </a:pPr>
            <a:r>
              <a:rPr lang="en-US" sz="1500" dirty="0">
                <a:solidFill>
                  <a:srgbClr val="111427"/>
                </a:solidFill>
              </a:rPr>
              <a:t>Schema, Routen und Tests schreiben</a:t>
            </a:r>
            <a:endParaRPr lang="en-US" sz="1500" dirty="0"/>
          </a:p>
          <a:p>
            <a:pPr marL="342900" indent="-342900">
              <a:spcAft>
                <a:spcPts val="600"/>
              </a:spcAft>
              <a:buSzPct val="100000"/>
              <a:buChar char="•"/>
            </a:pPr>
            <a:r>
              <a:rPr lang="en-US" sz="1500" dirty="0">
                <a:solidFill>
                  <a:srgbClr val="111427"/>
                </a:solidFill>
              </a:rPr>
              <a:t>Aggregation-Syntax und Doku</a:t>
            </a:r>
            <a:endParaRPr lang="en-US" sz="1500" dirty="0"/>
          </a:p>
        </p:txBody>
      </p:sp>
      <p:sp>
        <p:nvSpPr>
          <p:cNvPr id="9" name="Reflexion-Karte"/>
          <p:cNvSpPr/>
          <p:nvPr/>
        </p:nvSpPr>
        <p:spPr>
          <a:xfrm>
            <a:off x="3264408"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0" name="Icon-Kreis"/>
          <p:cNvSpPr/>
          <p:nvPr/>
        </p:nvSpPr>
        <p:spPr>
          <a:xfrm>
            <a:off x="3447288" y="1298448"/>
            <a:ext cx="457200" cy="457200"/>
          </a:xfrm>
          <a:prstGeom prst="ellipse">
            <a:avLst/>
          </a:prstGeom>
          <a:solidFill>
            <a:srgbClr val="FFD400"/>
          </a:solidFill>
          <a:ln w="12700">
            <a:solidFill>
              <a:srgbClr val="FFD400"/>
            </a:solidFill>
            <a:prstDash val="solid"/>
          </a:ln>
        </p:spPr>
        <p:txBody>
          <a:bodyPr/>
          <a:lstStyle/>
          <a:p>
            <a:endParaRPr lang="de-CH"/>
          </a:p>
        </p:txBody>
      </p:sp>
      <p:pic>
        <p:nvPicPr>
          <p:cNvPr id="11" name="Image 1" descr="Icon"/>
          <p:cNvPicPr>
            <a:picLocks noChangeAspect="1"/>
          </p:cNvPicPr>
          <p:nvPr/>
        </p:nvPicPr>
        <p:blipFill>
          <a:blip r:embed="rId4"/>
          <a:stretch>
            <a:fillRect/>
          </a:stretch>
        </p:blipFill>
        <p:spPr>
          <a:xfrm>
            <a:off x="3561588" y="1412748"/>
            <a:ext cx="228600" cy="228600"/>
          </a:xfrm>
          <a:prstGeom prst="rect">
            <a:avLst/>
          </a:prstGeom>
        </p:spPr>
      </p:pic>
      <p:sp>
        <p:nvSpPr>
          <p:cNvPr id="12" name="Text 7"/>
          <p:cNvSpPr txBox="1"/>
          <p:nvPr/>
        </p:nvSpPr>
        <p:spPr>
          <a:xfrm>
            <a:off x="4041648" y="1298448"/>
            <a:ext cx="1737360" cy="457200"/>
          </a:xfrm>
          <a:prstGeom prst="rect">
            <a:avLst/>
          </a:prstGeom>
          <a:noFill/>
          <a:ln/>
        </p:spPr>
        <p:txBody>
          <a:bodyPr wrap="square" lIns="0" tIns="0" rIns="0" bIns="0" rtlCol="0" anchor="ctr"/>
          <a:lstStyle/>
          <a:p>
            <a:pPr marL="0" indent="0">
              <a:buNone/>
            </a:pPr>
            <a:r>
              <a:rPr lang="en-US" sz="1500" b="1" dirty="0">
                <a:solidFill>
                  <a:schemeClr val="tx2"/>
                </a:solidFill>
              </a:rPr>
              <a:t>Wo Korrektur nötig war</a:t>
            </a:r>
            <a:endParaRPr lang="en-US" sz="1500" dirty="0"/>
          </a:p>
        </p:txBody>
      </p:sp>
      <p:sp>
        <p:nvSpPr>
          <p:cNvPr id="13" name="Text 8"/>
          <p:cNvSpPr txBox="1"/>
          <p:nvPr/>
        </p:nvSpPr>
        <p:spPr>
          <a:xfrm>
            <a:off x="3447288" y="1965960"/>
            <a:ext cx="228600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11427"/>
                </a:solidFill>
              </a:rPr>
              <a:t>Erste Formel unplausibel: Passwort-Reset mit Nutzwert 66</a:t>
            </a:r>
            <a:endParaRPr lang="en-US" sz="1500" dirty="0"/>
          </a:p>
          <a:p>
            <a:pPr marL="342900" indent="-342900">
              <a:spcAft>
                <a:spcPts val="600"/>
              </a:spcAft>
              <a:buSzPct val="100000"/>
              <a:buChar char="•"/>
            </a:pPr>
            <a:r>
              <a:rPr lang="en-US" sz="1500" dirty="0">
                <a:solidFill>
                  <a:srgbClr val="111427"/>
                </a:solidFill>
              </a:rPr>
              <a:t>Hochrisiko doppelt bestraft</a:t>
            </a:r>
            <a:endParaRPr lang="en-US" sz="1500" dirty="0"/>
          </a:p>
          <a:p>
            <a:pPr marL="342900" indent="-342900">
              <a:spcAft>
                <a:spcPts val="600"/>
              </a:spcAft>
              <a:buSzPct val="100000"/>
              <a:buChar char="•"/>
            </a:pPr>
            <a:r>
              <a:rPr lang="en-US" sz="1500" dirty="0">
                <a:solidFill>
                  <a:srgbClr val="111427"/>
                </a:solidFill>
              </a:rPr>
              <a:t>Aufgefallen durch Prüfen und Tests</a:t>
            </a:r>
            <a:endParaRPr lang="en-US" sz="1500" dirty="0"/>
          </a:p>
        </p:txBody>
      </p:sp>
      <p:sp>
        <p:nvSpPr>
          <p:cNvPr id="14" name="Reflexion-Karte"/>
          <p:cNvSpPr/>
          <p:nvPr/>
        </p:nvSpPr>
        <p:spPr>
          <a:xfrm>
            <a:off x="6071616" y="1143000"/>
            <a:ext cx="2615184" cy="2880360"/>
          </a:xfrm>
          <a:prstGeom prst="roundRect">
            <a:avLst>
              <a:gd name="adj" fmla="val 279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5" name="Icon-Kreis"/>
          <p:cNvSpPr/>
          <p:nvPr/>
        </p:nvSpPr>
        <p:spPr>
          <a:xfrm>
            <a:off x="6254496" y="1298448"/>
            <a:ext cx="457200" cy="457200"/>
          </a:xfrm>
          <a:prstGeom prst="ellipse">
            <a:avLst/>
          </a:prstGeom>
          <a:solidFill>
            <a:srgbClr val="3D8BFF"/>
          </a:solidFill>
          <a:ln w="12700">
            <a:solidFill>
              <a:srgbClr val="3D8BFF"/>
            </a:solidFill>
            <a:prstDash val="solid"/>
          </a:ln>
        </p:spPr>
        <p:txBody>
          <a:bodyPr/>
          <a:lstStyle/>
          <a:p>
            <a:endParaRPr lang="de-CH"/>
          </a:p>
        </p:txBody>
      </p:sp>
      <p:pic>
        <p:nvPicPr>
          <p:cNvPr id="16" name="Image 2" descr="Icon"/>
          <p:cNvPicPr>
            <a:picLocks noChangeAspect="1"/>
          </p:cNvPicPr>
          <p:nvPr/>
        </p:nvPicPr>
        <p:blipFill>
          <a:blip r:embed="rId5"/>
          <a:stretch>
            <a:fillRect/>
          </a:stretch>
        </p:blipFill>
        <p:spPr>
          <a:xfrm>
            <a:off x="6368796" y="1412748"/>
            <a:ext cx="228600" cy="228600"/>
          </a:xfrm>
          <a:prstGeom prst="rect">
            <a:avLst/>
          </a:prstGeom>
        </p:spPr>
      </p:pic>
      <p:sp>
        <p:nvSpPr>
          <p:cNvPr id="17" name="Text 11"/>
          <p:cNvSpPr txBox="1"/>
          <p:nvPr/>
        </p:nvSpPr>
        <p:spPr>
          <a:xfrm>
            <a:off x="6848856" y="1298448"/>
            <a:ext cx="1737360" cy="457200"/>
          </a:xfrm>
          <a:prstGeom prst="rect">
            <a:avLst/>
          </a:prstGeom>
          <a:noFill/>
          <a:ln/>
        </p:spPr>
        <p:txBody>
          <a:bodyPr wrap="square" lIns="0" tIns="0" rIns="0" bIns="0" rtlCol="0" anchor="ctr"/>
          <a:lstStyle/>
          <a:p>
            <a:pPr marL="0" indent="0">
              <a:buNone/>
            </a:pPr>
            <a:r>
              <a:rPr lang="en-US" sz="1500" b="1" dirty="0">
                <a:solidFill>
                  <a:schemeClr val="tx2"/>
                </a:solidFill>
              </a:rPr>
              <a:t>Grenzen unseres Modells</a:t>
            </a:r>
            <a:endParaRPr lang="en-US" sz="1500" dirty="0"/>
          </a:p>
        </p:txBody>
      </p:sp>
      <p:sp>
        <p:nvSpPr>
          <p:cNvPr id="18" name="Text 12"/>
          <p:cNvSpPr txBox="1"/>
          <p:nvPr/>
        </p:nvSpPr>
        <p:spPr>
          <a:xfrm>
            <a:off x="6254496" y="1965960"/>
            <a:ext cx="228600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11427"/>
                </a:solidFill>
              </a:rPr>
              <a:t>Daten sind geschätzt</a:t>
            </a:r>
            <a:endParaRPr lang="en-US" sz="1500" dirty="0"/>
          </a:p>
          <a:p>
            <a:pPr marL="342900" indent="-342900">
              <a:spcAft>
                <a:spcPts val="600"/>
              </a:spcAft>
              <a:buSzPct val="100000"/>
              <a:buChar char="•"/>
            </a:pPr>
            <a:r>
              <a:rPr lang="en-US" sz="1500" dirty="0">
                <a:solidFill>
                  <a:srgbClr val="111427"/>
                </a:solidFill>
              </a:rPr>
              <a:t>Daten und Modell aus gleicher Quelle</a:t>
            </a:r>
            <a:endParaRPr lang="en-US" sz="1500" dirty="0"/>
          </a:p>
          <a:p>
            <a:pPr marL="342900" indent="-342900">
              <a:spcAft>
                <a:spcPts val="600"/>
              </a:spcAft>
              <a:buSzPct val="100000"/>
              <a:buChar char="•"/>
            </a:pPr>
            <a:r>
              <a:rPr lang="en-US" sz="1500" dirty="0">
                <a:solidFill>
                  <a:srgbClr val="111427"/>
                </a:solidFill>
              </a:rPr>
              <a:t>Schwellen wirken stärker als Gewichte</a:t>
            </a:r>
            <a:endParaRPr lang="en-US" sz="1500" dirty="0"/>
          </a:p>
        </p:txBody>
      </p:sp>
      <p:sp>
        <p:nvSpPr>
          <p:cNvPr id="19" name="Kernbotschaft"/>
          <p:cNvSpPr/>
          <p:nvPr/>
        </p:nvSpPr>
        <p:spPr>
          <a:xfrm>
            <a:off x="457200" y="4160520"/>
            <a:ext cx="8229600" cy="457200"/>
          </a:xfrm>
          <a:prstGeom prst="roundRect">
            <a:avLst>
              <a:gd name="adj" fmla="val 16000"/>
            </a:avLst>
          </a:prstGeom>
          <a:solidFill>
            <a:srgbClr val="1B1F3B"/>
          </a:solidFill>
          <a:ln w="12700">
            <a:solidFill>
              <a:srgbClr val="1B1F3B"/>
            </a:solidFill>
            <a:prstDash val="solid"/>
          </a:ln>
          <a:effectLst>
            <a:outerShdw blurRad="76200" dist="25400" dir="5400000" algn="bl" rotWithShape="0">
              <a:srgbClr val="000000">
                <a:alpha val="12000"/>
              </a:srgbClr>
            </a:outerShdw>
          </a:effectLst>
        </p:spPr>
        <p:txBody>
          <a:bodyPr/>
          <a:lstStyle/>
          <a:p>
            <a:endParaRPr lang="de-CH"/>
          </a:p>
        </p:txBody>
      </p:sp>
      <p:sp>
        <p:nvSpPr>
          <p:cNvPr id="20" name="Text 14"/>
          <p:cNvSpPr txBox="1"/>
          <p:nvPr/>
        </p:nvSpPr>
        <p:spPr>
          <a:xfrm>
            <a:off x="640080" y="4160520"/>
            <a:ext cx="7863840" cy="457200"/>
          </a:xfrm>
          <a:prstGeom prst="rect">
            <a:avLst/>
          </a:prstGeom>
          <a:noFill/>
          <a:ln/>
        </p:spPr>
        <p:txBody>
          <a:bodyPr wrap="square" lIns="0" tIns="0" rIns="0" bIns="0" rtlCol="0" anchor="ctr"/>
          <a:lstStyle/>
          <a:p>
            <a:pPr marL="0" indent="0" algn="ctr">
              <a:buNone/>
            </a:pPr>
            <a:r>
              <a:rPr lang="en-US" sz="1500" dirty="0">
                <a:solidFill>
                  <a:schemeClr val="bg1"/>
                </a:solidFill>
              </a:rPr>
              <a:t>Wir setzen KI nicht als Entscheider ein, sondern für den Begründungstext.</a:t>
            </a:r>
            <a:endParaRPr lang="en-US" sz="15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Live-Demo des Prototyps</a:t>
            </a:r>
            <a:endParaRPr lang="en-US" sz="3000" dirty="0"/>
          </a:p>
        </p:txBody>
      </p:sp>
      <p:pic>
        <p:nvPicPr>
          <p:cNvPr id="4" name="Image 0" descr="Detailansicht des Use Cases Diagnose-Unterstützung in der Radiologie mit Bewertung und Teilscores"/>
          <p:cNvPicPr>
            <a:picLocks noChangeAspect="1"/>
          </p:cNvPicPr>
          <p:nvPr/>
        </p:nvPicPr>
        <p:blipFill>
          <a:blip r:embed="rId3"/>
          <a:stretch>
            <a:fillRect/>
          </a:stretch>
        </p:blipFill>
        <p:spPr>
          <a:xfrm>
            <a:off x="457200" y="1143000"/>
            <a:ext cx="4526280" cy="3438144"/>
          </a:xfrm>
          <a:prstGeom prst="rect">
            <a:avLst/>
          </a:prstGeom>
          <a:effectLst>
            <a:outerShdw blurRad="76200" dist="25400" dir="5400000" algn="bl" rotWithShape="0">
              <a:srgbClr val="000000">
                <a:alpha val="12000"/>
              </a:srgbClr>
            </a:outerShdw>
          </a:effectLst>
        </p:spPr>
      </p:pic>
      <p:sp>
        <p:nvSpPr>
          <p:cNvPr id="5" name="Demo-Schritt"/>
          <p:cNvSpPr/>
          <p:nvPr/>
        </p:nvSpPr>
        <p:spPr>
          <a:xfrm>
            <a:off x="5212080" y="1143000"/>
            <a:ext cx="347472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6" name="Nummer"/>
          <p:cNvSpPr/>
          <p:nvPr/>
        </p:nvSpPr>
        <p:spPr>
          <a:xfrm>
            <a:off x="5349240" y="1344168"/>
            <a:ext cx="365760" cy="365760"/>
          </a:xfrm>
          <a:prstGeom prst="ellipse">
            <a:avLst/>
          </a:prstGeom>
          <a:solidFill>
            <a:srgbClr val="3D8BFF"/>
          </a:solidFill>
          <a:ln w="12700">
            <a:solidFill>
              <a:srgbClr val="3D8BFF"/>
            </a:solidFill>
            <a:prstDash val="solid"/>
          </a:ln>
        </p:spPr>
        <p:txBody>
          <a:bodyPr/>
          <a:lstStyle/>
          <a:p>
            <a:endParaRPr lang="de-CH"/>
          </a:p>
        </p:txBody>
      </p:sp>
      <p:sp>
        <p:nvSpPr>
          <p:cNvPr id="7" name="Text 3"/>
          <p:cNvSpPr txBox="1"/>
          <p:nvPr/>
        </p:nvSpPr>
        <p:spPr>
          <a:xfrm>
            <a:off x="5349240" y="1344168"/>
            <a:ext cx="365760" cy="365760"/>
          </a:xfrm>
          <a:prstGeom prst="rect">
            <a:avLst/>
          </a:prstGeom>
          <a:noFill/>
          <a:ln/>
        </p:spPr>
        <p:txBody>
          <a:bodyPr wrap="square" lIns="0" tIns="0" rIns="0" bIns="0" rtlCol="0" anchor="ctr"/>
          <a:lstStyle/>
          <a:p>
            <a:pPr marL="0" indent="0" algn="ctr">
              <a:buNone/>
            </a:pPr>
            <a:r>
              <a:rPr lang="en-US" sz="1500" b="1" dirty="0">
                <a:solidFill>
                  <a:srgbClr val="111427"/>
                </a:solidFill>
              </a:rPr>
              <a:t>1</a:t>
            </a:r>
            <a:endParaRPr lang="en-US" sz="1500" dirty="0"/>
          </a:p>
        </p:txBody>
      </p:sp>
      <p:sp>
        <p:nvSpPr>
          <p:cNvPr id="8" name="Text 4"/>
          <p:cNvSpPr txBox="1"/>
          <p:nvPr/>
        </p:nvSpPr>
        <p:spPr>
          <a:xfrm>
            <a:off x="5852160" y="1234440"/>
            <a:ext cx="2743200" cy="274320"/>
          </a:xfrm>
          <a:prstGeom prst="rect">
            <a:avLst/>
          </a:prstGeom>
          <a:noFill/>
          <a:ln/>
        </p:spPr>
        <p:txBody>
          <a:bodyPr wrap="square" lIns="0" tIns="0" rIns="0" bIns="0" rtlCol="0" anchor="t"/>
          <a:lstStyle/>
          <a:p>
            <a:pPr marL="0" indent="0">
              <a:buNone/>
            </a:pPr>
            <a:r>
              <a:rPr lang="en-US" sz="1500" b="1" dirty="0">
                <a:solidFill>
                  <a:schemeClr val="tx2"/>
                </a:solidFill>
              </a:rPr>
              <a:t>Erfassen</a:t>
            </a:r>
            <a:endParaRPr lang="en-US" sz="1500" dirty="0"/>
          </a:p>
        </p:txBody>
      </p:sp>
      <p:sp>
        <p:nvSpPr>
          <p:cNvPr id="9" name="Text 5"/>
          <p:cNvSpPr txBox="1"/>
          <p:nvPr/>
        </p:nvSpPr>
        <p:spPr>
          <a:xfrm>
            <a:off x="5852160" y="1536192"/>
            <a:ext cx="2743200" cy="320040"/>
          </a:xfrm>
          <a:prstGeom prst="rect">
            <a:avLst/>
          </a:prstGeom>
          <a:noFill/>
          <a:ln/>
        </p:spPr>
        <p:txBody>
          <a:bodyPr wrap="square" lIns="0" tIns="0" rIns="0" bIns="0" rtlCol="0" anchor="t"/>
          <a:lstStyle/>
          <a:p>
            <a:pPr marL="0" indent="0">
              <a:buNone/>
            </a:pPr>
            <a:r>
              <a:rPr lang="en-US" sz="1300" dirty="0">
                <a:solidFill>
                  <a:srgbClr val="565C75"/>
                </a:solidFill>
              </a:rPr>
              <a:t>Live-Bewertung ändert sich beim Tippen</a:t>
            </a:r>
            <a:endParaRPr lang="en-US" sz="1300" dirty="0"/>
          </a:p>
        </p:txBody>
      </p:sp>
      <p:sp>
        <p:nvSpPr>
          <p:cNvPr id="10" name="Demo-Schritt"/>
          <p:cNvSpPr/>
          <p:nvPr/>
        </p:nvSpPr>
        <p:spPr>
          <a:xfrm>
            <a:off x="5212080" y="2029968"/>
            <a:ext cx="347472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1" name="Nummer"/>
          <p:cNvSpPr/>
          <p:nvPr/>
        </p:nvSpPr>
        <p:spPr>
          <a:xfrm>
            <a:off x="5349240" y="2231136"/>
            <a:ext cx="365760" cy="365760"/>
          </a:xfrm>
          <a:prstGeom prst="ellipse">
            <a:avLst/>
          </a:prstGeom>
          <a:solidFill>
            <a:srgbClr val="3D8BFF"/>
          </a:solidFill>
          <a:ln w="12700">
            <a:solidFill>
              <a:srgbClr val="3D8BFF"/>
            </a:solidFill>
            <a:prstDash val="solid"/>
          </a:ln>
        </p:spPr>
        <p:txBody>
          <a:bodyPr/>
          <a:lstStyle/>
          <a:p>
            <a:endParaRPr lang="de-CH"/>
          </a:p>
        </p:txBody>
      </p:sp>
      <p:sp>
        <p:nvSpPr>
          <p:cNvPr id="12" name="Text 8"/>
          <p:cNvSpPr txBox="1"/>
          <p:nvPr/>
        </p:nvSpPr>
        <p:spPr>
          <a:xfrm>
            <a:off x="5349240" y="2231136"/>
            <a:ext cx="365760" cy="365760"/>
          </a:xfrm>
          <a:prstGeom prst="rect">
            <a:avLst/>
          </a:prstGeom>
          <a:noFill/>
          <a:ln/>
        </p:spPr>
        <p:txBody>
          <a:bodyPr wrap="square" lIns="0" tIns="0" rIns="0" bIns="0" rtlCol="0" anchor="ctr"/>
          <a:lstStyle/>
          <a:p>
            <a:pPr marL="0" indent="0" algn="ctr">
              <a:buNone/>
            </a:pPr>
            <a:r>
              <a:rPr lang="en-US" sz="1500" b="1" dirty="0">
                <a:solidFill>
                  <a:srgbClr val="111427"/>
                </a:solidFill>
              </a:rPr>
              <a:t>2</a:t>
            </a:r>
            <a:endParaRPr lang="en-US" sz="1500" dirty="0"/>
          </a:p>
        </p:txBody>
      </p:sp>
      <p:sp>
        <p:nvSpPr>
          <p:cNvPr id="13" name="Text 9"/>
          <p:cNvSpPr txBox="1"/>
          <p:nvPr/>
        </p:nvSpPr>
        <p:spPr>
          <a:xfrm>
            <a:off x="5852160" y="2121408"/>
            <a:ext cx="2743200" cy="274320"/>
          </a:xfrm>
          <a:prstGeom prst="rect">
            <a:avLst/>
          </a:prstGeom>
          <a:noFill/>
          <a:ln/>
        </p:spPr>
        <p:txBody>
          <a:bodyPr wrap="square" lIns="0" tIns="0" rIns="0" bIns="0" rtlCol="0" anchor="t"/>
          <a:lstStyle/>
          <a:p>
            <a:pPr marL="0" indent="0">
              <a:buNone/>
            </a:pPr>
            <a:r>
              <a:rPr lang="en-US" sz="1500" b="1" dirty="0">
                <a:solidFill>
                  <a:schemeClr val="tx2"/>
                </a:solidFill>
              </a:rPr>
              <a:t>Lücken zeigen</a:t>
            </a:r>
            <a:endParaRPr lang="en-US" sz="1500" dirty="0"/>
          </a:p>
        </p:txBody>
      </p:sp>
      <p:sp>
        <p:nvSpPr>
          <p:cNvPr id="14" name="Text 10"/>
          <p:cNvSpPr txBox="1"/>
          <p:nvPr/>
        </p:nvSpPr>
        <p:spPr>
          <a:xfrm>
            <a:off x="5852160" y="2423160"/>
            <a:ext cx="2743200" cy="320040"/>
          </a:xfrm>
          <a:prstGeom prst="rect">
            <a:avLst/>
          </a:prstGeom>
          <a:noFill/>
          <a:ln/>
        </p:spPr>
        <p:txBody>
          <a:bodyPr wrap="square" lIns="0" tIns="0" rIns="0" bIns="0" rtlCol="0" anchor="t"/>
          <a:lstStyle/>
          <a:p>
            <a:pPr marL="0" indent="0">
              <a:buNone/>
            </a:pPr>
            <a:r>
              <a:rPr lang="en-US" sz="1300" dirty="0">
                <a:solidFill>
                  <a:srgbClr val="565C75"/>
                </a:solidFill>
              </a:rPr>
              <a:t>Fehlende Daten → «noch nicht möglich»</a:t>
            </a:r>
            <a:endParaRPr lang="en-US" sz="1300" dirty="0"/>
          </a:p>
        </p:txBody>
      </p:sp>
      <p:sp>
        <p:nvSpPr>
          <p:cNvPr id="15" name="Demo-Schritt"/>
          <p:cNvSpPr/>
          <p:nvPr/>
        </p:nvSpPr>
        <p:spPr>
          <a:xfrm>
            <a:off x="5212080" y="2916936"/>
            <a:ext cx="347472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16" name="Nummer"/>
          <p:cNvSpPr/>
          <p:nvPr/>
        </p:nvSpPr>
        <p:spPr>
          <a:xfrm>
            <a:off x="5349240" y="3118104"/>
            <a:ext cx="365760" cy="365760"/>
          </a:xfrm>
          <a:prstGeom prst="ellipse">
            <a:avLst/>
          </a:prstGeom>
          <a:solidFill>
            <a:srgbClr val="3D8BFF"/>
          </a:solidFill>
          <a:ln w="12700">
            <a:solidFill>
              <a:srgbClr val="3D8BFF"/>
            </a:solidFill>
            <a:prstDash val="solid"/>
          </a:ln>
        </p:spPr>
        <p:txBody>
          <a:bodyPr/>
          <a:lstStyle/>
          <a:p>
            <a:endParaRPr lang="de-CH"/>
          </a:p>
        </p:txBody>
      </p:sp>
      <p:sp>
        <p:nvSpPr>
          <p:cNvPr id="17" name="Text 13"/>
          <p:cNvSpPr txBox="1"/>
          <p:nvPr/>
        </p:nvSpPr>
        <p:spPr>
          <a:xfrm>
            <a:off x="5349240" y="3118104"/>
            <a:ext cx="365760" cy="365760"/>
          </a:xfrm>
          <a:prstGeom prst="rect">
            <a:avLst/>
          </a:prstGeom>
          <a:noFill/>
          <a:ln/>
        </p:spPr>
        <p:txBody>
          <a:bodyPr wrap="square" lIns="0" tIns="0" rIns="0" bIns="0" rtlCol="0" anchor="ctr"/>
          <a:lstStyle/>
          <a:p>
            <a:pPr marL="0" indent="0" algn="ctr">
              <a:buNone/>
            </a:pPr>
            <a:r>
              <a:rPr lang="en-US" sz="1500" b="1" dirty="0">
                <a:solidFill>
                  <a:srgbClr val="111427"/>
                </a:solidFill>
              </a:rPr>
              <a:t>3</a:t>
            </a:r>
            <a:endParaRPr lang="en-US" sz="1500" dirty="0"/>
          </a:p>
        </p:txBody>
      </p:sp>
      <p:sp>
        <p:nvSpPr>
          <p:cNvPr id="18" name="Text 14"/>
          <p:cNvSpPr txBox="1"/>
          <p:nvPr/>
        </p:nvSpPr>
        <p:spPr>
          <a:xfrm>
            <a:off x="5852160" y="3008376"/>
            <a:ext cx="2743200" cy="274320"/>
          </a:xfrm>
          <a:prstGeom prst="rect">
            <a:avLst/>
          </a:prstGeom>
          <a:noFill/>
          <a:ln/>
        </p:spPr>
        <p:txBody>
          <a:bodyPr wrap="square" lIns="0" tIns="0" rIns="0" bIns="0" rtlCol="0" anchor="t"/>
          <a:lstStyle/>
          <a:p>
            <a:pPr marL="0" indent="0">
              <a:buNone/>
            </a:pPr>
            <a:r>
              <a:rPr lang="en-US" sz="1500" b="1" dirty="0">
                <a:solidFill>
                  <a:schemeClr val="tx2"/>
                </a:solidFill>
              </a:rPr>
              <a:t>Fehlertoleranz drehen</a:t>
            </a:r>
            <a:endParaRPr lang="en-US" sz="1500" dirty="0"/>
          </a:p>
        </p:txBody>
      </p:sp>
      <p:sp>
        <p:nvSpPr>
          <p:cNvPr id="19" name="Text 15"/>
          <p:cNvSpPr txBox="1"/>
          <p:nvPr/>
        </p:nvSpPr>
        <p:spPr>
          <a:xfrm>
            <a:off x="5852160" y="3310128"/>
            <a:ext cx="2743200" cy="320040"/>
          </a:xfrm>
          <a:prstGeom prst="rect">
            <a:avLst/>
          </a:prstGeom>
          <a:noFill/>
          <a:ln/>
        </p:spPr>
        <p:txBody>
          <a:bodyPr wrap="square" lIns="0" tIns="0" rIns="0" bIns="0" rtlCol="0" anchor="t"/>
          <a:lstStyle/>
          <a:p>
            <a:pPr marL="0" indent="0">
              <a:buNone/>
            </a:pPr>
            <a:r>
              <a:rPr lang="en-US" sz="1300" dirty="0">
                <a:solidFill>
                  <a:srgbClr val="565C75"/>
                </a:solidFill>
              </a:rPr>
              <a:t>KI sinnvoll springt auf Assistenz</a:t>
            </a:r>
            <a:endParaRPr lang="en-US" sz="1300" dirty="0"/>
          </a:p>
        </p:txBody>
      </p:sp>
      <p:sp>
        <p:nvSpPr>
          <p:cNvPr id="20" name="Demo-Schritt"/>
          <p:cNvSpPr/>
          <p:nvPr/>
        </p:nvSpPr>
        <p:spPr>
          <a:xfrm>
            <a:off x="5212080" y="3803904"/>
            <a:ext cx="3474720" cy="777240"/>
          </a:xfrm>
          <a:prstGeom prst="roundRect">
            <a:avLst>
              <a:gd name="adj" fmla="val 9412"/>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de-CH"/>
          </a:p>
        </p:txBody>
      </p:sp>
      <p:sp>
        <p:nvSpPr>
          <p:cNvPr id="21" name="Nummer"/>
          <p:cNvSpPr/>
          <p:nvPr/>
        </p:nvSpPr>
        <p:spPr>
          <a:xfrm>
            <a:off x="5349240" y="4005072"/>
            <a:ext cx="365760" cy="365760"/>
          </a:xfrm>
          <a:prstGeom prst="ellipse">
            <a:avLst/>
          </a:prstGeom>
          <a:solidFill>
            <a:srgbClr val="3D8BFF"/>
          </a:solidFill>
          <a:ln w="12700">
            <a:solidFill>
              <a:srgbClr val="3D8BFF"/>
            </a:solidFill>
            <a:prstDash val="solid"/>
          </a:ln>
        </p:spPr>
        <p:txBody>
          <a:bodyPr/>
          <a:lstStyle/>
          <a:p>
            <a:endParaRPr lang="de-CH"/>
          </a:p>
        </p:txBody>
      </p:sp>
      <p:sp>
        <p:nvSpPr>
          <p:cNvPr id="22" name="Text 18"/>
          <p:cNvSpPr txBox="1"/>
          <p:nvPr/>
        </p:nvSpPr>
        <p:spPr>
          <a:xfrm>
            <a:off x="5349240" y="4005072"/>
            <a:ext cx="365760" cy="365760"/>
          </a:xfrm>
          <a:prstGeom prst="rect">
            <a:avLst/>
          </a:prstGeom>
          <a:noFill/>
          <a:ln/>
        </p:spPr>
        <p:txBody>
          <a:bodyPr wrap="square" lIns="0" tIns="0" rIns="0" bIns="0" rtlCol="0" anchor="ctr"/>
          <a:lstStyle/>
          <a:p>
            <a:pPr marL="0" indent="0" algn="ctr">
              <a:buNone/>
            </a:pPr>
            <a:r>
              <a:rPr lang="en-US" sz="1500" b="1" dirty="0">
                <a:solidFill>
                  <a:srgbClr val="111427"/>
                </a:solidFill>
              </a:rPr>
              <a:t>4</a:t>
            </a:r>
            <a:endParaRPr lang="en-US" sz="1500" dirty="0"/>
          </a:p>
        </p:txBody>
      </p:sp>
      <p:sp>
        <p:nvSpPr>
          <p:cNvPr id="23" name="Text 19"/>
          <p:cNvSpPr txBox="1"/>
          <p:nvPr/>
        </p:nvSpPr>
        <p:spPr>
          <a:xfrm>
            <a:off x="5852160" y="3895344"/>
            <a:ext cx="2743200" cy="274320"/>
          </a:xfrm>
          <a:prstGeom prst="rect">
            <a:avLst/>
          </a:prstGeom>
          <a:noFill/>
          <a:ln/>
        </p:spPr>
        <p:txBody>
          <a:bodyPr wrap="square" lIns="0" tIns="0" rIns="0" bIns="0" rtlCol="0" anchor="t"/>
          <a:lstStyle/>
          <a:p>
            <a:pPr marL="0" indent="0">
              <a:buNone/>
            </a:pPr>
            <a:r>
              <a:rPr lang="en-US" sz="1500" b="1" dirty="0">
                <a:solidFill>
                  <a:schemeClr val="tx2"/>
                </a:solidFill>
              </a:rPr>
              <a:t>Detail und Vergleich</a:t>
            </a:r>
            <a:endParaRPr lang="en-US" sz="1500" dirty="0"/>
          </a:p>
        </p:txBody>
      </p:sp>
      <p:sp>
        <p:nvSpPr>
          <p:cNvPr id="24" name="Text 20"/>
          <p:cNvSpPr txBox="1"/>
          <p:nvPr/>
        </p:nvSpPr>
        <p:spPr>
          <a:xfrm>
            <a:off x="5852160" y="4197096"/>
            <a:ext cx="2743200" cy="320040"/>
          </a:xfrm>
          <a:prstGeom prst="rect">
            <a:avLst/>
          </a:prstGeom>
          <a:noFill/>
          <a:ln/>
        </p:spPr>
        <p:txBody>
          <a:bodyPr wrap="square" lIns="0" tIns="0" rIns="0" bIns="0" rtlCol="0" anchor="t"/>
          <a:lstStyle/>
          <a:p>
            <a:pPr marL="0" indent="0">
              <a:buNone/>
            </a:pPr>
            <a:r>
              <a:rPr lang="en-US" sz="1300" dirty="0">
                <a:solidFill>
                  <a:srgbClr val="565C75"/>
                </a:solidFill>
              </a:rPr>
              <a:t>Begründung, Kosten, ähnliche Fälle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5C7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640080" y="1234440"/>
            <a:ext cx="7863840" cy="1188720"/>
          </a:xfrm>
          <a:prstGeom prst="rect">
            <a:avLst/>
          </a:prstGeom>
          <a:noFill/>
          <a:ln/>
        </p:spPr>
        <p:txBody>
          <a:bodyPr wrap="square" lIns="0" tIns="0" rIns="0" bIns="0" rtlCol="0" anchor="b"/>
          <a:lstStyle/>
          <a:p>
            <a:pPr marL="0" indent="0" algn="l">
              <a:buNone/>
            </a:pPr>
            <a:r>
              <a:rPr lang="en-US" sz="4600" b="1" dirty="0">
                <a:solidFill>
                  <a:schemeClr val="bg1"/>
                </a:solidFill>
              </a:rPr>
              <a:t>Fragen und Diskussion</a:t>
            </a:r>
            <a:endParaRPr lang="en-US" sz="4600" dirty="0"/>
          </a:p>
        </p:txBody>
      </p:sp>
      <p:sp>
        <p:nvSpPr>
          <p:cNvPr id="4" name="Text 0"/>
          <p:cNvSpPr>
            <a:spLocks noGrp="1"/>
          </p:cNvSpPr>
          <p:nvPr>
            <p:ph type="body" idx="101" hasCustomPrompt="1"/>
          </p:nvPr>
        </p:nvSpPr>
        <p:spPr>
          <a:xfrm>
            <a:off x="640080" y="2514600"/>
            <a:ext cx="7863840" cy="822960"/>
          </a:xfrm>
          <a:prstGeom prst="rect">
            <a:avLst/>
          </a:prstGeom>
          <a:noFill/>
          <a:ln/>
        </p:spPr>
        <p:txBody>
          <a:bodyPr wrap="square" lIns="0" tIns="0" rIns="0" bIns="0" rtlCol="0" anchor="t"/>
          <a:lstStyle/>
          <a:p>
            <a:pPr marL="0" indent="0" algn="l">
              <a:buNone/>
            </a:pPr>
            <a:r>
              <a:rPr lang="en-US" sz="2200" dirty="0">
                <a:solidFill>
                  <a:schemeClr val="bg2"/>
                </a:solidFill>
              </a:rPr>
              <a:t>Live-Demo, Pipelines und Code zeigen wir gerne im Detail.</a:t>
            </a:r>
            <a:endParaRPr lang="en-US" sz="2200" dirty="0"/>
          </a:p>
        </p:txBody>
      </p:sp>
      <p:sp>
        <p:nvSpPr>
          <p:cNvPr id="5" name="Empfehlung KI sinnvoll"/>
          <p:cNvSpPr txBox="1"/>
          <p:nvPr/>
        </p:nvSpPr>
        <p:spPr>
          <a:xfrm>
            <a:off x="640080" y="3840480"/>
            <a:ext cx="1143000" cy="365760"/>
          </a:xfrm>
          <a:prstGeom prst="roundRect">
            <a:avLst>
              <a:gd name="adj" fmla="val 25000"/>
            </a:avLst>
          </a:prstGeom>
          <a:solidFill>
            <a:srgbClr val="00C46A"/>
          </a:solidFill>
          <a:ln/>
        </p:spPr>
        <p:txBody>
          <a:bodyPr wrap="square" lIns="0" tIns="0" rIns="0" bIns="0" rtlCol="0" anchor="ctr"/>
          <a:lstStyle/>
          <a:p>
            <a:pPr marL="0" indent="0" algn="ctr">
              <a:buNone/>
            </a:pPr>
            <a:r>
              <a:rPr lang="en-US" sz="1300" b="1" dirty="0">
                <a:solidFill>
                  <a:srgbClr val="111427"/>
                </a:solidFill>
              </a:rPr>
              <a:t>KI sinnvoll</a:t>
            </a:r>
            <a:endParaRPr lang="en-US" sz="1300" dirty="0"/>
          </a:p>
        </p:txBody>
      </p:sp>
      <p:sp>
        <p:nvSpPr>
          <p:cNvPr id="6" name="Empfehlung KI als Assistenz"/>
          <p:cNvSpPr txBox="1"/>
          <p:nvPr/>
        </p:nvSpPr>
        <p:spPr>
          <a:xfrm>
            <a:off x="1920240" y="3840480"/>
            <a:ext cx="1463040" cy="365760"/>
          </a:xfrm>
          <a:prstGeom prst="roundRect">
            <a:avLst>
              <a:gd name="adj" fmla="val 25000"/>
            </a:avLst>
          </a:prstGeom>
          <a:solidFill>
            <a:srgbClr val="3D8BFF"/>
          </a:solidFill>
          <a:ln/>
        </p:spPr>
        <p:txBody>
          <a:bodyPr wrap="square" lIns="0" tIns="0" rIns="0" bIns="0" rtlCol="0" anchor="ctr"/>
          <a:lstStyle/>
          <a:p>
            <a:pPr marL="0" indent="0" algn="ctr">
              <a:buNone/>
            </a:pPr>
            <a:r>
              <a:rPr lang="en-US" sz="1300" b="1" dirty="0">
                <a:solidFill>
                  <a:srgbClr val="111427"/>
                </a:solidFill>
              </a:rPr>
              <a:t>KI als Assistenz</a:t>
            </a:r>
            <a:endParaRPr lang="en-US" sz="1300" dirty="0"/>
          </a:p>
        </p:txBody>
      </p:sp>
      <p:sp>
        <p:nvSpPr>
          <p:cNvPr id="7" name="Empfehlung Klassisch"/>
          <p:cNvSpPr txBox="1"/>
          <p:nvPr/>
        </p:nvSpPr>
        <p:spPr>
          <a:xfrm>
            <a:off x="3520440" y="3840480"/>
            <a:ext cx="1051560" cy="365760"/>
          </a:xfrm>
          <a:prstGeom prst="roundRect">
            <a:avLst>
              <a:gd name="adj" fmla="val 25000"/>
            </a:avLst>
          </a:prstGeom>
          <a:solidFill>
            <a:srgbClr val="FFD400"/>
          </a:solidFill>
          <a:ln/>
        </p:spPr>
        <p:txBody>
          <a:bodyPr wrap="square" lIns="0" tIns="0" rIns="0" bIns="0" rtlCol="0" anchor="ctr"/>
          <a:lstStyle/>
          <a:p>
            <a:pPr marL="0" indent="0" algn="ctr">
              <a:buNone/>
            </a:pPr>
            <a:r>
              <a:rPr lang="en-US" sz="1300" b="1" dirty="0">
                <a:solidFill>
                  <a:srgbClr val="111427"/>
                </a:solidFill>
              </a:rPr>
              <a:t>Klassisch</a:t>
            </a:r>
            <a:endParaRPr lang="en-US" sz="1300" dirty="0"/>
          </a:p>
        </p:txBody>
      </p:sp>
      <p:sp>
        <p:nvSpPr>
          <p:cNvPr id="8" name="Empfehlung Manuell"/>
          <p:cNvSpPr txBox="1"/>
          <p:nvPr/>
        </p:nvSpPr>
        <p:spPr>
          <a:xfrm>
            <a:off x="4709160" y="3840480"/>
            <a:ext cx="1051560" cy="365760"/>
          </a:xfrm>
          <a:prstGeom prst="roundRect">
            <a:avLst>
              <a:gd name="adj" fmla="val 25000"/>
            </a:avLst>
          </a:prstGeom>
          <a:solidFill>
            <a:srgbClr val="FF5A4F"/>
          </a:solidFill>
          <a:ln/>
        </p:spPr>
        <p:txBody>
          <a:bodyPr wrap="square" lIns="0" tIns="0" rIns="0" bIns="0" rtlCol="0" anchor="ctr"/>
          <a:lstStyle/>
          <a:p>
            <a:pPr marL="0" indent="0" algn="ctr">
              <a:buNone/>
            </a:pPr>
            <a:r>
              <a:rPr lang="en-US" sz="1300" b="1" dirty="0">
                <a:solidFill>
                  <a:srgbClr val="111427"/>
                </a:solidFill>
              </a:rPr>
              <a:t>Manuell</a:t>
            </a:r>
            <a:endParaRPr lang="en-US" sz="1300" dirty="0"/>
          </a:p>
        </p:txBody>
      </p:sp>
      <p:sp>
        <p:nvSpPr>
          <p:cNvPr id="9" name="Empfehlung Unklar"/>
          <p:cNvSpPr txBox="1"/>
          <p:nvPr/>
        </p:nvSpPr>
        <p:spPr>
          <a:xfrm>
            <a:off x="5897880" y="3840480"/>
            <a:ext cx="914400" cy="365760"/>
          </a:xfrm>
          <a:prstGeom prst="roundRect">
            <a:avLst>
              <a:gd name="adj" fmla="val 25000"/>
            </a:avLst>
          </a:prstGeom>
          <a:solidFill>
            <a:srgbClr val="9AA0B4"/>
          </a:solidFill>
          <a:ln/>
        </p:spPr>
        <p:txBody>
          <a:bodyPr wrap="square" lIns="0" tIns="0" rIns="0" bIns="0" rtlCol="0" anchor="ctr"/>
          <a:lstStyle/>
          <a:p>
            <a:pPr marL="0" indent="0" algn="ctr">
              <a:buNone/>
            </a:pPr>
            <a:r>
              <a:rPr lang="en-US" sz="1300" b="1" dirty="0">
                <a:solidFill>
                  <a:srgbClr val="111427"/>
                </a:solidFill>
              </a:rPr>
              <a:t>Unklar</a:t>
            </a:r>
            <a:endParaRPr lang="en-US" sz="1300" dirty="0"/>
          </a:p>
        </p:txBody>
      </p:sp>
    </p:spTree>
  </p:cSld>
  <p:clrMapOvr>
    <a:masterClrMapping/>
  </p:clrMapOvr>
</p:sld>
</file>

<file path=ppt/theme/theme1.xml><?xml version="1.0" encoding="utf-8"?>
<a:theme xmlns:a="http://schemas.openxmlformats.org/drawingml/2006/main" name="KI UseCase Evaluator">
  <a:themeElements>
    <a:clrScheme name="KI UseCase Evaluator">
      <a:dk1>
        <a:srgbClr val="111427"/>
      </a:dk1>
      <a:lt1>
        <a:srgbClr val="FFFFFF"/>
      </a:lt1>
      <a:dk2>
        <a:srgbClr val="1B1F3B"/>
      </a:dk2>
      <a:lt2>
        <a:srgbClr val="F3F5FB"/>
      </a:lt2>
      <a:accent1>
        <a:srgbClr val="3D8BFF"/>
      </a:accent1>
      <a:accent2>
        <a:srgbClr val="00C46A"/>
      </a:accent2>
      <a:accent3>
        <a:srgbClr val="FFD400"/>
      </a:accent3>
      <a:accent4>
        <a:srgbClr val="FF5A4F"/>
      </a:accent4>
      <a:accent5>
        <a:srgbClr val="9AA0B4"/>
      </a:accent5>
      <a:accent6>
        <a:srgbClr val="7A5CFF"/>
      </a:accent6>
      <a:hlink>
        <a:srgbClr val="3D8BFF"/>
      </a:hlink>
      <a:folHlink>
        <a:srgbClr val="7A5CFF"/>
      </a:folHlink>
    </a:clrScheme>
    <a:fontScheme name="KI UseCase Evalua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2900</Words>
  <Application>Microsoft Office PowerPoint</Application>
  <PresentationFormat>Bildschirmpräsentation (16:9)</PresentationFormat>
  <Paragraphs>241</Paragraphs>
  <Slides>14</Slides>
  <Notes>14</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14</vt:i4>
      </vt:variant>
    </vt:vector>
  </HeadingPairs>
  <TitlesOfParts>
    <vt:vector size="18" baseType="lpstr">
      <vt:lpstr>Arial</vt:lpstr>
      <vt:lpstr>Calibri</vt:lpstr>
      <vt:lpstr>Cambria</vt:lpstr>
      <vt:lpstr>KI UseCase Evaluator</vt:lpstr>
      <vt:lpstr>KI UseCase Evaluator</vt:lpstr>
      <vt:lpstr>Problem und Ziel</vt:lpstr>
      <vt:lpstr>Kriterienkatalog für sinnvollen KI-Einsatz</vt:lpstr>
      <vt:lpstr>Von den Kriterien zur Empfehlung</vt:lpstr>
      <vt:lpstr>NoSQL-Datenmodell</vt:lpstr>
      <vt:lpstr>Beispieldatensatz: 48 Use Cases</vt:lpstr>
      <vt:lpstr>Aggregation Pipelines</vt:lpstr>
      <vt:lpstr>Indexierungsstrategie</vt:lpstr>
      <vt:lpstr>Tests: geeignete und ungeeignete Fälle</vt:lpstr>
      <vt:lpstr>Was die Auswertungen zeigen</vt:lpstr>
      <vt:lpstr>Antwort: KI lohnt sich, wenn …</vt:lpstr>
      <vt:lpstr>Reflexion: Wo hat KI geholfen?</vt:lpstr>
      <vt:lpstr>Live-Demo des Prototyps</vt:lpstr>
      <vt:lpstr>Fragen und Diskussion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 UseCase Evaluator – Wann bringt KI am meisten Nutzen?</dc:title>
  <dc:subject>NoSQL-Projekt: KI-Anwendungsfälle bewerten und vergleichen</dc:subject>
  <dc:creator>PptxGenJS</dc:creator>
  <cp:lastModifiedBy>Noa Gasche</cp:lastModifiedBy>
  <cp:revision>2</cp:revision>
  <dcterms:created xsi:type="dcterms:W3CDTF">2026-10-24T21:23:35Z</dcterms:created>
  <dcterms:modified xsi:type="dcterms:W3CDTF">2026-10-27T14:47:15Z</dcterms:modified>
</cp:coreProperties>
</file>