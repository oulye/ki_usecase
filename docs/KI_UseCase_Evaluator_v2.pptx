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6F72E1D2-14F0-FC0D-D2F7-6D938C19D77B}">
          <p14:sldIdLst>
            <p14:sldId id="256"/>
            <p14:sldId id="257"/>
            <p14:sldId id="258"/>
          </p14:sldIdLst>
        </p14:section>
        <p14:section name="So funktioniert es" id="{EEB3F981-B0AA-FB0F-A967-107EFC42DEBE}">
          <p14:sldIdLst>
            <p14:sldId id="259"/>
            <p14:sldId id="260"/>
          </p14:sldIdLst>
        </p14:section>
        <p14:section name="Daten und Auswertung" id="{161FBB0A-0E1F-8384-40E7-96A65452FF6D}">
          <p14:sldIdLst>
            <p14:sldId id="261"/>
            <p14:sldId id="262"/>
            <p14:sldId id="263"/>
            <p14:sldId id="264"/>
          </p14:sldIdLst>
        </p14:section>
        <p14:section name="Ergebnisse" id="{B0D88CBD-E48C-E836-0A89-AD9366866ACB}">
          <p14:sldIdLst>
            <p14:sldId id="265"/>
            <p14:sldId id="266"/>
            <p14:sldId id="267"/>
          </p14:sldIdLst>
        </p14:section>
        <p14:section name="Reflexion" id="{D85C8248-45DD-E564-EE87-66ED54C2A813}">
          <p14:sldIdLst>
            <p14:sldId id="268"/>
            <p14:sldId id="269"/>
          </p14:sldIdLst>
        </p14:section>
        <p14:section name="Demo" id="{4C6B55B9-C0C9-0B85-BEC4-04542640ABA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024" autoAdjust="0"/>
  </p:normalViewPr>
  <p:slideViewPr>
    <p:cSldViewPr snapToGrid="0" snapToObjects="1">
      <p:cViewPr varScale="1">
        <p:scale>
          <a:sx n="117" d="100"/>
          <a:sy n="117" d="100"/>
        </p:scale>
        <p:origin x="14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doughnutChart>
        <c:varyColors val="1"/>
        <c:ser>
          <c:idx val="0"/>
          <c:order val="0"/>
          <c:tx>
            <c:strRef>
              <c:f>Sheet1!$B$1</c:f>
              <c:strCache>
                <c:ptCount val="1"/>
                <c:pt idx="0">
                  <c:v>Empfehlungen</c:v>
                </c:pt>
              </c:strCache>
            </c:strRef>
          </c:tx>
          <c:spPr>
            <a:solidFill>
              <a:schemeClr val="accent1"/>
            </a:solidFill>
            <a:ln w="9525" cap="flat">
              <a:solidFill>
                <a:srgbClr val="F9F9F9"/>
              </a:solidFill>
              <a:prstDash val="solid"/>
              <a:round/>
            </a:ln>
            <a:effectLst/>
          </c:spPr>
          <c:dPt>
            <c:idx val="0"/>
            <c:bubble3D val="0"/>
            <c:spPr>
              <a:solidFill>
                <a:srgbClr val="00C46A"/>
              </a:solidFill>
              <a:ln w="12700" cap="flat">
                <a:solidFill>
                  <a:srgbClr val="FFFFFF"/>
                </a:solidFill>
                <a:prstDash val="solid"/>
                <a:round/>
              </a:ln>
              <a:effectLst/>
            </c:spPr>
            <c:extLst>
              <c:ext xmlns:c16="http://schemas.microsoft.com/office/drawing/2014/chart" uri="{C3380CC4-5D6E-409C-BE32-E72D297353CC}">
                <c16:uniqueId val="{00000001-9D6B-495D-AB97-E7990FDA575A}"/>
              </c:ext>
            </c:extLst>
          </c:dPt>
          <c:dPt>
            <c:idx val="1"/>
            <c:bubble3D val="0"/>
            <c:spPr>
              <a:solidFill>
                <a:srgbClr val="3D8BFF"/>
              </a:solidFill>
              <a:ln w="12700" cap="flat">
                <a:solidFill>
                  <a:srgbClr val="FFFFFF"/>
                </a:solidFill>
                <a:prstDash val="solid"/>
                <a:round/>
              </a:ln>
              <a:effectLst/>
            </c:spPr>
            <c:extLst>
              <c:ext xmlns:c16="http://schemas.microsoft.com/office/drawing/2014/chart" uri="{C3380CC4-5D6E-409C-BE32-E72D297353CC}">
                <c16:uniqueId val="{00000003-9D6B-495D-AB97-E7990FDA575A}"/>
              </c:ext>
            </c:extLst>
          </c:dPt>
          <c:dPt>
            <c:idx val="2"/>
            <c:bubble3D val="0"/>
            <c:spPr>
              <a:solidFill>
                <a:srgbClr val="FFD400"/>
              </a:solidFill>
              <a:ln w="12700" cap="flat">
                <a:solidFill>
                  <a:srgbClr val="FFFFFF"/>
                </a:solidFill>
                <a:prstDash val="solid"/>
                <a:round/>
              </a:ln>
              <a:effectLst/>
            </c:spPr>
            <c:extLst>
              <c:ext xmlns:c16="http://schemas.microsoft.com/office/drawing/2014/chart" uri="{C3380CC4-5D6E-409C-BE32-E72D297353CC}">
                <c16:uniqueId val="{00000005-9D6B-495D-AB97-E7990FDA575A}"/>
              </c:ext>
            </c:extLst>
          </c:dPt>
          <c:dPt>
            <c:idx val="3"/>
            <c:bubble3D val="0"/>
            <c:spPr>
              <a:solidFill>
                <a:srgbClr val="FF5A4F"/>
              </a:solidFill>
              <a:ln w="12700" cap="flat">
                <a:solidFill>
                  <a:srgbClr val="FFFFFF"/>
                </a:solidFill>
                <a:prstDash val="solid"/>
                <a:round/>
              </a:ln>
              <a:effectLst/>
            </c:spPr>
            <c:extLst>
              <c:ext xmlns:c16="http://schemas.microsoft.com/office/drawing/2014/chart" uri="{C3380CC4-5D6E-409C-BE32-E72D297353CC}">
                <c16:uniqueId val="{00000007-9D6B-495D-AB97-E7990FDA575A}"/>
              </c:ext>
            </c:extLst>
          </c:dPt>
          <c:dPt>
            <c:idx val="4"/>
            <c:bubble3D val="0"/>
            <c:spPr>
              <a:solidFill>
                <a:srgbClr val="9AA0B4"/>
              </a:solidFill>
              <a:ln w="12700" cap="flat">
                <a:solidFill>
                  <a:srgbClr val="FFFFFF"/>
                </a:solidFill>
                <a:prstDash val="solid"/>
                <a:round/>
              </a:ln>
              <a:effectLst/>
            </c:spPr>
            <c:extLst>
              <c:ext xmlns:c16="http://schemas.microsoft.com/office/drawing/2014/chart" uri="{C3380CC4-5D6E-409C-BE32-E72D297353CC}">
                <c16:uniqueId val="{00000009-9D6B-495D-AB97-E7990FDA575A}"/>
              </c:ext>
            </c:extLst>
          </c:dPt>
          <c:dLbls>
            <c:dLbl>
              <c:idx val="0"/>
              <c:numFmt formatCode="General" sourceLinked="0"/>
              <c:spPr/>
              <c:txPr>
                <a:bodyPr/>
                <a:lstStyle/>
                <a:p>
                  <a:pPr>
                    <a:defRPr sz="14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6B-495D-AB97-E7990FDA575A}"/>
                </c:ext>
              </c:extLst>
            </c:dLbl>
            <c:dLbl>
              <c:idx val="1"/>
              <c:numFmt formatCode="General" sourceLinked="0"/>
              <c:spPr/>
              <c:txPr>
                <a:bodyPr/>
                <a:lstStyle/>
                <a:p>
                  <a:pPr>
                    <a:defRPr sz="14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6B-495D-AB97-E7990FDA575A}"/>
                </c:ext>
              </c:extLst>
            </c:dLbl>
            <c:dLbl>
              <c:idx val="2"/>
              <c:numFmt formatCode="General" sourceLinked="0"/>
              <c:spPr/>
              <c:txPr>
                <a:bodyPr/>
                <a:lstStyle/>
                <a:p>
                  <a:pPr>
                    <a:defRPr sz="14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6B-495D-AB97-E7990FDA575A}"/>
                </c:ext>
              </c:extLst>
            </c:dLbl>
            <c:dLbl>
              <c:idx val="3"/>
              <c:numFmt formatCode="General" sourceLinked="0"/>
              <c:spPr/>
              <c:txPr>
                <a:bodyPr/>
                <a:lstStyle/>
                <a:p>
                  <a:pPr>
                    <a:defRPr sz="14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D6B-495D-AB97-E7990FDA575A}"/>
                </c:ext>
              </c:extLst>
            </c:dLbl>
            <c:dLbl>
              <c:idx val="4"/>
              <c:numFmt formatCode="General" sourceLinked="0"/>
              <c:spPr/>
              <c:txPr>
                <a:bodyPr/>
                <a:lstStyle/>
                <a:p>
                  <a:pPr>
                    <a:defRPr sz="14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D6B-495D-AB97-E7990FDA575A}"/>
                </c:ext>
              </c:extLst>
            </c:dLbl>
            <c:numFmt formatCode="General" sourceLinked="0"/>
            <c:spPr>
              <a:noFill/>
              <a:ln>
                <a:noFill/>
              </a:ln>
              <a:effectLst/>
            </c:spPr>
            <c:txPr>
              <a:bodyPr/>
              <a:lstStyle/>
              <a:p>
                <a:pPr>
                  <a:defRPr sz="1800" b="1" i="0" u="none" strike="noStrike">
                    <a:solidFill>
                      <a:srgbClr val="000000"/>
                    </a:solidFill>
                    <a:latin typeface="Arial"/>
                  </a:defRPr>
                </a:pPr>
                <a:endParaRPr lang="de-DE"/>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KI sinnvoll</c:v>
                </c:pt>
                <c:pt idx="1">
                  <c:v>KI als Assistenz</c:v>
                </c:pt>
                <c:pt idx="2">
                  <c:v>Klassisch</c:v>
                </c:pt>
                <c:pt idx="3">
                  <c:v>Manuell</c:v>
                </c:pt>
                <c:pt idx="4">
                  <c:v>Unklar</c:v>
                </c:pt>
              </c:strCache>
            </c:strRef>
          </c:cat>
          <c:val>
            <c:numRef>
              <c:f>Sheet1!$B$2:$B$6</c:f>
              <c:numCache>
                <c:formatCode>General</c:formatCode>
                <c:ptCount val="5"/>
                <c:pt idx="0">
                  <c:v>13</c:v>
                </c:pt>
                <c:pt idx="1">
                  <c:v>15</c:v>
                </c:pt>
                <c:pt idx="2">
                  <c:v>10</c:v>
                </c:pt>
                <c:pt idx="3">
                  <c:v>5</c:v>
                </c:pt>
                <c:pt idx="4">
                  <c:v>5</c:v>
                </c:pt>
              </c:numCache>
            </c:numRef>
          </c:val>
          <c:extLst>
            <c:ext xmlns:c16="http://schemas.microsoft.com/office/drawing/2014/chart" uri="{C3380CC4-5D6E-409C-BE32-E72D297353CC}">
              <c16:uniqueId val="{0000000A-9D6B-495D-AB97-E7990FDA575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300">
              <a:solidFill>
                <a:srgbClr val="11142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12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0:15 Min.
Begrüssen. Thema in einem Satz: «Wir haben eine App gebaut, die prüft, ob sich eine KI-Idee lohnt.» Die fünf Farben sind die fünf möglichen Antworten der App – sie begleiten uns durch die ganze Präsentation.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0:50 Min.
Bild: «Mit Kanonen auf Spatzen schiessen». Firmen haben viele KI-Ideen, aber nicht jede lohnt sich. Drei typische Fehler: KI, wo ein einfaches Programm reicht; automatisieren, obwohl es fast nie vorkommt; KI allein entscheiden lassen, obwohl ein Fehler teuer ist.
Leitfrage vorlesen und sagen, dass wir sie am Ende beantworten. Ziel: eine App, die Ideen prüft und eine Empfehlung mit Begründung gibt.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0:50 Min.
Das sind die fünf möglichen Antworten der App – jeweils mit einem Alltagsbeispiel.
KI sinnvoll: Die KI macht die Arbeit selbständig, z. B. E-Mails nach Thema sortieren. KI als Assistenz: Die KI macht einen Vorschlag, ein Mensch entscheidet, z. B. Zweitmeinung bei Röntgenbildern («Human in the Loop» = Mensch bleibt im Spiel). Klassisch: Ein einfaches Wenn-Dann-Programm reicht, z. B. Passwort zurücksetzen. Manuell: Von Hand ist besser, weil der Fall zu selten vorkommt. Unklar: Es fehlen noch Informationen, die App rät nicht, sondern sagt das ehrlich.
Besonders betonen: «Unklar» ist eine gültige Antwort.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0:50 Min.
Die App stellt sieben Fragen zu jeder Idee. Die Prozentzahl zeigt, wie wichtig die Frage ist (das «Gewicht»). Am wichtigsten sind: Lassen sich einfache Regeln nicht aufschreiben (25 %), gibt es genug Daten (20 %), wie schlimm wäre ein Fehler (15 %).
Aus den Antworten entsteht ein Punktwert von 0 bis 100, der KI-Nutzwert. Je höher, desto mehr lohnt sich KI.
Ehrlich sagen: Die Gewichte sind unsere Annahmen. Die App macht das Urteil nachvollziehbar, nicht automatisch «richtig».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0:45 Min.
Die App prüft fünf Fragen der Reihe nach. Die erste Frage, die zutrifft, entscheidet.
1) Fehlen wichtige Infos? Dann «noch unklar». 2) Kommt der Fall selten vor (unter 50 Mal pro Monat)? Dann von Hand. 3) Reichen einfache Wenn-Dann-Regeln? Dann klassisches Programm. 4) Ist ein Fehler gefährlich oder sind die Daten sensibel? Dann hilft die KI nur, der Mensch entscheidet. 5) Passt alles? Dann KI sinnvoll (bei sehr hohem Punktwert, sonst Assistenz).
Wichtig: Die App ist selbst ein regelbasiertes Programm. Gleiche Eingabe gibt immer die gleiche Antwort. Eine KI darf höchstens den Begründungstext formulieren und ändert nie die Empfehlung.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1:00 Min. (Datenmodell: 25 % der Bewertung)
Wir speichern alles in MongoDB. Das ist eine «NoSQL»-Datenbank: Sie braucht keine starren Tabellen, sondern speichert flexible «Dokumente».
Bild: Eine Karteikarte pro KI-Idee. Auf der Karte stehen: Eckdaten, Merkmale, Lösungswege (von Hand, Regeln, KI mit Kosten) und das Ergebnis der App.
Warum so? 1) Alles, was zusammengehört, liegt auf einer Karte – das geht schnell und es ist immer vollständig. 2) Leere Felder sind erlaubt und bedeuten «unbekannt», dann antwortet die App «noch unklar». 3) Das Urteil der App wird mitgespeichert, so kann die Datenbank sofort zählen und auswerten.
Verworfene Alternative (für Fragen): Lösungswege in einer eigenen Sammlung – das lohnt sich nur, wenn man sie oft wiederverwendet.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0:30 Min.
Zum Testen haben wir 48 KI-Ideen aus 10 Branchen erfasst, darunter alle Beispiele aus der Aufgabe. Absichtlich gemischt: klare KI-Fälle, klare Fälle für einfache Programme, Grenzfälle, seltene Fälle und Fälle mit fehlenden Informationen.
Das Diagramm zeigt, wie die App die 48 Ideen einordnet: 13 KI sinnvoll, 15 Assistenz, 10 klassisch, 5 manuell, 5 unklar.
Ehrlich sagen: Die Werte haben wir selbst geschätzt, es sind keine echten Messdaten.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0:50 Min. (Aggregationen: Teil von 25 %)
Eine «Aggregation Pipeline» ist eine Rechenanleitung in Schritten, wie ein Fliessband: zuerst filtern, dann gruppieren, dann zählen oder den Durchschnitt bilden. Die Datenbank erledigt das selbst, wir müssen keine Daten herumschieben.
Wir haben 13 solcher Auswertungen (verlangt waren mindestens 5). Fünf davon in einfachen Worten: 1) Wie viele Ideen pro Branche empfehlen KI? 2) Ab welcher Menge lohnt sich KI? 3) Hängen Menge und Nutzen zusammen (Korrelation, die Datenbank rechnet sie selbst aus)? 4) Wo sind einfache Regeln günstiger? 5) Wann zahlt sich der Aufwand aus?
In der App sind alle Auswertungen mit ihrer Anleitung sichtbar. Die Ergebnisse folgen auf Folie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0:40 Min. (Indexierungsstrategie)
Bild: Das Register hinten im Buch. Statt jede Seite zu lesen, schaut man im Register nach und springt direkt zur richtigen Stelle. Ein «Index» ist genau das für die Datenbank.
Wir haben sechs Register, jedes für eine typische Suche: Branche und Problemart, Risiko und Empfehlung, Punktwert, Fallmenge, Schlagwörter, Volltext.
Beleg: Wir haben geprüft (mit dem Befehl explain), dass alle fünf typischen Suchen ein Register nutzen. Das ist auch ein automatischer Test.
Bewusst weggelassen: Was nur angezeigt wird, braucht kein Register. Jedes Register kostet Speicherplatz und etwas Zeit beim Speichern.
Ehrlich: Bei nur 48 Einträgen ist der Vorteil klein, er zeigt sich bei grossen Datenmengen.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1:15 Min. (wir haben drei der vorgeschlagenen Fragen untersucht)
Frage 1: Ist KI bei grossen Mengen nützlich? Ja: Unter 50 Fällen pro Monat empfiehlt die App nie KI, ab 50’000 immer (8 von 8). Aber die Menge allein entscheidet nicht, der Zusammenhang ist nur mässig (Korrelation 0.38).
Frage 2: Wann ist der Mensch in der Schleife die beste Lösung? Bei hohem Risiko empfiehlt die App KI in keinem der 14 Fälle allein, 9-mal als Assistenz. Beispiele: Radiologie, Arztbriefe, Prüfungen korrigieren.
Frage 3: Wo wäre eine einfache Regelmaschine wirtschaftlicher? Bei 11 von 48 Ideen sind Regeln über ein Jahr günstiger bei fast gleicher Genauigkeit, z. B. Routenplanung, Rechnungsprüfung.
Zusatz: Bei Texten und Bildern empfiehlt die App in 78 % der Fälle KI, bei Tabellen-Daten nur in 44 %.
IMMER dazusagen: Das sind die Zahlen aus unseren geschätzten Beispieldaten.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0:45 Min. (Kernantwort – langsam sprechen)
KI bringt dann am meisten Nutzen, wenn vier Dinge zusammenkommen:
1) Einfache Regeln reichen nicht, typischerweise bei Texten, Bildern oder sehr unterschiedlichen Fällen. 2) Es gibt genug gute Daten. 3) Der Fall kommt oft genug vor, grob ab einigen hundert Mal pro Monat. 4) Fehler sind verkraftbar, oder ein Mensch prüft das Ergebnis.
Unten steht jeweils, was passiert, wenn eine Bedingung fehlt: klassisches Programm, erst Daten sammeln, von Hand, oder KI nur als Assistenz.
Schlusssatz: «KI formuliert, Regeln entscheiden, Menschen tragen die Verantwortung.»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0:45 Min. (Funktionalität und Tests: 15 %)
Wie wissen wir, dass die App richtig urteilt? Wir haben 41 automatische Tests geschrieben. Sie prüfen mit bekannten Beispielen, ob die App die erwartete Antwort gibt, bei geeigneten und bei ungeeigneten Fällen.
Beispiele rechts: Support-Mails sortieren, KI sinnvoll. Röntgenbilder, nur Assistenz. Passwort zurücksetzen, klassisch. Seltene Krankheiten mit 15 Fällen, manuell. Kundenabwanderung ohne Angabe zur Fehlertoleranz, unklar.
Besonders betonen: der Stabilitäts-Check. Wir haben jede Gewichtung stark verändert (um die Hälfte rauf und runter) und die Antwort der App blieb in mindestens 95 von 100 Fällen gleich. Das heisst: Die Regeln entscheiden, nicht die einzelnen Gewichte.
Ehrlich: Die Oberfläche haben wir von Hand geprüft, nicht automatisch.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0:50 Min.
So ist das Projekt entstanden – in drei Schritten mit drei verschiedenen KIs.
1) Wir haben die Aufgabenstellung an ChatGPT geschickt und daraus das erste Projekt, das Grundgerüst, erstellen lassen.
2) Danach haben wir mit einzelnen Prompts in GitHub Copilot Änderungen vorgenommen.
3) Zum Schluss haben wir Claude (Claude Code) das Projekt anhand der Aufgabenstellung überarbeiten lassen: Es hat das Projekt gegen alle Bewertungskriterien geprüft und ergänzt (Bewertungslogik, Datenmodell, Auswertungen, Register, Beispieldaten, Tests, Oberfläche, Dokumentation).
[TEAM] Hier kann jede Person kurz ergänzen, wie sie das erlebt 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1:00 Min. (Reflexion: 15 %)
Was hat welche KI gebracht? ChatGPT: schneller Start aus der Aufgabenstellung. Copilot: gezielte Änderungen in kleinen Schritten. Claude: Überblick über das ganze Projekt und systematischer Abgleich mit der Aufgabe.
Was musste korrigiert werden? 1) Das Grundgerüst sah vollständig aus, enthielt aber nicht, was die Aufgabe verlangt: keine Bewertungslogik, keine Auswertungen, keine Register, keine Tests. 2) Im Code blieben Reste früherer Änderungen (z. B. Aufräum-Code für ein altes Feld). 3) Auch Claudes erste Bewertungsformel war falsch kalibriert: Passwort zurücksetzen bekam 66 Punkte und war trotzdem «klassisch». Das fiel erst auf, als wir die Ergebnisse angeschaut haben, und ein Test bestätigte es.
Lehre: KI-Ergebnisse immer gegen die Aufgabe prüfen. Das ist auch die Idee unserer App: KI schlägt vor, Regeln und Menschen entscheiden.
Ehrliche Grenzen: Daten geschätzt; Modell und Beispieldaten aus derselben Quelle.
[TEAM] Hier persönliche Eindrücke ergänzen, z. B. welche KI sich wie angefühlt hat.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2:15 Min. LIVE-DEMO (vorher: npm run seed:reset und npm start).
Schritt 1: Eine neue Idee eingeben. Unter dem Formular erscheint sofort die Bewertung. Am Anfang: «Entscheidung noch nicht möglich», weil Angaben fehlen.
Schritt 2: Werte ausfüllen (z. B. 12000 Fälle pro Monat, unstrukturiert, Fehlertoleranz hoch): Die App sagt «KI sinnvoll».
Schritt 3: Fehlertoleranz auf «niedrig» stellen: Die Antwort wechselt zu «KI als Assistenz». Das ist der Aha-Moment. Nicht speichern.
Schritt 4: In der Liste die «Diagnose-Unterstützung in der Radiologie» öffnen: Begründung, Punkte, Kosten der Lösungswege, ähnliche Ideen.
Backup, falls die Demo nicht läuft: dieser Screenshot.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 ca. 0:10 Min.
Danken und Fragen einladen. Antworten auf mögliche Fragen stehen in docs/VORTRAGSSKRIPT_v2.md.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DUNKEL">
    <p:bg>
      <p:bgPr>
        <a:solidFill>
          <a:srgbClr val="1B1F3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97280"/>
            <a:ext cx="7863840" cy="128016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r>
              <a:rPr lang="en-US" sz="4600" b="1" dirty="0">
                <a:solidFill>
                  <a:schemeClr val="bg1"/>
                </a:solidFill>
              </a:rPr>
              <a:t>Titel</a:t>
            </a:r>
            <a:endParaRPr lang="en-US" sz="4600" dirty="0"/>
          </a:p>
        </p:txBody>
      </p:sp>
      <p:sp>
        <p:nvSpPr>
          <p:cNvPr id="3" name="Text 0"/>
          <p:cNvSpPr>
            <a:spLocks noGrp="1"/>
          </p:cNvSpPr>
          <p:nvPr>
            <p:ph type="body" idx="101" hasCustomPrompt="1"/>
          </p:nvPr>
        </p:nvSpPr>
        <p:spPr>
          <a:xfrm>
            <a:off x="640080" y="2514600"/>
            <a:ext cx="7863840" cy="82296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r>
              <a:rPr lang="en-US" sz="2200" dirty="0">
                <a:solidFill>
                  <a:schemeClr val="bg2"/>
                </a:solidFill>
              </a:rPr>
              <a:t>Untertitel</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F3F5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r>
              <a:rPr lang="en-US" sz="3000" b="1" dirty="0">
                <a:solidFill>
                  <a:schemeClr val="tx2"/>
                </a:solidFill>
              </a:rPr>
              <a:t>Titel</a:t>
            </a: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marL="0" indent="0">
              <a:buNone/>
            </a:pPr>
            <a:r>
              <a:rPr lang="en-US" sz="1000" dirty="0">
                <a:solidFill>
                  <a:srgbClr val="565C75"/>
                </a:solidFill>
              </a:rPr>
              <a:t>KI UseCase Evaluator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_DUNKEL">
    <p:bg>
      <p:bgPr>
        <a:solidFill>
          <a:srgbClr val="1B1F3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r>
              <a:rPr lang="en-US" sz="3000" b="1" dirty="0">
                <a:solidFill>
                  <a:schemeClr val="bg1"/>
                </a:solidFill>
              </a:rPr>
              <a:t>Titel</a:t>
            </a: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marL="0" indent="0">
              <a:buNone/>
            </a:pPr>
            <a:r>
              <a:rPr lang="en-US" sz="1000" dirty="0">
                <a:solidFill>
                  <a:srgbClr val="B8BCD0"/>
                </a:solidFill>
              </a:rPr>
              <a:t>KI UseCase Evaluator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BCD0"/>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097280"/>
            <a:ext cx="7863840" cy="1280160"/>
          </a:xfrm>
          <a:prstGeom prst="rect">
            <a:avLst/>
          </a:prstGeom>
          <a:noFill/>
          <a:ln/>
        </p:spPr>
        <p:txBody>
          <a:bodyPr wrap="square" lIns="0" tIns="0" rIns="0" bIns="0" rtlCol="0" anchor="b"/>
          <a:lstStyle/>
          <a:p>
            <a:pPr marL="0" indent="0" algn="l">
              <a:buNone/>
            </a:pPr>
            <a:r>
              <a:rPr lang="en-US" sz="4600" b="1" dirty="0">
                <a:solidFill>
                  <a:schemeClr val="bg1"/>
                </a:solidFill>
              </a:rPr>
              <a:t>Wann lohnt sich KI wirklich?</a:t>
            </a:r>
            <a:endParaRPr lang="en-US" sz="4600" dirty="0"/>
          </a:p>
        </p:txBody>
      </p:sp>
      <p:sp>
        <p:nvSpPr>
          <p:cNvPr id="4" name="Text 0"/>
          <p:cNvSpPr>
            <a:spLocks noGrp="1"/>
          </p:cNvSpPr>
          <p:nvPr>
            <p:ph type="body" idx="101" hasCustomPrompt="1"/>
          </p:nvPr>
        </p:nvSpPr>
        <p:spPr>
          <a:xfrm>
            <a:off x="640080" y="2514600"/>
            <a:ext cx="7863840" cy="822960"/>
          </a:xfrm>
          <a:prstGeom prst="rect">
            <a:avLst/>
          </a:prstGeom>
          <a:noFill/>
          <a:ln/>
        </p:spPr>
        <p:txBody>
          <a:bodyPr wrap="square" lIns="0" tIns="0" rIns="0" bIns="0" rtlCol="0" anchor="t"/>
          <a:lstStyle/>
          <a:p>
            <a:pPr marL="0" indent="0" algn="l">
              <a:buNone/>
            </a:pPr>
            <a:r>
              <a:rPr lang="en-US" sz="2200" dirty="0">
                <a:solidFill>
                  <a:schemeClr val="bg2"/>
                </a:solidFill>
              </a:rPr>
              <a:t>Unsere App prüft KI-Ideen und gibt eine begründete Empfehlung</a:t>
            </a:r>
            <a:endParaRPr lang="en-US" sz="2200" dirty="0"/>
          </a:p>
        </p:txBody>
      </p:sp>
      <p:sp>
        <p:nvSpPr>
          <p:cNvPr id="5" name="Text 2"/>
          <p:cNvSpPr txBox="1"/>
          <p:nvPr/>
        </p:nvSpPr>
        <p:spPr>
          <a:xfrm>
            <a:off x="640080" y="3200400"/>
            <a:ext cx="7315200" cy="274320"/>
          </a:xfrm>
          <a:prstGeom prst="rect">
            <a:avLst/>
          </a:prstGeom>
          <a:noFill/>
          <a:ln/>
        </p:spPr>
        <p:txBody>
          <a:bodyPr wrap="square" lIns="0" tIns="0" rIns="0" bIns="0" rtlCol="0" anchor="t"/>
          <a:lstStyle/>
          <a:p>
            <a:pPr marL="0" indent="0">
              <a:buNone/>
            </a:pPr>
            <a:r>
              <a:rPr lang="en-US" sz="1400" dirty="0">
                <a:solidFill>
                  <a:srgbClr val="B8BCD0"/>
                </a:solidFill>
              </a:rPr>
              <a:t>KI UseCase Evaluator · NoSQL-Projekt mit MongoDB</a:t>
            </a:r>
            <a:endParaRPr lang="en-US" sz="1400" dirty="0"/>
          </a:p>
        </p:txBody>
      </p:sp>
      <p:sp>
        <p:nvSpPr>
          <p:cNvPr id="6" name="Empfehlung KI sinnvoll"/>
          <p:cNvSpPr txBox="1"/>
          <p:nvPr/>
        </p:nvSpPr>
        <p:spPr>
          <a:xfrm>
            <a:off x="640080" y="3840480"/>
            <a:ext cx="1143000" cy="365760"/>
          </a:xfrm>
          <a:prstGeom prst="roundRect">
            <a:avLst>
              <a:gd name="adj" fmla="val 25000"/>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7" name="Empfehlung KI als Assistenz"/>
          <p:cNvSpPr txBox="1"/>
          <p:nvPr/>
        </p:nvSpPr>
        <p:spPr>
          <a:xfrm>
            <a:off x="1920240" y="3840480"/>
            <a:ext cx="1463040" cy="365760"/>
          </a:xfrm>
          <a:prstGeom prst="roundRect">
            <a:avLst>
              <a:gd name="adj" fmla="val 25000"/>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a:t>
            </a:r>
            <a:endParaRPr lang="en-US" sz="1300" dirty="0"/>
          </a:p>
        </p:txBody>
      </p:sp>
      <p:sp>
        <p:nvSpPr>
          <p:cNvPr id="8" name="Empfehlung Klassisch"/>
          <p:cNvSpPr txBox="1"/>
          <p:nvPr/>
        </p:nvSpPr>
        <p:spPr>
          <a:xfrm>
            <a:off x="3520440" y="3840480"/>
            <a:ext cx="1051560" cy="365760"/>
          </a:xfrm>
          <a:prstGeom prst="roundRect">
            <a:avLst>
              <a:gd name="adj" fmla="val 25000"/>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a:t>
            </a:r>
            <a:endParaRPr lang="en-US" sz="1300" dirty="0"/>
          </a:p>
        </p:txBody>
      </p:sp>
      <p:sp>
        <p:nvSpPr>
          <p:cNvPr id="9" name="Empfehlung Manuell"/>
          <p:cNvSpPr txBox="1"/>
          <p:nvPr/>
        </p:nvSpPr>
        <p:spPr>
          <a:xfrm>
            <a:off x="4709160" y="3840480"/>
            <a:ext cx="1051560" cy="365760"/>
          </a:xfrm>
          <a:prstGeom prst="roundRect">
            <a:avLst>
              <a:gd name="adj" fmla="val 25000"/>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a:t>
            </a:r>
            <a:endParaRPr lang="en-US" sz="1300" dirty="0"/>
          </a:p>
        </p:txBody>
      </p:sp>
      <p:sp>
        <p:nvSpPr>
          <p:cNvPr id="10" name="Empfehlung Unklar"/>
          <p:cNvSpPr txBox="1"/>
          <p:nvPr/>
        </p:nvSpPr>
        <p:spPr>
          <a:xfrm>
            <a:off x="5897880" y="3840480"/>
            <a:ext cx="914400" cy="365760"/>
          </a:xfrm>
          <a:prstGeom prst="roundRect">
            <a:avLst>
              <a:gd name="adj" fmla="val 25000"/>
            </a:avLst>
          </a:prstGeom>
          <a:solidFill>
            <a:srgbClr val="9AA0B4"/>
          </a:solidFill>
          <a:ln/>
        </p:spPr>
        <p:txBody>
          <a:bodyPr wrap="square" lIns="0" tIns="0" rIns="0" bIns="0" rtlCol="0" anchor="ctr"/>
          <a:lstStyle/>
          <a:p>
            <a:pPr marL="0" indent="0" algn="ctr">
              <a:buNone/>
            </a:pPr>
            <a:r>
              <a:rPr lang="en-US" sz="1300" b="1" dirty="0">
                <a:solidFill>
                  <a:srgbClr val="111427"/>
                </a:solidFill>
              </a:rPr>
              <a:t>Unklar</a:t>
            </a:r>
            <a:endParaRPr lang="en-US" sz="1300" dirty="0"/>
          </a:p>
        </p:txBody>
      </p:sp>
      <p:sp>
        <p:nvSpPr>
          <p:cNvPr id="11" name="Text 8"/>
          <p:cNvSpPr txBox="1"/>
          <p:nvPr/>
        </p:nvSpPr>
        <p:spPr>
          <a:xfrm>
            <a:off x="640080" y="4297680"/>
            <a:ext cx="7315200" cy="274320"/>
          </a:xfrm>
          <a:prstGeom prst="rect">
            <a:avLst/>
          </a:prstGeom>
          <a:noFill/>
          <a:ln/>
        </p:spPr>
        <p:txBody>
          <a:bodyPr wrap="square" lIns="0" tIns="0" rIns="0" bIns="0" rtlCol="0" anchor="t"/>
          <a:lstStyle/>
          <a:p>
            <a:pPr marL="0" indent="0">
              <a:buNone/>
            </a:pPr>
            <a:r>
              <a:rPr lang="en-US" sz="1200" dirty="0">
                <a:solidFill>
                  <a:srgbClr val="B8BCD0"/>
                </a:solidFill>
              </a:rPr>
              <a:t>Die fünf möglichen Antworten der 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Das Problem: Nicht jede KI-Idee lohnt sich</a:t>
            </a:r>
            <a:endParaRPr lang="en-US" sz="3000" dirty="0"/>
          </a:p>
        </p:txBody>
      </p:sp>
      <p:sp>
        <p:nvSpPr>
          <p:cNvPr id="4" name="Problem-Karte"/>
          <p:cNvSpPr/>
          <p:nvPr/>
        </p:nvSpPr>
        <p:spPr>
          <a:xfrm>
            <a:off x="457200" y="1188720"/>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Icon-Kreis"/>
          <p:cNvSpPr/>
          <p:nvPr/>
        </p:nvSpPr>
        <p:spPr>
          <a:xfrm>
            <a:off x="621792" y="1344168"/>
            <a:ext cx="493776" cy="493776"/>
          </a:xfrm>
          <a:prstGeom prst="ellipse">
            <a:avLst/>
          </a:prstGeom>
          <a:solidFill>
            <a:srgbClr val="FFD400"/>
          </a:solidFill>
          <a:ln w="12700">
            <a:solidFill>
              <a:srgbClr val="FFD400"/>
            </a:solidFill>
            <a:prstDash val="solid"/>
          </a:ln>
        </p:spPr>
        <p:txBody>
          <a:bodyPr/>
          <a:lstStyle/>
          <a:p>
            <a:endParaRPr lang="de-CH"/>
          </a:p>
        </p:txBody>
      </p:sp>
      <p:pic>
        <p:nvPicPr>
          <p:cNvPr id="6" name="Image 0" descr="Icon"/>
          <p:cNvPicPr>
            <a:picLocks noChangeAspect="1"/>
          </p:cNvPicPr>
          <p:nvPr/>
        </p:nvPicPr>
        <p:blipFill>
          <a:blip r:embed="rId3"/>
          <a:stretch>
            <a:fillRect/>
          </a:stretch>
        </p:blipFill>
        <p:spPr>
          <a:xfrm>
            <a:off x="745236" y="1467612"/>
            <a:ext cx="246888" cy="246888"/>
          </a:xfrm>
          <a:prstGeom prst="rect">
            <a:avLst/>
          </a:prstGeom>
        </p:spPr>
      </p:pic>
      <p:sp>
        <p:nvSpPr>
          <p:cNvPr id="7" name="Text 3"/>
          <p:cNvSpPr txBox="1"/>
          <p:nvPr/>
        </p:nvSpPr>
        <p:spPr>
          <a:xfrm>
            <a:off x="1298448" y="1298448"/>
            <a:ext cx="3886200" cy="274320"/>
          </a:xfrm>
          <a:prstGeom prst="rect">
            <a:avLst/>
          </a:prstGeom>
          <a:noFill/>
          <a:ln/>
        </p:spPr>
        <p:txBody>
          <a:bodyPr wrap="square" lIns="0" tIns="0" rIns="0" bIns="0" rtlCol="0" anchor="t"/>
          <a:lstStyle/>
          <a:p>
            <a:pPr marL="0" indent="0">
              <a:buNone/>
            </a:pPr>
            <a:r>
              <a:rPr lang="en-US" sz="1600" b="1" dirty="0">
                <a:solidFill>
                  <a:schemeClr val="tx2"/>
                </a:solidFill>
              </a:rPr>
              <a:t>Zu grosse Lösung</a:t>
            </a:r>
            <a:endParaRPr lang="en-US" sz="1600" dirty="0"/>
          </a:p>
        </p:txBody>
      </p:sp>
      <p:sp>
        <p:nvSpPr>
          <p:cNvPr id="8" name="Text 4"/>
          <p:cNvSpPr txBox="1"/>
          <p:nvPr/>
        </p:nvSpPr>
        <p:spPr>
          <a:xfrm>
            <a:off x="1298448" y="1591056"/>
            <a:ext cx="3886200" cy="274320"/>
          </a:xfrm>
          <a:prstGeom prst="rect">
            <a:avLst/>
          </a:prstGeom>
          <a:noFill/>
          <a:ln/>
        </p:spPr>
        <p:txBody>
          <a:bodyPr wrap="square" lIns="0" tIns="0" rIns="0" bIns="0" rtlCol="0" anchor="t"/>
          <a:lstStyle/>
          <a:p>
            <a:pPr marL="0" indent="0">
              <a:buNone/>
            </a:pPr>
            <a:r>
              <a:rPr lang="en-US" sz="1400" dirty="0">
                <a:solidFill>
                  <a:srgbClr val="565C75"/>
                </a:solidFill>
              </a:rPr>
              <a:t>KI, obwohl ein einfaches Programm reicht.</a:t>
            </a:r>
            <a:endParaRPr lang="en-US" sz="1400" dirty="0"/>
          </a:p>
        </p:txBody>
      </p:sp>
      <p:sp>
        <p:nvSpPr>
          <p:cNvPr id="9" name="Problem-Karte"/>
          <p:cNvSpPr/>
          <p:nvPr/>
        </p:nvSpPr>
        <p:spPr>
          <a:xfrm>
            <a:off x="457200" y="2121408"/>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0" name="Icon-Kreis"/>
          <p:cNvSpPr/>
          <p:nvPr/>
        </p:nvSpPr>
        <p:spPr>
          <a:xfrm>
            <a:off x="621792" y="2276856"/>
            <a:ext cx="493776" cy="493776"/>
          </a:xfrm>
          <a:prstGeom prst="ellipse">
            <a:avLst/>
          </a:prstGeom>
          <a:solidFill>
            <a:srgbClr val="3D8BFF"/>
          </a:solidFill>
          <a:ln w="12700">
            <a:solidFill>
              <a:srgbClr val="3D8BFF"/>
            </a:solidFill>
            <a:prstDash val="solid"/>
          </a:ln>
        </p:spPr>
        <p:txBody>
          <a:bodyPr/>
          <a:lstStyle/>
          <a:p>
            <a:endParaRPr lang="de-CH"/>
          </a:p>
        </p:txBody>
      </p:sp>
      <p:pic>
        <p:nvPicPr>
          <p:cNvPr id="11" name="Image 1" descr="Icon"/>
          <p:cNvPicPr>
            <a:picLocks noChangeAspect="1"/>
          </p:cNvPicPr>
          <p:nvPr/>
        </p:nvPicPr>
        <p:blipFill>
          <a:blip r:embed="rId4"/>
          <a:stretch>
            <a:fillRect/>
          </a:stretch>
        </p:blipFill>
        <p:spPr>
          <a:xfrm>
            <a:off x="745236" y="2400300"/>
            <a:ext cx="246888" cy="246888"/>
          </a:xfrm>
          <a:prstGeom prst="rect">
            <a:avLst/>
          </a:prstGeom>
        </p:spPr>
      </p:pic>
      <p:sp>
        <p:nvSpPr>
          <p:cNvPr id="12" name="Text 7"/>
          <p:cNvSpPr txBox="1"/>
          <p:nvPr/>
        </p:nvSpPr>
        <p:spPr>
          <a:xfrm>
            <a:off x="1298448" y="2231136"/>
            <a:ext cx="3886200" cy="274320"/>
          </a:xfrm>
          <a:prstGeom prst="rect">
            <a:avLst/>
          </a:prstGeom>
          <a:noFill/>
          <a:ln/>
        </p:spPr>
        <p:txBody>
          <a:bodyPr wrap="square" lIns="0" tIns="0" rIns="0" bIns="0" rtlCol="0" anchor="t"/>
          <a:lstStyle/>
          <a:p>
            <a:pPr marL="0" indent="0">
              <a:buNone/>
            </a:pPr>
            <a:r>
              <a:rPr lang="en-US" sz="1600" b="1" dirty="0">
                <a:solidFill>
                  <a:schemeClr val="tx2"/>
                </a:solidFill>
              </a:rPr>
              <a:t>Zu selten gebraucht</a:t>
            </a:r>
            <a:endParaRPr lang="en-US" sz="1600" dirty="0"/>
          </a:p>
        </p:txBody>
      </p:sp>
      <p:sp>
        <p:nvSpPr>
          <p:cNvPr id="13" name="Text 8"/>
          <p:cNvSpPr txBox="1"/>
          <p:nvPr/>
        </p:nvSpPr>
        <p:spPr>
          <a:xfrm>
            <a:off x="1298448" y="2523744"/>
            <a:ext cx="3886200" cy="274320"/>
          </a:xfrm>
          <a:prstGeom prst="rect">
            <a:avLst/>
          </a:prstGeom>
          <a:noFill/>
          <a:ln/>
        </p:spPr>
        <p:txBody>
          <a:bodyPr wrap="square" lIns="0" tIns="0" rIns="0" bIns="0" rtlCol="0" anchor="t"/>
          <a:lstStyle/>
          <a:p>
            <a:pPr marL="0" indent="0">
              <a:buNone/>
            </a:pPr>
            <a:r>
              <a:rPr lang="en-US" sz="1400" dirty="0">
                <a:solidFill>
                  <a:srgbClr val="565C75"/>
                </a:solidFill>
              </a:rPr>
              <a:t>Automatisieren, obwohl es fast nie vorkommt.</a:t>
            </a:r>
            <a:endParaRPr lang="en-US" sz="1400" dirty="0"/>
          </a:p>
        </p:txBody>
      </p:sp>
      <p:sp>
        <p:nvSpPr>
          <p:cNvPr id="14" name="Problem-Karte"/>
          <p:cNvSpPr/>
          <p:nvPr/>
        </p:nvSpPr>
        <p:spPr>
          <a:xfrm>
            <a:off x="457200" y="3054096"/>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Icon-Kreis"/>
          <p:cNvSpPr/>
          <p:nvPr/>
        </p:nvSpPr>
        <p:spPr>
          <a:xfrm>
            <a:off x="621792" y="3209544"/>
            <a:ext cx="493776" cy="493776"/>
          </a:xfrm>
          <a:prstGeom prst="ellipse">
            <a:avLst/>
          </a:prstGeom>
          <a:solidFill>
            <a:srgbClr val="FF5A4F"/>
          </a:solidFill>
          <a:ln w="12700">
            <a:solidFill>
              <a:srgbClr val="FF5A4F"/>
            </a:solidFill>
            <a:prstDash val="solid"/>
          </a:ln>
        </p:spPr>
        <p:txBody>
          <a:bodyPr/>
          <a:lstStyle/>
          <a:p>
            <a:endParaRPr lang="de-CH"/>
          </a:p>
        </p:txBody>
      </p:sp>
      <p:pic>
        <p:nvPicPr>
          <p:cNvPr id="16" name="Image 2" descr="Icon"/>
          <p:cNvPicPr>
            <a:picLocks noChangeAspect="1"/>
          </p:cNvPicPr>
          <p:nvPr/>
        </p:nvPicPr>
        <p:blipFill>
          <a:blip r:embed="rId5"/>
          <a:stretch>
            <a:fillRect/>
          </a:stretch>
        </p:blipFill>
        <p:spPr>
          <a:xfrm>
            <a:off x="745236" y="3332988"/>
            <a:ext cx="246888" cy="246888"/>
          </a:xfrm>
          <a:prstGeom prst="rect">
            <a:avLst/>
          </a:prstGeom>
        </p:spPr>
      </p:pic>
      <p:sp>
        <p:nvSpPr>
          <p:cNvPr id="17" name="Text 11"/>
          <p:cNvSpPr txBox="1"/>
          <p:nvPr/>
        </p:nvSpPr>
        <p:spPr>
          <a:xfrm>
            <a:off x="1298448" y="3163824"/>
            <a:ext cx="3886200" cy="274320"/>
          </a:xfrm>
          <a:prstGeom prst="rect">
            <a:avLst/>
          </a:prstGeom>
          <a:noFill/>
          <a:ln/>
        </p:spPr>
        <p:txBody>
          <a:bodyPr wrap="square" lIns="0" tIns="0" rIns="0" bIns="0" rtlCol="0" anchor="t"/>
          <a:lstStyle/>
          <a:p>
            <a:pPr marL="0" indent="0">
              <a:buNone/>
            </a:pPr>
            <a:r>
              <a:rPr lang="en-US" sz="1600" b="1" dirty="0">
                <a:solidFill>
                  <a:schemeClr val="tx2"/>
                </a:solidFill>
              </a:rPr>
              <a:t>Zu riskant</a:t>
            </a:r>
            <a:endParaRPr lang="en-US" sz="1600" dirty="0"/>
          </a:p>
        </p:txBody>
      </p:sp>
      <p:sp>
        <p:nvSpPr>
          <p:cNvPr id="18" name="Text 12"/>
          <p:cNvSpPr txBox="1"/>
          <p:nvPr/>
        </p:nvSpPr>
        <p:spPr>
          <a:xfrm>
            <a:off x="1298448" y="3456432"/>
            <a:ext cx="3886200" cy="274320"/>
          </a:xfrm>
          <a:prstGeom prst="rect">
            <a:avLst/>
          </a:prstGeom>
          <a:noFill/>
          <a:ln/>
        </p:spPr>
        <p:txBody>
          <a:bodyPr wrap="square" lIns="0" tIns="0" rIns="0" bIns="0" rtlCol="0" anchor="t"/>
          <a:lstStyle/>
          <a:p>
            <a:pPr marL="0" indent="0">
              <a:buNone/>
            </a:pPr>
            <a:r>
              <a:rPr lang="en-US" sz="1400" dirty="0">
                <a:solidFill>
                  <a:srgbClr val="565C75"/>
                </a:solidFill>
              </a:rPr>
              <a:t>KI allein entscheiden, obwohl Fehler teuer sind.</a:t>
            </a:r>
            <a:endParaRPr lang="en-US" sz="1400" dirty="0"/>
          </a:p>
        </p:txBody>
      </p:sp>
      <p:sp>
        <p:nvSpPr>
          <p:cNvPr id="19" name="Leitfrage"/>
          <p:cNvSpPr/>
          <p:nvPr/>
        </p:nvSpPr>
        <p:spPr>
          <a:xfrm>
            <a:off x="5577840" y="1188720"/>
            <a:ext cx="3108960" cy="2706624"/>
          </a:xfrm>
          <a:prstGeom prst="roundRect">
            <a:avLst>
              <a:gd name="adj" fmla="val 2703"/>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20" name="Text 14"/>
          <p:cNvSpPr txBox="1"/>
          <p:nvPr/>
        </p:nvSpPr>
        <p:spPr>
          <a:xfrm>
            <a:off x="5806440" y="1371600"/>
            <a:ext cx="2651760" cy="274320"/>
          </a:xfrm>
          <a:prstGeom prst="rect">
            <a:avLst/>
          </a:prstGeom>
          <a:noFill/>
          <a:ln/>
        </p:spPr>
        <p:txBody>
          <a:bodyPr wrap="square" lIns="0" tIns="0" rIns="0" bIns="0" rtlCol="0" anchor="t"/>
          <a:lstStyle/>
          <a:p>
            <a:pPr marL="0" indent="0">
              <a:buNone/>
            </a:pPr>
            <a:r>
              <a:rPr lang="en-US" sz="1200" b="1" kern="0" spc="200" dirty="0">
                <a:solidFill>
                  <a:srgbClr val="B8BCD0"/>
                </a:solidFill>
              </a:rPr>
              <a:t>UNSERE FRAGE</a:t>
            </a:r>
            <a:endParaRPr lang="en-US" sz="1200" dirty="0"/>
          </a:p>
        </p:txBody>
      </p:sp>
      <p:sp>
        <p:nvSpPr>
          <p:cNvPr id="21" name="Text 15"/>
          <p:cNvSpPr txBox="1"/>
          <p:nvPr/>
        </p:nvSpPr>
        <p:spPr>
          <a:xfrm>
            <a:off x="5806440" y="1691640"/>
            <a:ext cx="2651760" cy="2103120"/>
          </a:xfrm>
          <a:prstGeom prst="rect">
            <a:avLst/>
          </a:prstGeom>
          <a:noFill/>
          <a:ln/>
        </p:spPr>
        <p:txBody>
          <a:bodyPr wrap="square" lIns="0" tIns="0" rIns="0" bIns="0" rtlCol="0" anchor="t"/>
          <a:lstStyle/>
          <a:p>
            <a:pPr marL="0" indent="0">
              <a:buNone/>
            </a:pPr>
            <a:r>
              <a:rPr lang="en-US" sz="1800" dirty="0">
                <a:solidFill>
                  <a:schemeClr val="bg1"/>
                </a:solidFill>
              </a:rPr>
              <a:t>Wann bringt KI mehr Nutzen als ein einfaches Programm oder Handarbeit?</a:t>
            </a:r>
            <a:endParaRPr lang="en-US" sz="1800" dirty="0"/>
          </a:p>
        </p:txBody>
      </p:sp>
      <p:sp>
        <p:nvSpPr>
          <p:cNvPr id="22" name="Ziel"/>
          <p:cNvSpPr/>
          <p:nvPr/>
        </p:nvSpPr>
        <p:spPr>
          <a:xfrm>
            <a:off x="457200" y="4023360"/>
            <a:ext cx="8229600" cy="594360"/>
          </a:xfrm>
          <a:prstGeom prst="roundRect">
            <a:avLst>
              <a:gd name="adj" fmla="val 1230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Text 17"/>
          <p:cNvSpPr txBox="1"/>
          <p:nvPr/>
        </p:nvSpPr>
        <p:spPr>
          <a:xfrm>
            <a:off x="685800" y="4023360"/>
            <a:ext cx="7772400" cy="594360"/>
          </a:xfrm>
          <a:prstGeom prst="rect">
            <a:avLst/>
          </a:prstGeom>
          <a:noFill/>
          <a:ln/>
        </p:spPr>
        <p:txBody>
          <a:bodyPr wrap="square" lIns="0" tIns="0" rIns="0" bIns="0" rtlCol="0" anchor="ctr"/>
          <a:lstStyle/>
          <a:p>
            <a:pPr marL="0" indent="0">
              <a:buNone/>
            </a:pPr>
            <a:r>
              <a:rPr lang="en-US" sz="1500" b="1" dirty="0">
                <a:solidFill>
                  <a:schemeClr val="tx2"/>
                </a:solidFill>
              </a:rPr>
              <a:t>Unser Ziel: </a:t>
            </a:r>
            <a:r>
              <a:rPr lang="en-US" sz="1500" dirty="0">
                <a:solidFill>
                  <a:schemeClr val="tx1"/>
                </a:solidFill>
              </a:rPr>
              <a:t>eine App, die KI-Ideen prüft und begründet empfiehlt</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Die fünf möglichen Antworten</a:t>
            </a:r>
            <a:endParaRPr lang="en-US" sz="3000" dirty="0"/>
          </a:p>
        </p:txBody>
      </p:sp>
      <p:sp>
        <p:nvSpPr>
          <p:cNvPr id="4" name="Antwort-Zeile"/>
          <p:cNvSpPr/>
          <p:nvPr/>
        </p:nvSpPr>
        <p:spPr>
          <a:xfrm>
            <a:off x="457200" y="1143000"/>
            <a:ext cx="8229600" cy="603504"/>
          </a:xfrm>
          <a:prstGeom prst="roundRect">
            <a:avLst>
              <a:gd name="adj" fmla="val 121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Antwort KI sinnvoll"/>
          <p:cNvSpPr txBox="1"/>
          <p:nvPr/>
        </p:nvSpPr>
        <p:spPr>
          <a:xfrm>
            <a:off x="594360" y="1271016"/>
            <a:ext cx="1645920" cy="347472"/>
          </a:xfrm>
          <a:prstGeom prst="roundRect">
            <a:avLst>
              <a:gd name="adj" fmla="val 26316"/>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6" name="Text 3"/>
          <p:cNvSpPr txBox="1"/>
          <p:nvPr/>
        </p:nvSpPr>
        <p:spPr>
          <a:xfrm>
            <a:off x="2423160" y="1143000"/>
            <a:ext cx="3566160" cy="603504"/>
          </a:xfrm>
          <a:prstGeom prst="rect">
            <a:avLst/>
          </a:prstGeom>
          <a:noFill/>
          <a:ln/>
        </p:spPr>
        <p:txBody>
          <a:bodyPr wrap="square" lIns="0" tIns="0" rIns="0" bIns="0" rtlCol="0" anchor="ctr"/>
          <a:lstStyle/>
          <a:p>
            <a:pPr marL="0" indent="0">
              <a:buNone/>
            </a:pPr>
            <a:r>
              <a:rPr lang="en-US" sz="1500" dirty="0">
                <a:solidFill>
                  <a:schemeClr val="tx1"/>
                </a:solidFill>
              </a:rPr>
              <a:t>Die KI erledigt die Arbeit selbständig</a:t>
            </a:r>
            <a:endParaRPr lang="en-US" sz="1500" dirty="0"/>
          </a:p>
        </p:txBody>
      </p:sp>
      <p:sp>
        <p:nvSpPr>
          <p:cNvPr id="7" name="Text 4"/>
          <p:cNvSpPr txBox="1"/>
          <p:nvPr/>
        </p:nvSpPr>
        <p:spPr>
          <a:xfrm>
            <a:off x="6035040" y="1143000"/>
            <a:ext cx="2560320" cy="603504"/>
          </a:xfrm>
          <a:prstGeom prst="rect">
            <a:avLst/>
          </a:prstGeom>
          <a:noFill/>
          <a:ln/>
        </p:spPr>
        <p:txBody>
          <a:bodyPr wrap="square" lIns="0" tIns="0" rIns="0" bIns="0" rtlCol="0" anchor="ctr"/>
          <a:lstStyle/>
          <a:p>
            <a:pPr marL="0" indent="0">
              <a:buNone/>
            </a:pPr>
            <a:r>
              <a:rPr lang="en-US" sz="1400" dirty="0">
                <a:solidFill>
                  <a:srgbClr val="565C75"/>
                </a:solidFill>
              </a:rPr>
              <a:t>z. B. </a:t>
            </a:r>
            <a:r>
              <a:rPr lang="en-US" sz="1400" b="1" dirty="0">
                <a:solidFill>
                  <a:schemeClr val="tx2"/>
                </a:solidFill>
              </a:rPr>
              <a:t>E-Mails nach Thema sortieren</a:t>
            </a:r>
            <a:endParaRPr lang="en-US" sz="1400" dirty="0"/>
          </a:p>
        </p:txBody>
      </p:sp>
      <p:sp>
        <p:nvSpPr>
          <p:cNvPr id="8" name="Antwort-Zeile"/>
          <p:cNvSpPr/>
          <p:nvPr/>
        </p:nvSpPr>
        <p:spPr>
          <a:xfrm>
            <a:off x="457200" y="1837944"/>
            <a:ext cx="8229600" cy="603504"/>
          </a:xfrm>
          <a:prstGeom prst="roundRect">
            <a:avLst>
              <a:gd name="adj" fmla="val 121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Antwort KI als Assistenz"/>
          <p:cNvSpPr txBox="1"/>
          <p:nvPr/>
        </p:nvSpPr>
        <p:spPr>
          <a:xfrm>
            <a:off x="594360" y="1965960"/>
            <a:ext cx="1645920" cy="347472"/>
          </a:xfrm>
          <a:prstGeom prst="roundRect">
            <a:avLst>
              <a:gd name="adj" fmla="val 26316"/>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a:t>
            </a:r>
            <a:endParaRPr lang="en-US" sz="1300" dirty="0"/>
          </a:p>
        </p:txBody>
      </p:sp>
      <p:sp>
        <p:nvSpPr>
          <p:cNvPr id="10" name="Text 7"/>
          <p:cNvSpPr txBox="1"/>
          <p:nvPr/>
        </p:nvSpPr>
        <p:spPr>
          <a:xfrm>
            <a:off x="2423160" y="1837944"/>
            <a:ext cx="3566160" cy="603504"/>
          </a:xfrm>
          <a:prstGeom prst="rect">
            <a:avLst/>
          </a:prstGeom>
          <a:noFill/>
          <a:ln/>
        </p:spPr>
        <p:txBody>
          <a:bodyPr wrap="square" lIns="0" tIns="0" rIns="0" bIns="0" rtlCol="0" anchor="ctr"/>
          <a:lstStyle/>
          <a:p>
            <a:pPr marL="0" indent="0">
              <a:buNone/>
            </a:pPr>
            <a:r>
              <a:rPr lang="en-US" sz="1500" dirty="0">
                <a:solidFill>
                  <a:schemeClr val="tx1"/>
                </a:solidFill>
              </a:rPr>
              <a:t>Die KI schlägt vor, ein Mensch entscheidet</a:t>
            </a:r>
            <a:endParaRPr lang="en-US" sz="1500" dirty="0"/>
          </a:p>
        </p:txBody>
      </p:sp>
      <p:sp>
        <p:nvSpPr>
          <p:cNvPr id="11" name="Text 8"/>
          <p:cNvSpPr txBox="1"/>
          <p:nvPr/>
        </p:nvSpPr>
        <p:spPr>
          <a:xfrm>
            <a:off x="6035040" y="1837944"/>
            <a:ext cx="2560320" cy="603504"/>
          </a:xfrm>
          <a:prstGeom prst="rect">
            <a:avLst/>
          </a:prstGeom>
          <a:noFill/>
          <a:ln/>
        </p:spPr>
        <p:txBody>
          <a:bodyPr wrap="square" lIns="0" tIns="0" rIns="0" bIns="0" rtlCol="0" anchor="ctr"/>
          <a:lstStyle/>
          <a:p>
            <a:pPr marL="0" indent="0">
              <a:buNone/>
            </a:pPr>
            <a:r>
              <a:rPr lang="en-US" sz="1400" dirty="0">
                <a:solidFill>
                  <a:srgbClr val="565C75"/>
                </a:solidFill>
              </a:rPr>
              <a:t>z. B. </a:t>
            </a:r>
            <a:r>
              <a:rPr lang="en-US" sz="1400" b="1" dirty="0">
                <a:solidFill>
                  <a:schemeClr val="tx2"/>
                </a:solidFill>
              </a:rPr>
              <a:t>Zweitmeinung bei Röntgenbildern</a:t>
            </a:r>
            <a:endParaRPr lang="en-US" sz="1400" dirty="0"/>
          </a:p>
        </p:txBody>
      </p:sp>
      <p:sp>
        <p:nvSpPr>
          <p:cNvPr id="12" name="Antwort-Zeile"/>
          <p:cNvSpPr/>
          <p:nvPr/>
        </p:nvSpPr>
        <p:spPr>
          <a:xfrm>
            <a:off x="457200" y="2532888"/>
            <a:ext cx="8229600" cy="603504"/>
          </a:xfrm>
          <a:prstGeom prst="roundRect">
            <a:avLst>
              <a:gd name="adj" fmla="val 121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3" name="Antwort Klassisch"/>
          <p:cNvSpPr txBox="1"/>
          <p:nvPr/>
        </p:nvSpPr>
        <p:spPr>
          <a:xfrm>
            <a:off x="594360" y="2660904"/>
            <a:ext cx="1645920" cy="347472"/>
          </a:xfrm>
          <a:prstGeom prst="roundRect">
            <a:avLst>
              <a:gd name="adj" fmla="val 26316"/>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a:t>
            </a:r>
            <a:endParaRPr lang="en-US" sz="1300" dirty="0"/>
          </a:p>
        </p:txBody>
      </p:sp>
      <p:sp>
        <p:nvSpPr>
          <p:cNvPr id="14" name="Text 11"/>
          <p:cNvSpPr txBox="1"/>
          <p:nvPr/>
        </p:nvSpPr>
        <p:spPr>
          <a:xfrm>
            <a:off x="2423160" y="2532888"/>
            <a:ext cx="3566160" cy="603504"/>
          </a:xfrm>
          <a:prstGeom prst="rect">
            <a:avLst/>
          </a:prstGeom>
          <a:noFill/>
          <a:ln/>
        </p:spPr>
        <p:txBody>
          <a:bodyPr wrap="square" lIns="0" tIns="0" rIns="0" bIns="0" rtlCol="0" anchor="ctr"/>
          <a:lstStyle/>
          <a:p>
            <a:pPr marL="0" indent="0">
              <a:buNone/>
            </a:pPr>
            <a:r>
              <a:rPr lang="en-US" sz="1500" dirty="0">
                <a:solidFill>
                  <a:schemeClr val="tx1"/>
                </a:solidFill>
              </a:rPr>
              <a:t>Ein einfaches Wenn-Dann-Programm reicht</a:t>
            </a:r>
            <a:endParaRPr lang="en-US" sz="1500" dirty="0"/>
          </a:p>
        </p:txBody>
      </p:sp>
      <p:sp>
        <p:nvSpPr>
          <p:cNvPr id="15" name="Text 12"/>
          <p:cNvSpPr txBox="1"/>
          <p:nvPr/>
        </p:nvSpPr>
        <p:spPr>
          <a:xfrm>
            <a:off x="6035040" y="2532888"/>
            <a:ext cx="2560320" cy="603504"/>
          </a:xfrm>
          <a:prstGeom prst="rect">
            <a:avLst/>
          </a:prstGeom>
          <a:noFill/>
          <a:ln/>
        </p:spPr>
        <p:txBody>
          <a:bodyPr wrap="square" lIns="0" tIns="0" rIns="0" bIns="0" rtlCol="0" anchor="ctr"/>
          <a:lstStyle/>
          <a:p>
            <a:pPr marL="0" indent="0">
              <a:buNone/>
            </a:pPr>
            <a:r>
              <a:rPr lang="en-US" sz="1400" dirty="0">
                <a:solidFill>
                  <a:srgbClr val="565C75"/>
                </a:solidFill>
              </a:rPr>
              <a:t>z. B. </a:t>
            </a:r>
            <a:r>
              <a:rPr lang="en-US" sz="1400" b="1" dirty="0">
                <a:solidFill>
                  <a:schemeClr val="tx2"/>
                </a:solidFill>
              </a:rPr>
              <a:t>Passwort zurücksetzen</a:t>
            </a:r>
            <a:endParaRPr lang="en-US" sz="1400" dirty="0"/>
          </a:p>
        </p:txBody>
      </p:sp>
      <p:sp>
        <p:nvSpPr>
          <p:cNvPr id="16" name="Antwort-Zeile"/>
          <p:cNvSpPr/>
          <p:nvPr/>
        </p:nvSpPr>
        <p:spPr>
          <a:xfrm>
            <a:off x="457200" y="3227832"/>
            <a:ext cx="8229600" cy="603504"/>
          </a:xfrm>
          <a:prstGeom prst="roundRect">
            <a:avLst>
              <a:gd name="adj" fmla="val 121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7" name="Antwort Manuell"/>
          <p:cNvSpPr txBox="1"/>
          <p:nvPr/>
        </p:nvSpPr>
        <p:spPr>
          <a:xfrm>
            <a:off x="594360" y="3355848"/>
            <a:ext cx="1645920" cy="347472"/>
          </a:xfrm>
          <a:prstGeom prst="roundRect">
            <a:avLst>
              <a:gd name="adj" fmla="val 26316"/>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a:t>
            </a:r>
            <a:endParaRPr lang="en-US" sz="1300" dirty="0"/>
          </a:p>
        </p:txBody>
      </p:sp>
      <p:sp>
        <p:nvSpPr>
          <p:cNvPr id="18" name="Text 15"/>
          <p:cNvSpPr txBox="1"/>
          <p:nvPr/>
        </p:nvSpPr>
        <p:spPr>
          <a:xfrm>
            <a:off x="2423160" y="3227832"/>
            <a:ext cx="3566160" cy="603504"/>
          </a:xfrm>
          <a:prstGeom prst="rect">
            <a:avLst/>
          </a:prstGeom>
          <a:noFill/>
          <a:ln/>
        </p:spPr>
        <p:txBody>
          <a:bodyPr wrap="square" lIns="0" tIns="0" rIns="0" bIns="0" rtlCol="0" anchor="ctr"/>
          <a:lstStyle/>
          <a:p>
            <a:pPr marL="0" indent="0">
              <a:buNone/>
            </a:pPr>
            <a:r>
              <a:rPr lang="en-US" sz="1500" dirty="0">
                <a:solidFill>
                  <a:schemeClr val="tx1"/>
                </a:solidFill>
              </a:rPr>
              <a:t>Von Hand ist besser, der Fall ist zu selten</a:t>
            </a:r>
            <a:endParaRPr lang="en-US" sz="1500" dirty="0"/>
          </a:p>
        </p:txBody>
      </p:sp>
      <p:sp>
        <p:nvSpPr>
          <p:cNvPr id="19" name="Text 16"/>
          <p:cNvSpPr txBox="1"/>
          <p:nvPr/>
        </p:nvSpPr>
        <p:spPr>
          <a:xfrm>
            <a:off x="6035040" y="3227832"/>
            <a:ext cx="2560320" cy="603504"/>
          </a:xfrm>
          <a:prstGeom prst="rect">
            <a:avLst/>
          </a:prstGeom>
          <a:noFill/>
          <a:ln/>
        </p:spPr>
        <p:txBody>
          <a:bodyPr wrap="square" lIns="0" tIns="0" rIns="0" bIns="0" rtlCol="0" anchor="ctr"/>
          <a:lstStyle/>
          <a:p>
            <a:pPr marL="0" indent="0">
              <a:buNone/>
            </a:pPr>
            <a:r>
              <a:rPr lang="en-US" sz="1400" dirty="0">
                <a:solidFill>
                  <a:srgbClr val="565C75"/>
                </a:solidFill>
              </a:rPr>
              <a:t>z. B. </a:t>
            </a:r>
            <a:r>
              <a:rPr lang="en-US" sz="1400" b="1" dirty="0">
                <a:solidFill>
                  <a:schemeClr val="tx2"/>
                </a:solidFill>
              </a:rPr>
              <a:t>Seltener Spezialfall</a:t>
            </a:r>
            <a:endParaRPr lang="en-US" sz="1400" dirty="0"/>
          </a:p>
        </p:txBody>
      </p:sp>
      <p:sp>
        <p:nvSpPr>
          <p:cNvPr id="20" name="Antwort-Zeile"/>
          <p:cNvSpPr/>
          <p:nvPr/>
        </p:nvSpPr>
        <p:spPr>
          <a:xfrm>
            <a:off x="457200" y="3922776"/>
            <a:ext cx="8229600" cy="603504"/>
          </a:xfrm>
          <a:prstGeom prst="roundRect">
            <a:avLst>
              <a:gd name="adj" fmla="val 1212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1" name="Antwort Unklar"/>
          <p:cNvSpPr txBox="1"/>
          <p:nvPr/>
        </p:nvSpPr>
        <p:spPr>
          <a:xfrm>
            <a:off x="594360" y="4050792"/>
            <a:ext cx="1645920" cy="347472"/>
          </a:xfrm>
          <a:prstGeom prst="roundRect">
            <a:avLst>
              <a:gd name="adj" fmla="val 26316"/>
            </a:avLst>
          </a:prstGeom>
          <a:solidFill>
            <a:srgbClr val="9AA0B4"/>
          </a:solidFill>
          <a:ln/>
        </p:spPr>
        <p:txBody>
          <a:bodyPr wrap="square" lIns="0" tIns="0" rIns="0" bIns="0" rtlCol="0" anchor="ctr"/>
          <a:lstStyle/>
          <a:p>
            <a:pPr marL="0" indent="0" algn="ctr">
              <a:buNone/>
            </a:pPr>
            <a:r>
              <a:rPr lang="en-US" sz="1300" b="1" dirty="0">
                <a:solidFill>
                  <a:srgbClr val="111427"/>
                </a:solidFill>
              </a:rPr>
              <a:t>Unklar</a:t>
            </a:r>
            <a:endParaRPr lang="en-US" sz="1300" dirty="0"/>
          </a:p>
        </p:txBody>
      </p:sp>
      <p:sp>
        <p:nvSpPr>
          <p:cNvPr id="22" name="Text 19"/>
          <p:cNvSpPr txBox="1"/>
          <p:nvPr/>
        </p:nvSpPr>
        <p:spPr>
          <a:xfrm>
            <a:off x="2423160" y="3922776"/>
            <a:ext cx="3566160" cy="603504"/>
          </a:xfrm>
          <a:prstGeom prst="rect">
            <a:avLst/>
          </a:prstGeom>
          <a:noFill/>
          <a:ln/>
        </p:spPr>
        <p:txBody>
          <a:bodyPr wrap="square" lIns="0" tIns="0" rIns="0" bIns="0" rtlCol="0" anchor="ctr"/>
          <a:lstStyle/>
          <a:p>
            <a:pPr marL="0" indent="0">
              <a:buNone/>
            </a:pPr>
            <a:r>
              <a:rPr lang="en-US" sz="1500" dirty="0">
                <a:solidFill>
                  <a:schemeClr val="tx1"/>
                </a:solidFill>
              </a:rPr>
              <a:t>Wichtige Informationen fehlen noch</a:t>
            </a:r>
            <a:endParaRPr lang="en-US" sz="1500" dirty="0"/>
          </a:p>
        </p:txBody>
      </p:sp>
      <p:sp>
        <p:nvSpPr>
          <p:cNvPr id="23" name="Text 20"/>
          <p:cNvSpPr txBox="1"/>
          <p:nvPr/>
        </p:nvSpPr>
        <p:spPr>
          <a:xfrm>
            <a:off x="6035040" y="3922776"/>
            <a:ext cx="2560320" cy="603504"/>
          </a:xfrm>
          <a:prstGeom prst="rect">
            <a:avLst/>
          </a:prstGeom>
          <a:noFill/>
          <a:ln/>
        </p:spPr>
        <p:txBody>
          <a:bodyPr wrap="square" lIns="0" tIns="0" rIns="0" bIns="0" rtlCol="0" anchor="ctr"/>
          <a:lstStyle/>
          <a:p>
            <a:pPr marL="0" indent="0">
              <a:buNone/>
            </a:pPr>
            <a:r>
              <a:rPr lang="en-US" sz="1400" dirty="0">
                <a:solidFill>
                  <a:srgbClr val="565C75"/>
                </a:solidFill>
              </a:rPr>
              <a:t>z. B. </a:t>
            </a:r>
            <a:r>
              <a:rPr lang="en-US" sz="1400" b="1" dirty="0">
                <a:solidFill>
                  <a:schemeClr val="tx2"/>
                </a:solidFill>
              </a:rPr>
              <a:t>Noch keine Daten vorhanden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Sieben Fragen zu jeder Idee</a:t>
            </a:r>
            <a:endParaRPr lang="en-US" sz="3000" dirty="0"/>
          </a:p>
        </p:txBody>
      </p:sp>
      <p:sp>
        <p:nvSpPr>
          <p:cNvPr id="4" name="Frage-Karte"/>
          <p:cNvSpPr/>
          <p:nvPr/>
        </p:nvSpPr>
        <p:spPr>
          <a:xfrm>
            <a:off x="457200" y="114300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Icon-Kreis"/>
          <p:cNvSpPr/>
          <p:nvPr/>
        </p:nvSpPr>
        <p:spPr>
          <a:xfrm>
            <a:off x="594360" y="1280160"/>
            <a:ext cx="420624" cy="420624"/>
          </a:xfrm>
          <a:prstGeom prst="ellipse">
            <a:avLst/>
          </a:prstGeom>
          <a:solidFill>
            <a:srgbClr val="00C46A"/>
          </a:solidFill>
          <a:ln w="12700">
            <a:solidFill>
              <a:srgbClr val="00C46A"/>
            </a:solidFill>
            <a:prstDash val="solid"/>
          </a:ln>
        </p:spPr>
        <p:txBody>
          <a:bodyPr/>
          <a:lstStyle/>
          <a:p>
            <a:endParaRPr lang="de-CH"/>
          </a:p>
        </p:txBody>
      </p:sp>
      <p:pic>
        <p:nvPicPr>
          <p:cNvPr id="6" name="Image 0" descr="Icon"/>
          <p:cNvPicPr>
            <a:picLocks noChangeAspect="1"/>
          </p:cNvPicPr>
          <p:nvPr/>
        </p:nvPicPr>
        <p:blipFill>
          <a:blip r:embed="rId3"/>
          <a:stretch>
            <a:fillRect/>
          </a:stretch>
        </p:blipFill>
        <p:spPr>
          <a:xfrm>
            <a:off x="699516" y="1385316"/>
            <a:ext cx="210312" cy="210312"/>
          </a:xfrm>
          <a:prstGeom prst="rect">
            <a:avLst/>
          </a:prstGeom>
        </p:spPr>
      </p:pic>
      <p:sp>
        <p:nvSpPr>
          <p:cNvPr id="7" name="Gewicht"/>
          <p:cNvSpPr txBox="1"/>
          <p:nvPr/>
        </p:nvSpPr>
        <p:spPr>
          <a:xfrm>
            <a:off x="1097280" y="1325880"/>
            <a:ext cx="1143000" cy="310896"/>
          </a:xfrm>
          <a:prstGeom prst="roundRect">
            <a:avLst>
              <a:gd name="adj" fmla="val 29412"/>
            </a:avLst>
          </a:prstGeom>
          <a:solidFill>
            <a:srgbClr val="C9F3DE"/>
          </a:solidFill>
          <a:ln/>
        </p:spPr>
        <p:txBody>
          <a:bodyPr wrap="square" lIns="0" tIns="0" rIns="0" bIns="0" rtlCol="0" anchor="ctr"/>
          <a:lstStyle/>
          <a:p>
            <a:pPr marL="0" indent="0" algn="ctr">
              <a:buNone/>
            </a:pPr>
            <a:r>
              <a:rPr lang="en-US" sz="1100" b="1" dirty="0">
                <a:solidFill>
                  <a:srgbClr val="111427"/>
                </a:solidFill>
              </a:rPr>
              <a:t>Gewicht 25 %</a:t>
            </a:r>
            <a:endParaRPr lang="en-US" sz="1100" dirty="0"/>
          </a:p>
        </p:txBody>
      </p:sp>
      <p:sp>
        <p:nvSpPr>
          <p:cNvPr id="8" name="Text 4"/>
          <p:cNvSpPr txBox="1"/>
          <p:nvPr/>
        </p:nvSpPr>
        <p:spPr>
          <a:xfrm>
            <a:off x="594360" y="1856232"/>
            <a:ext cx="1664208" cy="868680"/>
          </a:xfrm>
          <a:prstGeom prst="rect">
            <a:avLst/>
          </a:prstGeom>
          <a:noFill/>
          <a:ln/>
        </p:spPr>
        <p:txBody>
          <a:bodyPr wrap="square" lIns="0" tIns="0" rIns="0" bIns="0" rtlCol="0" anchor="t"/>
          <a:lstStyle/>
          <a:p>
            <a:pPr marL="0" indent="0">
              <a:buNone/>
            </a:pPr>
            <a:r>
              <a:rPr lang="en-US" sz="1400" b="1" dirty="0">
                <a:solidFill>
                  <a:schemeClr val="tx2"/>
                </a:solidFill>
              </a:rPr>
              <a:t>Lassen sich einfache Regeln nicht aufschreiben?</a:t>
            </a:r>
            <a:endParaRPr lang="en-US" sz="1400" dirty="0"/>
          </a:p>
        </p:txBody>
      </p:sp>
      <p:sp>
        <p:nvSpPr>
          <p:cNvPr id="9" name="Frage-Karte"/>
          <p:cNvSpPr/>
          <p:nvPr/>
        </p:nvSpPr>
        <p:spPr>
          <a:xfrm>
            <a:off x="2532888" y="114300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0" name="Icon-Kreis"/>
          <p:cNvSpPr/>
          <p:nvPr/>
        </p:nvSpPr>
        <p:spPr>
          <a:xfrm>
            <a:off x="2670048" y="1280160"/>
            <a:ext cx="420624" cy="420624"/>
          </a:xfrm>
          <a:prstGeom prst="ellipse">
            <a:avLst/>
          </a:prstGeom>
          <a:solidFill>
            <a:srgbClr val="00C46A"/>
          </a:solidFill>
          <a:ln w="12700">
            <a:solidFill>
              <a:srgbClr val="00C46A"/>
            </a:solidFill>
            <a:prstDash val="solid"/>
          </a:ln>
        </p:spPr>
        <p:txBody>
          <a:bodyPr/>
          <a:lstStyle/>
          <a:p>
            <a:endParaRPr lang="de-CH"/>
          </a:p>
        </p:txBody>
      </p:sp>
      <p:pic>
        <p:nvPicPr>
          <p:cNvPr id="11" name="Image 1" descr="Icon"/>
          <p:cNvPicPr>
            <a:picLocks noChangeAspect="1"/>
          </p:cNvPicPr>
          <p:nvPr/>
        </p:nvPicPr>
        <p:blipFill>
          <a:blip r:embed="rId4"/>
          <a:stretch>
            <a:fillRect/>
          </a:stretch>
        </p:blipFill>
        <p:spPr>
          <a:xfrm>
            <a:off x="2775204" y="1385316"/>
            <a:ext cx="210312" cy="210312"/>
          </a:xfrm>
          <a:prstGeom prst="rect">
            <a:avLst/>
          </a:prstGeom>
        </p:spPr>
      </p:pic>
      <p:sp>
        <p:nvSpPr>
          <p:cNvPr id="12" name="Gewicht"/>
          <p:cNvSpPr txBox="1"/>
          <p:nvPr/>
        </p:nvSpPr>
        <p:spPr>
          <a:xfrm>
            <a:off x="3172968" y="1325880"/>
            <a:ext cx="1143000" cy="310896"/>
          </a:xfrm>
          <a:prstGeom prst="roundRect">
            <a:avLst>
              <a:gd name="adj" fmla="val 29412"/>
            </a:avLst>
          </a:prstGeom>
          <a:solidFill>
            <a:srgbClr val="C9F3DE"/>
          </a:solidFill>
          <a:ln/>
        </p:spPr>
        <p:txBody>
          <a:bodyPr wrap="square" lIns="0" tIns="0" rIns="0" bIns="0" rtlCol="0" anchor="ctr"/>
          <a:lstStyle/>
          <a:p>
            <a:pPr marL="0" indent="0" algn="ctr">
              <a:buNone/>
            </a:pPr>
            <a:r>
              <a:rPr lang="en-US" sz="1100" b="1" dirty="0">
                <a:solidFill>
                  <a:srgbClr val="111427"/>
                </a:solidFill>
              </a:rPr>
              <a:t>Gewicht 20 %</a:t>
            </a:r>
            <a:endParaRPr lang="en-US" sz="1100" dirty="0"/>
          </a:p>
        </p:txBody>
      </p:sp>
      <p:sp>
        <p:nvSpPr>
          <p:cNvPr id="13" name="Text 8"/>
          <p:cNvSpPr txBox="1"/>
          <p:nvPr/>
        </p:nvSpPr>
        <p:spPr>
          <a:xfrm>
            <a:off x="2670048" y="1856232"/>
            <a:ext cx="1664208" cy="868680"/>
          </a:xfrm>
          <a:prstGeom prst="rect">
            <a:avLst/>
          </a:prstGeom>
          <a:noFill/>
          <a:ln/>
        </p:spPr>
        <p:txBody>
          <a:bodyPr wrap="square" lIns="0" tIns="0" rIns="0" bIns="0" rtlCol="0" anchor="t"/>
          <a:lstStyle/>
          <a:p>
            <a:pPr marL="0" indent="0">
              <a:buNone/>
            </a:pPr>
            <a:r>
              <a:rPr lang="en-US" sz="1400" b="1" dirty="0">
                <a:solidFill>
                  <a:schemeClr val="tx2"/>
                </a:solidFill>
              </a:rPr>
              <a:t>Gibt es genug brauchbare Daten?</a:t>
            </a:r>
            <a:endParaRPr lang="en-US" sz="1400" dirty="0"/>
          </a:p>
        </p:txBody>
      </p:sp>
      <p:sp>
        <p:nvSpPr>
          <p:cNvPr id="14" name="Frage-Karte"/>
          <p:cNvSpPr/>
          <p:nvPr/>
        </p:nvSpPr>
        <p:spPr>
          <a:xfrm>
            <a:off x="4608576" y="114300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Icon-Kreis"/>
          <p:cNvSpPr/>
          <p:nvPr/>
        </p:nvSpPr>
        <p:spPr>
          <a:xfrm>
            <a:off x="4745736" y="1280160"/>
            <a:ext cx="420624" cy="420624"/>
          </a:xfrm>
          <a:prstGeom prst="ellipse">
            <a:avLst/>
          </a:prstGeom>
          <a:solidFill>
            <a:srgbClr val="00C46A"/>
          </a:solidFill>
          <a:ln w="12700">
            <a:solidFill>
              <a:srgbClr val="00C46A"/>
            </a:solidFill>
            <a:prstDash val="solid"/>
          </a:ln>
        </p:spPr>
        <p:txBody>
          <a:bodyPr/>
          <a:lstStyle/>
          <a:p>
            <a:endParaRPr lang="de-CH"/>
          </a:p>
        </p:txBody>
      </p:sp>
      <p:pic>
        <p:nvPicPr>
          <p:cNvPr id="16" name="Image 2" descr="Icon"/>
          <p:cNvPicPr>
            <a:picLocks noChangeAspect="1"/>
          </p:cNvPicPr>
          <p:nvPr/>
        </p:nvPicPr>
        <p:blipFill>
          <a:blip r:embed="rId5"/>
          <a:stretch>
            <a:fillRect/>
          </a:stretch>
        </p:blipFill>
        <p:spPr>
          <a:xfrm>
            <a:off x="4850892" y="1385316"/>
            <a:ext cx="210312" cy="210312"/>
          </a:xfrm>
          <a:prstGeom prst="rect">
            <a:avLst/>
          </a:prstGeom>
        </p:spPr>
      </p:pic>
      <p:sp>
        <p:nvSpPr>
          <p:cNvPr id="17" name="Gewicht"/>
          <p:cNvSpPr txBox="1"/>
          <p:nvPr/>
        </p:nvSpPr>
        <p:spPr>
          <a:xfrm>
            <a:off x="5248656" y="1325880"/>
            <a:ext cx="1143000" cy="310896"/>
          </a:xfrm>
          <a:prstGeom prst="roundRect">
            <a:avLst>
              <a:gd name="adj" fmla="val 29412"/>
            </a:avLst>
          </a:prstGeom>
          <a:solidFill>
            <a:srgbClr val="C9F3DE"/>
          </a:solidFill>
          <a:ln/>
        </p:spPr>
        <p:txBody>
          <a:bodyPr wrap="square" lIns="0" tIns="0" rIns="0" bIns="0" rtlCol="0" anchor="ctr"/>
          <a:lstStyle/>
          <a:p>
            <a:pPr marL="0" indent="0" algn="ctr">
              <a:buNone/>
            </a:pPr>
            <a:r>
              <a:rPr lang="en-US" sz="1100" b="1" dirty="0">
                <a:solidFill>
                  <a:srgbClr val="111427"/>
                </a:solidFill>
              </a:rPr>
              <a:t>Gewicht 15 %</a:t>
            </a:r>
            <a:endParaRPr lang="en-US" sz="1100" dirty="0"/>
          </a:p>
        </p:txBody>
      </p:sp>
      <p:sp>
        <p:nvSpPr>
          <p:cNvPr id="18" name="Text 12"/>
          <p:cNvSpPr txBox="1"/>
          <p:nvPr/>
        </p:nvSpPr>
        <p:spPr>
          <a:xfrm>
            <a:off x="4745736" y="1856232"/>
            <a:ext cx="1664208" cy="868680"/>
          </a:xfrm>
          <a:prstGeom prst="rect">
            <a:avLst/>
          </a:prstGeom>
          <a:noFill/>
          <a:ln/>
        </p:spPr>
        <p:txBody>
          <a:bodyPr wrap="square" lIns="0" tIns="0" rIns="0" bIns="0" rtlCol="0" anchor="t"/>
          <a:lstStyle/>
          <a:p>
            <a:pPr marL="0" indent="0">
              <a:buNone/>
            </a:pPr>
            <a:r>
              <a:rPr lang="en-US" sz="1400" b="1" dirty="0">
                <a:solidFill>
                  <a:schemeClr val="tx2"/>
                </a:solidFill>
              </a:rPr>
              <a:t>Wie schlimm wäre ein Fehler?</a:t>
            </a:r>
            <a:endParaRPr lang="en-US" sz="1400" dirty="0"/>
          </a:p>
        </p:txBody>
      </p:sp>
      <p:sp>
        <p:nvSpPr>
          <p:cNvPr id="19" name="Frage-Karte"/>
          <p:cNvSpPr/>
          <p:nvPr/>
        </p:nvSpPr>
        <p:spPr>
          <a:xfrm>
            <a:off x="6684264" y="114300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0" name="Icon-Kreis"/>
          <p:cNvSpPr/>
          <p:nvPr/>
        </p:nvSpPr>
        <p:spPr>
          <a:xfrm>
            <a:off x="6821424" y="1280160"/>
            <a:ext cx="420624" cy="420624"/>
          </a:xfrm>
          <a:prstGeom prst="ellipse">
            <a:avLst/>
          </a:prstGeom>
          <a:solidFill>
            <a:srgbClr val="3D8BFF"/>
          </a:solidFill>
          <a:ln w="12700">
            <a:solidFill>
              <a:srgbClr val="3D8BFF"/>
            </a:solidFill>
            <a:prstDash val="solid"/>
          </a:ln>
        </p:spPr>
        <p:txBody>
          <a:bodyPr/>
          <a:lstStyle/>
          <a:p>
            <a:endParaRPr lang="de-CH"/>
          </a:p>
        </p:txBody>
      </p:sp>
      <p:pic>
        <p:nvPicPr>
          <p:cNvPr id="21" name="Image 3" descr="Icon"/>
          <p:cNvPicPr>
            <a:picLocks noChangeAspect="1"/>
          </p:cNvPicPr>
          <p:nvPr/>
        </p:nvPicPr>
        <p:blipFill>
          <a:blip r:embed="rId6"/>
          <a:stretch>
            <a:fillRect/>
          </a:stretch>
        </p:blipFill>
        <p:spPr>
          <a:xfrm>
            <a:off x="6926580" y="1385316"/>
            <a:ext cx="210312" cy="210312"/>
          </a:xfrm>
          <a:prstGeom prst="rect">
            <a:avLst/>
          </a:prstGeom>
        </p:spPr>
      </p:pic>
      <p:sp>
        <p:nvSpPr>
          <p:cNvPr id="22" name="Gewicht"/>
          <p:cNvSpPr txBox="1"/>
          <p:nvPr/>
        </p:nvSpPr>
        <p:spPr>
          <a:xfrm>
            <a:off x="7324344" y="1325880"/>
            <a:ext cx="1143000" cy="310896"/>
          </a:xfrm>
          <a:prstGeom prst="roundRect">
            <a:avLst>
              <a:gd name="adj" fmla="val 29412"/>
            </a:avLst>
          </a:prstGeom>
          <a:solidFill>
            <a:srgbClr val="D6E6FF"/>
          </a:solidFill>
          <a:ln/>
        </p:spPr>
        <p:txBody>
          <a:bodyPr wrap="square" lIns="0" tIns="0" rIns="0" bIns="0" rtlCol="0" anchor="ctr"/>
          <a:lstStyle/>
          <a:p>
            <a:pPr marL="0" indent="0" algn="ctr">
              <a:buNone/>
            </a:pPr>
            <a:r>
              <a:rPr lang="en-US" sz="1100" b="1" dirty="0">
                <a:solidFill>
                  <a:srgbClr val="111427"/>
                </a:solidFill>
              </a:rPr>
              <a:t>Gewicht 10 %</a:t>
            </a:r>
            <a:endParaRPr lang="en-US" sz="1100" dirty="0"/>
          </a:p>
        </p:txBody>
      </p:sp>
      <p:sp>
        <p:nvSpPr>
          <p:cNvPr id="23" name="Text 16"/>
          <p:cNvSpPr txBox="1"/>
          <p:nvPr/>
        </p:nvSpPr>
        <p:spPr>
          <a:xfrm>
            <a:off x="6821424" y="1856232"/>
            <a:ext cx="1664208" cy="868680"/>
          </a:xfrm>
          <a:prstGeom prst="rect">
            <a:avLst/>
          </a:prstGeom>
          <a:noFill/>
          <a:ln/>
        </p:spPr>
        <p:txBody>
          <a:bodyPr wrap="square" lIns="0" tIns="0" rIns="0" bIns="0" rtlCol="0" anchor="t"/>
          <a:lstStyle/>
          <a:p>
            <a:pPr marL="0" indent="0">
              <a:buNone/>
            </a:pPr>
            <a:r>
              <a:rPr lang="en-US" sz="1400" b="1" dirty="0">
                <a:solidFill>
                  <a:schemeClr val="tx2"/>
                </a:solidFill>
              </a:rPr>
              <a:t>Wie oft kommt der Fall vor?</a:t>
            </a:r>
            <a:endParaRPr lang="en-US" sz="1400" dirty="0"/>
          </a:p>
        </p:txBody>
      </p:sp>
      <p:sp>
        <p:nvSpPr>
          <p:cNvPr id="24" name="Frage-Karte"/>
          <p:cNvSpPr/>
          <p:nvPr/>
        </p:nvSpPr>
        <p:spPr>
          <a:xfrm>
            <a:off x="457200" y="292608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5" name="Icon-Kreis"/>
          <p:cNvSpPr/>
          <p:nvPr/>
        </p:nvSpPr>
        <p:spPr>
          <a:xfrm>
            <a:off x="594360" y="3063240"/>
            <a:ext cx="420624" cy="420624"/>
          </a:xfrm>
          <a:prstGeom prst="ellipse">
            <a:avLst/>
          </a:prstGeom>
          <a:solidFill>
            <a:srgbClr val="3D8BFF"/>
          </a:solidFill>
          <a:ln w="12700">
            <a:solidFill>
              <a:srgbClr val="3D8BFF"/>
            </a:solidFill>
            <a:prstDash val="solid"/>
          </a:ln>
        </p:spPr>
        <p:txBody>
          <a:bodyPr/>
          <a:lstStyle/>
          <a:p>
            <a:endParaRPr lang="de-CH"/>
          </a:p>
        </p:txBody>
      </p:sp>
      <p:pic>
        <p:nvPicPr>
          <p:cNvPr id="26" name="Image 4" descr="Icon"/>
          <p:cNvPicPr>
            <a:picLocks noChangeAspect="1"/>
          </p:cNvPicPr>
          <p:nvPr/>
        </p:nvPicPr>
        <p:blipFill>
          <a:blip r:embed="rId7"/>
          <a:stretch>
            <a:fillRect/>
          </a:stretch>
        </p:blipFill>
        <p:spPr>
          <a:xfrm>
            <a:off x="699516" y="3168396"/>
            <a:ext cx="210312" cy="210312"/>
          </a:xfrm>
          <a:prstGeom prst="rect">
            <a:avLst/>
          </a:prstGeom>
        </p:spPr>
      </p:pic>
      <p:sp>
        <p:nvSpPr>
          <p:cNvPr id="27" name="Gewicht"/>
          <p:cNvSpPr txBox="1"/>
          <p:nvPr/>
        </p:nvSpPr>
        <p:spPr>
          <a:xfrm>
            <a:off x="1097280" y="3108960"/>
            <a:ext cx="1143000" cy="310896"/>
          </a:xfrm>
          <a:prstGeom prst="roundRect">
            <a:avLst>
              <a:gd name="adj" fmla="val 29412"/>
            </a:avLst>
          </a:prstGeom>
          <a:solidFill>
            <a:srgbClr val="D6E6FF"/>
          </a:solidFill>
          <a:ln/>
        </p:spPr>
        <p:txBody>
          <a:bodyPr wrap="square" lIns="0" tIns="0" rIns="0" bIns="0" rtlCol="0" anchor="ctr"/>
          <a:lstStyle/>
          <a:p>
            <a:pPr marL="0" indent="0" algn="ctr">
              <a:buNone/>
            </a:pPr>
            <a:r>
              <a:rPr lang="en-US" sz="1100" b="1" dirty="0">
                <a:solidFill>
                  <a:srgbClr val="111427"/>
                </a:solidFill>
              </a:rPr>
              <a:t>Gewicht 10 %</a:t>
            </a:r>
            <a:endParaRPr lang="en-US" sz="1100" dirty="0"/>
          </a:p>
        </p:txBody>
      </p:sp>
      <p:sp>
        <p:nvSpPr>
          <p:cNvPr id="28" name="Text 20"/>
          <p:cNvSpPr txBox="1"/>
          <p:nvPr/>
        </p:nvSpPr>
        <p:spPr>
          <a:xfrm>
            <a:off x="594360" y="3639312"/>
            <a:ext cx="1664208" cy="868680"/>
          </a:xfrm>
          <a:prstGeom prst="rect">
            <a:avLst/>
          </a:prstGeom>
          <a:noFill/>
          <a:ln/>
        </p:spPr>
        <p:txBody>
          <a:bodyPr wrap="square" lIns="0" tIns="0" rIns="0" bIns="0" rtlCol="0" anchor="t"/>
          <a:lstStyle/>
          <a:p>
            <a:pPr marL="0" indent="0">
              <a:buNone/>
            </a:pPr>
            <a:r>
              <a:rPr lang="en-US" sz="1400" b="1" dirty="0">
                <a:solidFill>
                  <a:schemeClr val="tx2"/>
                </a:solidFill>
              </a:rPr>
              <a:t>Muss man es erklären können? Sind die Daten sensibel?</a:t>
            </a:r>
            <a:endParaRPr lang="en-US" sz="1400" dirty="0"/>
          </a:p>
        </p:txBody>
      </p:sp>
      <p:sp>
        <p:nvSpPr>
          <p:cNvPr id="29" name="Frage-Karte"/>
          <p:cNvSpPr/>
          <p:nvPr/>
        </p:nvSpPr>
        <p:spPr>
          <a:xfrm>
            <a:off x="2532888" y="292608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30" name="Icon-Kreis"/>
          <p:cNvSpPr/>
          <p:nvPr/>
        </p:nvSpPr>
        <p:spPr>
          <a:xfrm>
            <a:off x="2670048" y="3063240"/>
            <a:ext cx="420624" cy="420624"/>
          </a:xfrm>
          <a:prstGeom prst="ellipse">
            <a:avLst/>
          </a:prstGeom>
          <a:solidFill>
            <a:srgbClr val="3D8BFF"/>
          </a:solidFill>
          <a:ln w="12700">
            <a:solidFill>
              <a:srgbClr val="3D8BFF"/>
            </a:solidFill>
            <a:prstDash val="solid"/>
          </a:ln>
        </p:spPr>
        <p:txBody>
          <a:bodyPr/>
          <a:lstStyle/>
          <a:p>
            <a:endParaRPr lang="de-CH"/>
          </a:p>
        </p:txBody>
      </p:sp>
      <p:pic>
        <p:nvPicPr>
          <p:cNvPr id="31" name="Image 5" descr="Icon"/>
          <p:cNvPicPr>
            <a:picLocks noChangeAspect="1"/>
          </p:cNvPicPr>
          <p:nvPr/>
        </p:nvPicPr>
        <p:blipFill>
          <a:blip r:embed="rId8"/>
          <a:stretch>
            <a:fillRect/>
          </a:stretch>
        </p:blipFill>
        <p:spPr>
          <a:xfrm>
            <a:off x="2775204" y="3168396"/>
            <a:ext cx="210312" cy="210312"/>
          </a:xfrm>
          <a:prstGeom prst="rect">
            <a:avLst/>
          </a:prstGeom>
        </p:spPr>
      </p:pic>
      <p:sp>
        <p:nvSpPr>
          <p:cNvPr id="32" name="Gewicht"/>
          <p:cNvSpPr txBox="1"/>
          <p:nvPr/>
        </p:nvSpPr>
        <p:spPr>
          <a:xfrm>
            <a:off x="3172968" y="3108960"/>
            <a:ext cx="1143000" cy="310896"/>
          </a:xfrm>
          <a:prstGeom prst="roundRect">
            <a:avLst>
              <a:gd name="adj" fmla="val 29412"/>
            </a:avLst>
          </a:prstGeom>
          <a:solidFill>
            <a:srgbClr val="D6E6FF"/>
          </a:solidFill>
          <a:ln/>
        </p:spPr>
        <p:txBody>
          <a:bodyPr wrap="square" lIns="0" tIns="0" rIns="0" bIns="0" rtlCol="0" anchor="ctr"/>
          <a:lstStyle/>
          <a:p>
            <a:pPr marL="0" indent="0" algn="ctr">
              <a:buNone/>
            </a:pPr>
            <a:r>
              <a:rPr lang="en-US" sz="1100" b="1" dirty="0">
                <a:solidFill>
                  <a:srgbClr val="111427"/>
                </a:solidFill>
              </a:rPr>
              <a:t>Gewicht 10 %</a:t>
            </a:r>
            <a:endParaRPr lang="en-US" sz="1100" dirty="0"/>
          </a:p>
        </p:txBody>
      </p:sp>
      <p:sp>
        <p:nvSpPr>
          <p:cNvPr id="33" name="Text 24"/>
          <p:cNvSpPr txBox="1"/>
          <p:nvPr/>
        </p:nvSpPr>
        <p:spPr>
          <a:xfrm>
            <a:off x="2670048" y="3639312"/>
            <a:ext cx="1664208" cy="868680"/>
          </a:xfrm>
          <a:prstGeom prst="rect">
            <a:avLst/>
          </a:prstGeom>
          <a:noFill/>
          <a:ln/>
        </p:spPr>
        <p:txBody>
          <a:bodyPr wrap="square" lIns="0" tIns="0" rIns="0" bIns="0" rtlCol="0" anchor="t"/>
          <a:lstStyle/>
          <a:p>
            <a:pPr marL="0" indent="0">
              <a:buNone/>
            </a:pPr>
            <a:r>
              <a:rPr lang="en-US" sz="1400" b="1" dirty="0">
                <a:solidFill>
                  <a:schemeClr val="tx2"/>
                </a:solidFill>
              </a:rPr>
              <a:t>Lohnt es sich finanziell?</a:t>
            </a:r>
            <a:endParaRPr lang="en-US" sz="1400" dirty="0"/>
          </a:p>
        </p:txBody>
      </p:sp>
      <p:sp>
        <p:nvSpPr>
          <p:cNvPr id="34" name="Frage-Karte"/>
          <p:cNvSpPr/>
          <p:nvPr/>
        </p:nvSpPr>
        <p:spPr>
          <a:xfrm>
            <a:off x="4608576" y="2926080"/>
            <a:ext cx="192024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35" name="Icon-Kreis"/>
          <p:cNvSpPr/>
          <p:nvPr/>
        </p:nvSpPr>
        <p:spPr>
          <a:xfrm>
            <a:off x="4745736" y="3063240"/>
            <a:ext cx="420624" cy="420624"/>
          </a:xfrm>
          <a:prstGeom prst="ellipse">
            <a:avLst/>
          </a:prstGeom>
          <a:solidFill>
            <a:srgbClr val="3D8BFF"/>
          </a:solidFill>
          <a:ln w="12700">
            <a:solidFill>
              <a:srgbClr val="3D8BFF"/>
            </a:solidFill>
            <a:prstDash val="solid"/>
          </a:ln>
        </p:spPr>
        <p:txBody>
          <a:bodyPr/>
          <a:lstStyle/>
          <a:p>
            <a:endParaRPr lang="de-CH"/>
          </a:p>
        </p:txBody>
      </p:sp>
      <p:pic>
        <p:nvPicPr>
          <p:cNvPr id="36" name="Image 6" descr="Icon"/>
          <p:cNvPicPr>
            <a:picLocks noChangeAspect="1"/>
          </p:cNvPicPr>
          <p:nvPr/>
        </p:nvPicPr>
        <p:blipFill>
          <a:blip r:embed="rId9"/>
          <a:stretch>
            <a:fillRect/>
          </a:stretch>
        </p:blipFill>
        <p:spPr>
          <a:xfrm>
            <a:off x="4850892" y="3168396"/>
            <a:ext cx="210312" cy="210312"/>
          </a:xfrm>
          <a:prstGeom prst="rect">
            <a:avLst/>
          </a:prstGeom>
        </p:spPr>
      </p:pic>
      <p:sp>
        <p:nvSpPr>
          <p:cNvPr id="37" name="Gewicht"/>
          <p:cNvSpPr txBox="1"/>
          <p:nvPr/>
        </p:nvSpPr>
        <p:spPr>
          <a:xfrm>
            <a:off x="5248656" y="3108960"/>
            <a:ext cx="1143000" cy="310896"/>
          </a:xfrm>
          <a:prstGeom prst="roundRect">
            <a:avLst>
              <a:gd name="adj" fmla="val 29412"/>
            </a:avLst>
          </a:prstGeom>
          <a:solidFill>
            <a:srgbClr val="D6E6FF"/>
          </a:solidFill>
          <a:ln/>
        </p:spPr>
        <p:txBody>
          <a:bodyPr wrap="square" lIns="0" tIns="0" rIns="0" bIns="0" rtlCol="0" anchor="ctr"/>
          <a:lstStyle/>
          <a:p>
            <a:pPr marL="0" indent="0" algn="ctr">
              <a:buNone/>
            </a:pPr>
            <a:r>
              <a:rPr lang="en-US" sz="1100" b="1" dirty="0">
                <a:solidFill>
                  <a:srgbClr val="111427"/>
                </a:solidFill>
              </a:rPr>
              <a:t>Gewicht 10 %</a:t>
            </a:r>
            <a:endParaRPr lang="en-US" sz="1100" dirty="0"/>
          </a:p>
        </p:txBody>
      </p:sp>
      <p:sp>
        <p:nvSpPr>
          <p:cNvPr id="38" name="Text 28"/>
          <p:cNvSpPr txBox="1"/>
          <p:nvPr/>
        </p:nvSpPr>
        <p:spPr>
          <a:xfrm>
            <a:off x="4745736" y="3639312"/>
            <a:ext cx="1664208" cy="868680"/>
          </a:xfrm>
          <a:prstGeom prst="rect">
            <a:avLst/>
          </a:prstGeom>
          <a:noFill/>
          <a:ln/>
        </p:spPr>
        <p:txBody>
          <a:bodyPr wrap="square" lIns="0" tIns="0" rIns="0" bIns="0" rtlCol="0" anchor="t"/>
          <a:lstStyle/>
          <a:p>
            <a:pPr marL="0" indent="0">
              <a:buNone/>
            </a:pPr>
            <a:r>
              <a:rPr lang="en-US" sz="1400" b="1" dirty="0">
                <a:solidFill>
                  <a:schemeClr val="tx2"/>
                </a:solidFill>
              </a:rPr>
              <a:t>Ist es technisch machbar?</a:t>
            </a:r>
            <a:endParaRPr lang="en-US" sz="1400" dirty="0"/>
          </a:p>
        </p:txBody>
      </p:sp>
      <p:sp>
        <p:nvSpPr>
          <p:cNvPr id="39" name="Ergebnis"/>
          <p:cNvSpPr/>
          <p:nvPr/>
        </p:nvSpPr>
        <p:spPr>
          <a:xfrm>
            <a:off x="6684264" y="2926080"/>
            <a:ext cx="1920240" cy="1645920"/>
          </a:xfrm>
          <a:prstGeom prst="roundRect">
            <a:avLst>
              <a:gd name="adj" fmla="val 4444"/>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40" name="Text 30"/>
          <p:cNvSpPr txBox="1"/>
          <p:nvPr/>
        </p:nvSpPr>
        <p:spPr>
          <a:xfrm>
            <a:off x="6821424" y="3035808"/>
            <a:ext cx="1645920" cy="228600"/>
          </a:xfrm>
          <a:prstGeom prst="rect">
            <a:avLst/>
          </a:prstGeom>
          <a:noFill/>
          <a:ln/>
        </p:spPr>
        <p:txBody>
          <a:bodyPr wrap="square" lIns="0" tIns="0" rIns="0" bIns="0" rtlCol="0" anchor="t"/>
          <a:lstStyle/>
          <a:p>
            <a:pPr marL="0" indent="0">
              <a:buNone/>
            </a:pPr>
            <a:r>
              <a:rPr lang="en-US" sz="1100" b="1" kern="0" spc="200" dirty="0">
                <a:solidFill>
                  <a:srgbClr val="B8BCD0"/>
                </a:solidFill>
              </a:rPr>
              <a:t>ERGEBNIS</a:t>
            </a:r>
            <a:endParaRPr lang="en-US" sz="1100" dirty="0"/>
          </a:p>
        </p:txBody>
      </p:sp>
      <p:sp>
        <p:nvSpPr>
          <p:cNvPr id="41" name="Text 31"/>
          <p:cNvSpPr txBox="1"/>
          <p:nvPr/>
        </p:nvSpPr>
        <p:spPr>
          <a:xfrm>
            <a:off x="6821424" y="3337560"/>
            <a:ext cx="1664208" cy="1188720"/>
          </a:xfrm>
          <a:prstGeom prst="rect">
            <a:avLst/>
          </a:prstGeom>
          <a:noFill/>
          <a:ln/>
        </p:spPr>
        <p:txBody>
          <a:bodyPr wrap="square" lIns="0" tIns="0" rIns="0" bIns="0" rtlCol="0" anchor="t"/>
          <a:lstStyle/>
          <a:p>
            <a:pPr marL="0" indent="0">
              <a:buNone/>
            </a:pPr>
            <a:r>
              <a:rPr lang="en-US" sz="1500" dirty="0">
                <a:solidFill>
                  <a:schemeClr val="bg1"/>
                </a:solidFill>
              </a:rPr>
              <a:t>Ein Punktwert von 0 bis 100: der KI-Nutzwert</a:t>
            </a:r>
            <a:endParaRPr lang="en-US" sz="15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So kommt die App zu ihrer Antwort</a:t>
            </a:r>
            <a:endParaRPr lang="en-US" sz="3000" dirty="0"/>
          </a:p>
        </p:txBody>
      </p:sp>
      <p:sp>
        <p:nvSpPr>
          <p:cNvPr id="4" name="Schritt-Zeile"/>
          <p:cNvSpPr/>
          <p:nvPr/>
        </p:nvSpPr>
        <p:spPr>
          <a:xfrm>
            <a:off x="457200" y="114300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Nummer"/>
          <p:cNvSpPr/>
          <p:nvPr/>
        </p:nvSpPr>
        <p:spPr>
          <a:xfrm>
            <a:off x="594360" y="1252728"/>
            <a:ext cx="329184" cy="329184"/>
          </a:xfrm>
          <a:prstGeom prst="ellipse">
            <a:avLst/>
          </a:prstGeom>
          <a:solidFill>
            <a:srgbClr val="1B1F3B"/>
          </a:solidFill>
          <a:ln w="12700">
            <a:solidFill>
              <a:srgbClr val="1B1F3B"/>
            </a:solidFill>
            <a:prstDash val="solid"/>
          </a:ln>
        </p:spPr>
        <p:txBody>
          <a:bodyPr/>
          <a:lstStyle/>
          <a:p>
            <a:endParaRPr lang="de-CH"/>
          </a:p>
        </p:txBody>
      </p:sp>
      <p:sp>
        <p:nvSpPr>
          <p:cNvPr id="6" name="Text 3"/>
          <p:cNvSpPr txBox="1"/>
          <p:nvPr/>
        </p:nvSpPr>
        <p:spPr>
          <a:xfrm>
            <a:off x="594360" y="1252728"/>
            <a:ext cx="329184" cy="32918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4"/>
          <p:cNvSpPr txBox="1"/>
          <p:nvPr/>
        </p:nvSpPr>
        <p:spPr>
          <a:xfrm>
            <a:off x="1097280" y="1143000"/>
            <a:ext cx="4114800" cy="548640"/>
          </a:xfrm>
          <a:prstGeom prst="rect">
            <a:avLst/>
          </a:prstGeom>
          <a:noFill/>
          <a:ln/>
        </p:spPr>
        <p:txBody>
          <a:bodyPr wrap="square" lIns="0" tIns="0" rIns="0" bIns="0" rtlCol="0" anchor="ctr"/>
          <a:lstStyle/>
          <a:p>
            <a:pPr marL="0" indent="0">
              <a:buNone/>
            </a:pPr>
            <a:r>
              <a:rPr lang="en-US" sz="1500" dirty="0">
                <a:solidFill>
                  <a:schemeClr val="tx1"/>
                </a:solidFill>
              </a:rPr>
              <a:t>Fehlen wichtige Infos oder Daten?</a:t>
            </a:r>
            <a:endParaRPr lang="en-US" sz="1500" dirty="0"/>
          </a:p>
        </p:txBody>
      </p:sp>
      <p:sp>
        <p:nvSpPr>
          <p:cNvPr id="8" name="Text 5"/>
          <p:cNvSpPr txBox="1"/>
          <p:nvPr/>
        </p:nvSpPr>
        <p:spPr>
          <a:xfrm>
            <a:off x="5257800" y="114300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9" name="Antwort 1"/>
          <p:cNvSpPr txBox="1"/>
          <p:nvPr/>
        </p:nvSpPr>
        <p:spPr>
          <a:xfrm>
            <a:off x="5669280" y="1243584"/>
            <a:ext cx="2834640" cy="347472"/>
          </a:xfrm>
          <a:prstGeom prst="roundRect">
            <a:avLst>
              <a:gd name="adj" fmla="val 26316"/>
            </a:avLst>
          </a:prstGeom>
          <a:solidFill>
            <a:srgbClr val="9AA0B4"/>
          </a:solidFill>
          <a:ln/>
        </p:spPr>
        <p:txBody>
          <a:bodyPr wrap="square" lIns="0" tIns="0" rIns="0" bIns="0" rtlCol="0" anchor="ctr"/>
          <a:lstStyle/>
          <a:p>
            <a:pPr marL="0" indent="0" algn="ctr">
              <a:buNone/>
            </a:pPr>
            <a:r>
              <a:rPr lang="en-US" sz="1300" b="1" dirty="0">
                <a:solidFill>
                  <a:srgbClr val="111427"/>
                </a:solidFill>
              </a:rPr>
              <a:t>Noch unklar</a:t>
            </a:r>
            <a:endParaRPr lang="en-US" sz="1300" dirty="0"/>
          </a:p>
        </p:txBody>
      </p:sp>
      <p:sp>
        <p:nvSpPr>
          <p:cNvPr id="10" name="Schritt-Zeile"/>
          <p:cNvSpPr/>
          <p:nvPr/>
        </p:nvSpPr>
        <p:spPr>
          <a:xfrm>
            <a:off x="457200" y="178308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Nummer"/>
          <p:cNvSpPr/>
          <p:nvPr/>
        </p:nvSpPr>
        <p:spPr>
          <a:xfrm>
            <a:off x="594360" y="1892808"/>
            <a:ext cx="329184" cy="329184"/>
          </a:xfrm>
          <a:prstGeom prst="ellipse">
            <a:avLst/>
          </a:prstGeom>
          <a:solidFill>
            <a:srgbClr val="1B1F3B"/>
          </a:solidFill>
          <a:ln w="12700">
            <a:solidFill>
              <a:srgbClr val="1B1F3B"/>
            </a:solidFill>
            <a:prstDash val="solid"/>
          </a:ln>
        </p:spPr>
        <p:txBody>
          <a:bodyPr/>
          <a:lstStyle/>
          <a:p>
            <a:endParaRPr lang="de-CH"/>
          </a:p>
        </p:txBody>
      </p:sp>
      <p:sp>
        <p:nvSpPr>
          <p:cNvPr id="12" name="Text 9"/>
          <p:cNvSpPr txBox="1"/>
          <p:nvPr/>
        </p:nvSpPr>
        <p:spPr>
          <a:xfrm>
            <a:off x="594360" y="1892808"/>
            <a:ext cx="329184" cy="32918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10"/>
          <p:cNvSpPr txBox="1"/>
          <p:nvPr/>
        </p:nvSpPr>
        <p:spPr>
          <a:xfrm>
            <a:off x="1097280" y="1783080"/>
            <a:ext cx="4114800" cy="548640"/>
          </a:xfrm>
          <a:prstGeom prst="rect">
            <a:avLst/>
          </a:prstGeom>
          <a:noFill/>
          <a:ln/>
        </p:spPr>
        <p:txBody>
          <a:bodyPr wrap="square" lIns="0" tIns="0" rIns="0" bIns="0" rtlCol="0" anchor="ctr"/>
          <a:lstStyle/>
          <a:p>
            <a:pPr marL="0" indent="0">
              <a:buNone/>
            </a:pPr>
            <a:r>
              <a:rPr lang="en-US" sz="1500" dirty="0">
                <a:solidFill>
                  <a:schemeClr val="tx1"/>
                </a:solidFill>
              </a:rPr>
              <a:t>Kommt der Fall selten vor (unter 50-mal im Monat)?</a:t>
            </a:r>
            <a:endParaRPr lang="en-US" sz="1500" dirty="0"/>
          </a:p>
        </p:txBody>
      </p:sp>
      <p:sp>
        <p:nvSpPr>
          <p:cNvPr id="14" name="Text 11"/>
          <p:cNvSpPr txBox="1"/>
          <p:nvPr/>
        </p:nvSpPr>
        <p:spPr>
          <a:xfrm>
            <a:off x="5257800" y="178308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15" name="Antwort 2"/>
          <p:cNvSpPr txBox="1"/>
          <p:nvPr/>
        </p:nvSpPr>
        <p:spPr>
          <a:xfrm>
            <a:off x="5669280" y="1883664"/>
            <a:ext cx="2834640" cy="347472"/>
          </a:xfrm>
          <a:prstGeom prst="roundRect">
            <a:avLst>
              <a:gd name="adj" fmla="val 26316"/>
            </a:avLst>
          </a:prstGeom>
          <a:solidFill>
            <a:srgbClr val="FF5A4F"/>
          </a:solidFill>
          <a:ln/>
        </p:spPr>
        <p:txBody>
          <a:bodyPr wrap="square" lIns="0" tIns="0" rIns="0" bIns="0" rtlCol="0" anchor="ctr"/>
          <a:lstStyle/>
          <a:p>
            <a:pPr marL="0" indent="0" algn="ctr">
              <a:buNone/>
            </a:pPr>
            <a:r>
              <a:rPr lang="en-US" sz="1300" b="1" dirty="0">
                <a:solidFill>
                  <a:srgbClr val="111427"/>
                </a:solidFill>
              </a:rPr>
              <a:t>Von Hand erledigen</a:t>
            </a:r>
            <a:endParaRPr lang="en-US" sz="1300" dirty="0"/>
          </a:p>
        </p:txBody>
      </p:sp>
      <p:sp>
        <p:nvSpPr>
          <p:cNvPr id="16" name="Schritt-Zeile"/>
          <p:cNvSpPr/>
          <p:nvPr/>
        </p:nvSpPr>
        <p:spPr>
          <a:xfrm>
            <a:off x="457200" y="242316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7" name="Nummer"/>
          <p:cNvSpPr/>
          <p:nvPr/>
        </p:nvSpPr>
        <p:spPr>
          <a:xfrm>
            <a:off x="594360" y="2532888"/>
            <a:ext cx="329184" cy="329184"/>
          </a:xfrm>
          <a:prstGeom prst="ellipse">
            <a:avLst/>
          </a:prstGeom>
          <a:solidFill>
            <a:srgbClr val="1B1F3B"/>
          </a:solidFill>
          <a:ln w="12700">
            <a:solidFill>
              <a:srgbClr val="1B1F3B"/>
            </a:solidFill>
            <a:prstDash val="solid"/>
          </a:ln>
        </p:spPr>
        <p:txBody>
          <a:bodyPr/>
          <a:lstStyle/>
          <a:p>
            <a:endParaRPr lang="de-CH"/>
          </a:p>
        </p:txBody>
      </p:sp>
      <p:sp>
        <p:nvSpPr>
          <p:cNvPr id="18" name="Text 15"/>
          <p:cNvSpPr txBox="1"/>
          <p:nvPr/>
        </p:nvSpPr>
        <p:spPr>
          <a:xfrm>
            <a:off x="594360" y="2532888"/>
            <a:ext cx="329184" cy="32918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9" name="Text 16"/>
          <p:cNvSpPr txBox="1"/>
          <p:nvPr/>
        </p:nvSpPr>
        <p:spPr>
          <a:xfrm>
            <a:off x="1097280" y="2423160"/>
            <a:ext cx="4114800" cy="548640"/>
          </a:xfrm>
          <a:prstGeom prst="rect">
            <a:avLst/>
          </a:prstGeom>
          <a:noFill/>
          <a:ln/>
        </p:spPr>
        <p:txBody>
          <a:bodyPr wrap="square" lIns="0" tIns="0" rIns="0" bIns="0" rtlCol="0" anchor="ctr"/>
          <a:lstStyle/>
          <a:p>
            <a:pPr marL="0" indent="0">
              <a:buNone/>
            </a:pPr>
            <a:r>
              <a:rPr lang="en-US" sz="1500" dirty="0">
                <a:solidFill>
                  <a:schemeClr val="tx1"/>
                </a:solidFill>
              </a:rPr>
              <a:t>Reichen einfache Wenn-Dann-Regeln?</a:t>
            </a:r>
            <a:endParaRPr lang="en-US" sz="1500" dirty="0"/>
          </a:p>
        </p:txBody>
      </p:sp>
      <p:sp>
        <p:nvSpPr>
          <p:cNvPr id="20" name="Text 17"/>
          <p:cNvSpPr txBox="1"/>
          <p:nvPr/>
        </p:nvSpPr>
        <p:spPr>
          <a:xfrm>
            <a:off x="5257800" y="242316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21" name="Antwort 3"/>
          <p:cNvSpPr txBox="1"/>
          <p:nvPr/>
        </p:nvSpPr>
        <p:spPr>
          <a:xfrm>
            <a:off x="5669280" y="2523744"/>
            <a:ext cx="2834640" cy="347472"/>
          </a:xfrm>
          <a:prstGeom prst="roundRect">
            <a:avLst>
              <a:gd name="adj" fmla="val 26316"/>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Klassisches Programm</a:t>
            </a:r>
            <a:endParaRPr lang="en-US" sz="1300" dirty="0"/>
          </a:p>
        </p:txBody>
      </p:sp>
      <p:sp>
        <p:nvSpPr>
          <p:cNvPr id="22" name="Schritt-Zeile"/>
          <p:cNvSpPr/>
          <p:nvPr/>
        </p:nvSpPr>
        <p:spPr>
          <a:xfrm>
            <a:off x="457200" y="306324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Nummer"/>
          <p:cNvSpPr/>
          <p:nvPr/>
        </p:nvSpPr>
        <p:spPr>
          <a:xfrm>
            <a:off x="594360" y="3172968"/>
            <a:ext cx="329184" cy="329184"/>
          </a:xfrm>
          <a:prstGeom prst="ellipse">
            <a:avLst/>
          </a:prstGeom>
          <a:solidFill>
            <a:srgbClr val="1B1F3B"/>
          </a:solidFill>
          <a:ln w="12700">
            <a:solidFill>
              <a:srgbClr val="1B1F3B"/>
            </a:solidFill>
            <a:prstDash val="solid"/>
          </a:ln>
        </p:spPr>
        <p:txBody>
          <a:bodyPr/>
          <a:lstStyle/>
          <a:p>
            <a:endParaRPr lang="de-CH"/>
          </a:p>
        </p:txBody>
      </p:sp>
      <p:sp>
        <p:nvSpPr>
          <p:cNvPr id="24" name="Text 21"/>
          <p:cNvSpPr txBox="1"/>
          <p:nvPr/>
        </p:nvSpPr>
        <p:spPr>
          <a:xfrm>
            <a:off x="594360" y="3172968"/>
            <a:ext cx="329184" cy="329184"/>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5" name="Text 22"/>
          <p:cNvSpPr txBox="1"/>
          <p:nvPr/>
        </p:nvSpPr>
        <p:spPr>
          <a:xfrm>
            <a:off x="1097280" y="3063240"/>
            <a:ext cx="4114800" cy="548640"/>
          </a:xfrm>
          <a:prstGeom prst="rect">
            <a:avLst/>
          </a:prstGeom>
          <a:noFill/>
          <a:ln/>
        </p:spPr>
        <p:txBody>
          <a:bodyPr wrap="square" lIns="0" tIns="0" rIns="0" bIns="0" rtlCol="0" anchor="ctr"/>
          <a:lstStyle/>
          <a:p>
            <a:pPr marL="0" indent="0">
              <a:buNone/>
            </a:pPr>
            <a:r>
              <a:rPr lang="en-US" sz="1500" dirty="0">
                <a:solidFill>
                  <a:schemeClr val="tx1"/>
                </a:solidFill>
              </a:rPr>
              <a:t>Ist ein Fehler gefährlich oder sind die Daten sensibel?</a:t>
            </a:r>
            <a:endParaRPr lang="en-US" sz="1500" dirty="0"/>
          </a:p>
        </p:txBody>
      </p:sp>
      <p:sp>
        <p:nvSpPr>
          <p:cNvPr id="26" name="Text 23"/>
          <p:cNvSpPr txBox="1"/>
          <p:nvPr/>
        </p:nvSpPr>
        <p:spPr>
          <a:xfrm>
            <a:off x="5257800" y="306324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27" name="Antwort 4"/>
          <p:cNvSpPr txBox="1"/>
          <p:nvPr/>
        </p:nvSpPr>
        <p:spPr>
          <a:xfrm>
            <a:off x="5669280" y="3163824"/>
            <a:ext cx="2834640" cy="347472"/>
          </a:xfrm>
          <a:prstGeom prst="roundRect">
            <a:avLst>
              <a:gd name="adj" fmla="val 26316"/>
            </a:avLst>
          </a:prstGeom>
          <a:solidFill>
            <a:srgbClr val="3D8BFF"/>
          </a:solidFill>
          <a:ln/>
        </p:spPr>
        <p:txBody>
          <a:bodyPr wrap="square" lIns="0" tIns="0" rIns="0" bIns="0" rtlCol="0" anchor="ctr"/>
          <a:lstStyle/>
          <a:p>
            <a:pPr marL="0" indent="0" algn="ctr">
              <a:buNone/>
            </a:pPr>
            <a:r>
              <a:rPr lang="en-US" sz="1300" b="1" dirty="0">
                <a:solidFill>
                  <a:srgbClr val="111427"/>
                </a:solidFill>
              </a:rPr>
              <a:t>KI hilft, Mensch entscheidet</a:t>
            </a:r>
            <a:endParaRPr lang="en-US" sz="1300" dirty="0"/>
          </a:p>
        </p:txBody>
      </p:sp>
      <p:sp>
        <p:nvSpPr>
          <p:cNvPr id="28" name="Schritt-Zeile"/>
          <p:cNvSpPr/>
          <p:nvPr/>
        </p:nvSpPr>
        <p:spPr>
          <a:xfrm>
            <a:off x="457200" y="370332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9" name="Nummer"/>
          <p:cNvSpPr/>
          <p:nvPr/>
        </p:nvSpPr>
        <p:spPr>
          <a:xfrm>
            <a:off x="594360" y="3813048"/>
            <a:ext cx="329184" cy="329184"/>
          </a:xfrm>
          <a:prstGeom prst="ellipse">
            <a:avLst/>
          </a:prstGeom>
          <a:solidFill>
            <a:srgbClr val="1B1F3B"/>
          </a:solidFill>
          <a:ln w="12700">
            <a:solidFill>
              <a:srgbClr val="1B1F3B"/>
            </a:solidFill>
            <a:prstDash val="solid"/>
          </a:ln>
        </p:spPr>
        <p:txBody>
          <a:bodyPr/>
          <a:lstStyle/>
          <a:p>
            <a:endParaRPr lang="de-CH"/>
          </a:p>
        </p:txBody>
      </p:sp>
      <p:sp>
        <p:nvSpPr>
          <p:cNvPr id="30" name="Text 27"/>
          <p:cNvSpPr txBox="1"/>
          <p:nvPr/>
        </p:nvSpPr>
        <p:spPr>
          <a:xfrm>
            <a:off x="594360" y="3813048"/>
            <a:ext cx="329184" cy="329184"/>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31" name="Text 28"/>
          <p:cNvSpPr txBox="1"/>
          <p:nvPr/>
        </p:nvSpPr>
        <p:spPr>
          <a:xfrm>
            <a:off x="1097280" y="3703320"/>
            <a:ext cx="4114800" cy="548640"/>
          </a:xfrm>
          <a:prstGeom prst="rect">
            <a:avLst/>
          </a:prstGeom>
          <a:noFill/>
          <a:ln/>
        </p:spPr>
        <p:txBody>
          <a:bodyPr wrap="square" lIns="0" tIns="0" rIns="0" bIns="0" rtlCol="0" anchor="ctr"/>
          <a:lstStyle/>
          <a:p>
            <a:pPr marL="0" indent="0">
              <a:buNone/>
            </a:pPr>
            <a:r>
              <a:rPr lang="en-US" sz="1500" dirty="0">
                <a:solidFill>
                  <a:schemeClr val="tx1"/>
                </a:solidFill>
              </a:rPr>
              <a:t>Alles passt und der Punktwert ist hoch</a:t>
            </a:r>
            <a:endParaRPr lang="en-US" sz="1500" dirty="0"/>
          </a:p>
        </p:txBody>
      </p:sp>
      <p:sp>
        <p:nvSpPr>
          <p:cNvPr id="32" name="Text 29"/>
          <p:cNvSpPr txBox="1"/>
          <p:nvPr/>
        </p:nvSpPr>
        <p:spPr>
          <a:xfrm>
            <a:off x="5257800" y="370332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33" name="Antwort 5"/>
          <p:cNvSpPr txBox="1"/>
          <p:nvPr/>
        </p:nvSpPr>
        <p:spPr>
          <a:xfrm>
            <a:off x="5669280" y="3803904"/>
            <a:ext cx="2834640" cy="347472"/>
          </a:xfrm>
          <a:prstGeom prst="roundRect">
            <a:avLst>
              <a:gd name="adj" fmla="val 26316"/>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34" name="Text 31"/>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200" dirty="0">
                <a:solidFill>
                  <a:srgbClr val="565C75"/>
                </a:solidFill>
              </a:rPr>
              <a:t>Die erste Frage, die zutrifft, entscheidet. Gleiche Eingabe = gleiche Antwort. Eine KI schreibt höchstens den Begründungstext.</a:t>
            </a:r>
            <a:endParaRPr lang="en-US" sz="12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Wo speichern wir das? Die Datenbank</a:t>
            </a:r>
            <a:endParaRPr lang="en-US" sz="3000" dirty="0"/>
          </a:p>
        </p:txBody>
      </p:sp>
      <p:sp>
        <p:nvSpPr>
          <p:cNvPr id="4" name="Karteikarte"/>
          <p:cNvSpPr/>
          <p:nvPr/>
        </p:nvSpPr>
        <p:spPr>
          <a:xfrm>
            <a:off x="457200" y="1143000"/>
            <a:ext cx="4846320" cy="3474720"/>
          </a:xfrm>
          <a:prstGeom prst="roundRect">
            <a:avLst>
              <a:gd name="adj" fmla="val 2105"/>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52728"/>
            <a:ext cx="4480560" cy="274320"/>
          </a:xfrm>
          <a:prstGeom prst="rect">
            <a:avLst/>
          </a:prstGeom>
          <a:noFill/>
          <a:ln/>
        </p:spPr>
        <p:txBody>
          <a:bodyPr wrap="square" lIns="0" tIns="0" rIns="0" bIns="0" rtlCol="0" anchor="t"/>
          <a:lstStyle/>
          <a:p>
            <a:pPr marL="0" indent="0">
              <a:buNone/>
            </a:pPr>
            <a:r>
              <a:rPr lang="en-US" sz="1500" b="1" dirty="0">
                <a:solidFill>
                  <a:schemeClr val="bg1"/>
                </a:solidFill>
              </a:rPr>
              <a:t>Eine «Karteikarte» pro KI-Idee</a:t>
            </a:r>
            <a:endParaRPr lang="en-US" sz="1500" dirty="0"/>
          </a:p>
        </p:txBody>
      </p:sp>
      <p:sp>
        <p:nvSpPr>
          <p:cNvPr id="6" name="Text 3"/>
          <p:cNvSpPr txBox="1"/>
          <p:nvPr/>
        </p:nvSpPr>
        <p:spPr>
          <a:xfrm>
            <a:off x="640080" y="1554480"/>
            <a:ext cx="4480560" cy="274320"/>
          </a:xfrm>
          <a:prstGeom prst="rect">
            <a:avLst/>
          </a:prstGeom>
          <a:noFill/>
          <a:ln/>
        </p:spPr>
        <p:txBody>
          <a:bodyPr wrap="square" lIns="0" tIns="0" rIns="0" bIns="0" rtlCol="0" anchor="t"/>
          <a:lstStyle/>
          <a:p>
            <a:pPr marL="0" indent="0">
              <a:buNone/>
            </a:pPr>
            <a:r>
              <a:rPr lang="en-US" sz="1200" dirty="0">
                <a:solidFill>
                  <a:srgbClr val="B8BCD0"/>
                </a:solidFill>
              </a:rPr>
              <a:t>Beispiel: «E-Mails von Kunden nach Thema sortieren»</a:t>
            </a:r>
            <a:endParaRPr lang="en-US" sz="1200" dirty="0"/>
          </a:p>
        </p:txBody>
      </p:sp>
      <p:sp>
        <p:nvSpPr>
          <p:cNvPr id="7" name="Abschnitt"/>
          <p:cNvSpPr/>
          <p:nvPr/>
        </p:nvSpPr>
        <p:spPr>
          <a:xfrm>
            <a:off x="640080" y="192024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8" name="Marker"/>
          <p:cNvSpPr/>
          <p:nvPr/>
        </p:nvSpPr>
        <p:spPr>
          <a:xfrm>
            <a:off x="777240" y="2075688"/>
            <a:ext cx="128016" cy="128016"/>
          </a:xfrm>
          <a:prstGeom prst="ellipse">
            <a:avLst/>
          </a:prstGeom>
          <a:solidFill>
            <a:srgbClr val="3D8BFF"/>
          </a:solidFill>
          <a:ln w="12700">
            <a:solidFill>
              <a:srgbClr val="3D8BFF"/>
            </a:solidFill>
            <a:prstDash val="solid"/>
          </a:ln>
        </p:spPr>
        <p:txBody>
          <a:bodyPr/>
          <a:lstStyle/>
          <a:p>
            <a:endParaRPr lang="de-CH"/>
          </a:p>
        </p:txBody>
      </p:sp>
      <p:sp>
        <p:nvSpPr>
          <p:cNvPr id="9" name="Text 6"/>
          <p:cNvSpPr txBox="1"/>
          <p:nvPr/>
        </p:nvSpPr>
        <p:spPr>
          <a:xfrm>
            <a:off x="987552" y="2011680"/>
            <a:ext cx="1737360" cy="274320"/>
          </a:xfrm>
          <a:prstGeom prst="rect">
            <a:avLst/>
          </a:prstGeom>
          <a:noFill/>
          <a:ln/>
        </p:spPr>
        <p:txBody>
          <a:bodyPr wrap="square" lIns="0" tIns="0" rIns="0" bIns="0" rtlCol="0" anchor="t"/>
          <a:lstStyle/>
          <a:p>
            <a:pPr marL="0" indent="0">
              <a:buNone/>
            </a:pPr>
            <a:r>
              <a:rPr lang="en-US" sz="1400" b="1" dirty="0">
                <a:solidFill>
                  <a:schemeClr val="tx2"/>
                </a:solidFill>
              </a:rPr>
              <a:t>Eckdaten</a:t>
            </a:r>
            <a:endParaRPr lang="en-US" sz="1400" dirty="0"/>
          </a:p>
        </p:txBody>
      </p:sp>
      <p:sp>
        <p:nvSpPr>
          <p:cNvPr id="10" name="Text 7"/>
          <p:cNvSpPr txBox="1"/>
          <p:nvPr/>
        </p:nvSpPr>
        <p:spPr>
          <a:xfrm>
            <a:off x="777240" y="2423160"/>
            <a:ext cx="1920240" cy="640080"/>
          </a:xfrm>
          <a:prstGeom prst="rect">
            <a:avLst/>
          </a:prstGeom>
          <a:noFill/>
          <a:ln/>
        </p:spPr>
        <p:txBody>
          <a:bodyPr wrap="square" lIns="0" tIns="0" rIns="0" bIns="0" rtlCol="0" anchor="t"/>
          <a:lstStyle/>
          <a:p>
            <a:pPr marL="0" indent="0">
              <a:buNone/>
            </a:pPr>
            <a:r>
              <a:rPr lang="en-US" sz="1300" dirty="0">
                <a:solidFill>
                  <a:srgbClr val="565C75"/>
                </a:solidFill>
              </a:rPr>
              <a:t>Titel, Branche, Risiko</a:t>
            </a:r>
            <a:endParaRPr lang="en-US" sz="1300" dirty="0"/>
          </a:p>
        </p:txBody>
      </p:sp>
      <p:sp>
        <p:nvSpPr>
          <p:cNvPr id="11" name="Abschnitt"/>
          <p:cNvSpPr/>
          <p:nvPr/>
        </p:nvSpPr>
        <p:spPr>
          <a:xfrm>
            <a:off x="3017520" y="192024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12" name="Marker"/>
          <p:cNvSpPr/>
          <p:nvPr/>
        </p:nvSpPr>
        <p:spPr>
          <a:xfrm>
            <a:off x="3154680" y="2075688"/>
            <a:ext cx="128016" cy="128016"/>
          </a:xfrm>
          <a:prstGeom prst="ellipse">
            <a:avLst/>
          </a:prstGeom>
          <a:solidFill>
            <a:srgbClr val="3D8BFF"/>
          </a:solidFill>
          <a:ln w="12700">
            <a:solidFill>
              <a:srgbClr val="3D8BFF"/>
            </a:solidFill>
            <a:prstDash val="solid"/>
          </a:ln>
        </p:spPr>
        <p:txBody>
          <a:bodyPr/>
          <a:lstStyle/>
          <a:p>
            <a:endParaRPr lang="de-CH"/>
          </a:p>
        </p:txBody>
      </p:sp>
      <p:sp>
        <p:nvSpPr>
          <p:cNvPr id="13" name="Text 10"/>
          <p:cNvSpPr txBox="1"/>
          <p:nvPr/>
        </p:nvSpPr>
        <p:spPr>
          <a:xfrm>
            <a:off x="3364992" y="2011680"/>
            <a:ext cx="1737360" cy="274320"/>
          </a:xfrm>
          <a:prstGeom prst="rect">
            <a:avLst/>
          </a:prstGeom>
          <a:noFill/>
          <a:ln/>
        </p:spPr>
        <p:txBody>
          <a:bodyPr wrap="square" lIns="0" tIns="0" rIns="0" bIns="0" rtlCol="0" anchor="t"/>
          <a:lstStyle/>
          <a:p>
            <a:pPr marL="0" indent="0">
              <a:buNone/>
            </a:pPr>
            <a:r>
              <a:rPr lang="en-US" sz="1400" b="1" dirty="0">
                <a:solidFill>
                  <a:schemeClr val="tx2"/>
                </a:solidFill>
              </a:rPr>
              <a:t>Merkmale</a:t>
            </a:r>
            <a:endParaRPr lang="en-US" sz="1400" dirty="0"/>
          </a:p>
        </p:txBody>
      </p:sp>
      <p:sp>
        <p:nvSpPr>
          <p:cNvPr id="14" name="Text 11"/>
          <p:cNvSpPr txBox="1"/>
          <p:nvPr/>
        </p:nvSpPr>
        <p:spPr>
          <a:xfrm>
            <a:off x="3154680" y="2423160"/>
            <a:ext cx="1920240" cy="640080"/>
          </a:xfrm>
          <a:prstGeom prst="rect">
            <a:avLst/>
          </a:prstGeom>
          <a:noFill/>
          <a:ln/>
        </p:spPr>
        <p:txBody>
          <a:bodyPr wrap="square" lIns="0" tIns="0" rIns="0" bIns="0" rtlCol="0" anchor="t"/>
          <a:lstStyle/>
          <a:p>
            <a:pPr marL="0" indent="0">
              <a:buNone/>
            </a:pPr>
            <a:r>
              <a:rPr lang="en-US" sz="1300" dirty="0">
                <a:solidFill>
                  <a:srgbClr val="565C75"/>
                </a:solidFill>
              </a:rPr>
              <a:t>Menge, Datenlage, Fehlertoleranz</a:t>
            </a:r>
            <a:endParaRPr lang="en-US" sz="1300" dirty="0"/>
          </a:p>
        </p:txBody>
      </p:sp>
      <p:sp>
        <p:nvSpPr>
          <p:cNvPr id="15" name="Abschnitt"/>
          <p:cNvSpPr/>
          <p:nvPr/>
        </p:nvSpPr>
        <p:spPr>
          <a:xfrm>
            <a:off x="640080" y="324612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16" name="Marker"/>
          <p:cNvSpPr/>
          <p:nvPr/>
        </p:nvSpPr>
        <p:spPr>
          <a:xfrm>
            <a:off x="777240" y="3401568"/>
            <a:ext cx="128016" cy="128016"/>
          </a:xfrm>
          <a:prstGeom prst="ellipse">
            <a:avLst/>
          </a:prstGeom>
          <a:solidFill>
            <a:srgbClr val="FFD400"/>
          </a:solidFill>
          <a:ln w="12700">
            <a:solidFill>
              <a:srgbClr val="FFD400"/>
            </a:solidFill>
            <a:prstDash val="solid"/>
          </a:ln>
        </p:spPr>
        <p:txBody>
          <a:bodyPr/>
          <a:lstStyle/>
          <a:p>
            <a:endParaRPr lang="de-CH"/>
          </a:p>
        </p:txBody>
      </p:sp>
      <p:sp>
        <p:nvSpPr>
          <p:cNvPr id="17" name="Text 14"/>
          <p:cNvSpPr txBox="1"/>
          <p:nvPr/>
        </p:nvSpPr>
        <p:spPr>
          <a:xfrm>
            <a:off x="987552" y="3337560"/>
            <a:ext cx="1737360" cy="274320"/>
          </a:xfrm>
          <a:prstGeom prst="rect">
            <a:avLst/>
          </a:prstGeom>
          <a:noFill/>
          <a:ln/>
        </p:spPr>
        <p:txBody>
          <a:bodyPr wrap="square" lIns="0" tIns="0" rIns="0" bIns="0" rtlCol="0" anchor="t"/>
          <a:lstStyle/>
          <a:p>
            <a:pPr marL="0" indent="0">
              <a:buNone/>
            </a:pPr>
            <a:r>
              <a:rPr lang="en-US" sz="1400" b="1" dirty="0">
                <a:solidFill>
                  <a:schemeClr val="tx2"/>
                </a:solidFill>
              </a:rPr>
              <a:t>Lösungswege</a:t>
            </a:r>
            <a:endParaRPr lang="en-US" sz="1400" dirty="0"/>
          </a:p>
        </p:txBody>
      </p:sp>
      <p:sp>
        <p:nvSpPr>
          <p:cNvPr id="18" name="Text 15"/>
          <p:cNvSpPr txBox="1"/>
          <p:nvPr/>
        </p:nvSpPr>
        <p:spPr>
          <a:xfrm>
            <a:off x="777240" y="3749040"/>
            <a:ext cx="1920240" cy="640080"/>
          </a:xfrm>
          <a:prstGeom prst="rect">
            <a:avLst/>
          </a:prstGeom>
          <a:noFill/>
          <a:ln/>
        </p:spPr>
        <p:txBody>
          <a:bodyPr wrap="square" lIns="0" tIns="0" rIns="0" bIns="0" rtlCol="0" anchor="t"/>
          <a:lstStyle/>
          <a:p>
            <a:pPr marL="0" indent="0">
              <a:buNone/>
            </a:pPr>
            <a:r>
              <a:rPr lang="en-US" sz="1300" dirty="0">
                <a:solidFill>
                  <a:srgbClr val="565C75"/>
                </a:solidFill>
              </a:rPr>
              <a:t>Von Hand · Regeln · KI, mit Kosten</a:t>
            </a:r>
            <a:endParaRPr lang="en-US" sz="1300" dirty="0"/>
          </a:p>
        </p:txBody>
      </p:sp>
      <p:sp>
        <p:nvSpPr>
          <p:cNvPr id="19" name="Abschnitt"/>
          <p:cNvSpPr/>
          <p:nvPr/>
        </p:nvSpPr>
        <p:spPr>
          <a:xfrm>
            <a:off x="3017520" y="324612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20" name="Marker"/>
          <p:cNvSpPr/>
          <p:nvPr/>
        </p:nvSpPr>
        <p:spPr>
          <a:xfrm>
            <a:off x="3154680" y="3401568"/>
            <a:ext cx="128016" cy="128016"/>
          </a:xfrm>
          <a:prstGeom prst="ellipse">
            <a:avLst/>
          </a:prstGeom>
          <a:solidFill>
            <a:srgbClr val="00C46A"/>
          </a:solidFill>
          <a:ln w="12700">
            <a:solidFill>
              <a:srgbClr val="00C46A"/>
            </a:solidFill>
            <a:prstDash val="solid"/>
          </a:ln>
        </p:spPr>
        <p:txBody>
          <a:bodyPr/>
          <a:lstStyle/>
          <a:p>
            <a:endParaRPr lang="de-CH"/>
          </a:p>
        </p:txBody>
      </p:sp>
      <p:sp>
        <p:nvSpPr>
          <p:cNvPr id="21" name="Text 18"/>
          <p:cNvSpPr txBox="1"/>
          <p:nvPr/>
        </p:nvSpPr>
        <p:spPr>
          <a:xfrm>
            <a:off x="3364992" y="3337560"/>
            <a:ext cx="1737360" cy="274320"/>
          </a:xfrm>
          <a:prstGeom prst="rect">
            <a:avLst/>
          </a:prstGeom>
          <a:noFill/>
          <a:ln/>
        </p:spPr>
        <p:txBody>
          <a:bodyPr wrap="square" lIns="0" tIns="0" rIns="0" bIns="0" rtlCol="0" anchor="t"/>
          <a:lstStyle/>
          <a:p>
            <a:pPr marL="0" indent="0">
              <a:buNone/>
            </a:pPr>
            <a:r>
              <a:rPr lang="en-US" sz="1400" b="1" dirty="0">
                <a:solidFill>
                  <a:schemeClr val="tx2"/>
                </a:solidFill>
              </a:rPr>
              <a:t>Ergebnis der App</a:t>
            </a:r>
            <a:endParaRPr lang="en-US" sz="1400" dirty="0"/>
          </a:p>
        </p:txBody>
      </p:sp>
      <p:sp>
        <p:nvSpPr>
          <p:cNvPr id="22" name="Text 19"/>
          <p:cNvSpPr txBox="1"/>
          <p:nvPr/>
        </p:nvSpPr>
        <p:spPr>
          <a:xfrm>
            <a:off x="3154680" y="3749040"/>
            <a:ext cx="1920240" cy="640080"/>
          </a:xfrm>
          <a:prstGeom prst="rect">
            <a:avLst/>
          </a:prstGeom>
          <a:noFill/>
          <a:ln/>
        </p:spPr>
        <p:txBody>
          <a:bodyPr wrap="square" lIns="0" tIns="0" rIns="0" bIns="0" rtlCol="0" anchor="t"/>
          <a:lstStyle/>
          <a:p>
            <a:pPr marL="0" indent="0">
              <a:buNone/>
            </a:pPr>
            <a:r>
              <a:rPr lang="en-US" sz="1300" dirty="0">
                <a:solidFill>
                  <a:srgbClr val="565C75"/>
                </a:solidFill>
              </a:rPr>
              <a:t>Empfehlung, Punktwert, Begründung</a:t>
            </a:r>
            <a:endParaRPr lang="en-US" sz="1300" dirty="0"/>
          </a:p>
        </p:txBody>
      </p:sp>
      <p:sp>
        <p:nvSpPr>
          <p:cNvPr id="23" name="Grund"/>
          <p:cNvSpPr/>
          <p:nvPr/>
        </p:nvSpPr>
        <p:spPr>
          <a:xfrm>
            <a:off x="5532120" y="114300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4" name="Icon-Kreis"/>
          <p:cNvSpPr/>
          <p:nvPr/>
        </p:nvSpPr>
        <p:spPr>
          <a:xfrm>
            <a:off x="5669280" y="128016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25" name="Image 0" descr="Icon"/>
          <p:cNvPicPr>
            <a:picLocks noChangeAspect="1"/>
          </p:cNvPicPr>
          <p:nvPr/>
        </p:nvPicPr>
        <p:blipFill>
          <a:blip r:embed="rId3"/>
          <a:stretch>
            <a:fillRect/>
          </a:stretch>
        </p:blipFill>
        <p:spPr>
          <a:xfrm>
            <a:off x="5772150" y="1383030"/>
            <a:ext cx="205740" cy="205740"/>
          </a:xfrm>
          <a:prstGeom prst="rect">
            <a:avLst/>
          </a:prstGeom>
        </p:spPr>
      </p:pic>
      <p:sp>
        <p:nvSpPr>
          <p:cNvPr id="26" name="Text 22"/>
          <p:cNvSpPr txBox="1"/>
          <p:nvPr/>
        </p:nvSpPr>
        <p:spPr>
          <a:xfrm>
            <a:off x="6217920" y="1280160"/>
            <a:ext cx="2377440" cy="274320"/>
          </a:xfrm>
          <a:prstGeom prst="rect">
            <a:avLst/>
          </a:prstGeom>
          <a:noFill/>
          <a:ln/>
        </p:spPr>
        <p:txBody>
          <a:bodyPr wrap="square" lIns="0" tIns="0" rIns="0" bIns="0" rtlCol="0" anchor="t"/>
          <a:lstStyle/>
          <a:p>
            <a:pPr marL="0" indent="0">
              <a:buNone/>
            </a:pPr>
            <a:r>
              <a:rPr lang="en-US" sz="1500" b="1" dirty="0">
                <a:solidFill>
                  <a:schemeClr val="tx2"/>
                </a:solidFill>
              </a:rPr>
              <a:t>Alles an einem Ort</a:t>
            </a:r>
            <a:endParaRPr lang="en-US" sz="1500" dirty="0"/>
          </a:p>
        </p:txBody>
      </p:sp>
      <p:sp>
        <p:nvSpPr>
          <p:cNvPr id="27" name="Text 23"/>
          <p:cNvSpPr txBox="1"/>
          <p:nvPr/>
        </p:nvSpPr>
        <p:spPr>
          <a:xfrm>
            <a:off x="6217920" y="1581912"/>
            <a:ext cx="2377440" cy="566928"/>
          </a:xfrm>
          <a:prstGeom prst="rect">
            <a:avLst/>
          </a:prstGeom>
          <a:noFill/>
          <a:ln/>
        </p:spPr>
        <p:txBody>
          <a:bodyPr wrap="square" lIns="0" tIns="0" rIns="0" bIns="0" rtlCol="0" anchor="t"/>
          <a:lstStyle/>
          <a:p>
            <a:pPr marL="0" indent="0">
              <a:buNone/>
            </a:pPr>
            <a:r>
              <a:rPr lang="en-US" sz="1300" dirty="0">
                <a:solidFill>
                  <a:srgbClr val="565C75"/>
                </a:solidFill>
              </a:rPr>
              <a:t>Was zusammengehört, liegt auf einer Karte.</a:t>
            </a:r>
            <a:endParaRPr lang="en-US" sz="1300" dirty="0"/>
          </a:p>
        </p:txBody>
      </p:sp>
      <p:sp>
        <p:nvSpPr>
          <p:cNvPr id="28" name="Grund"/>
          <p:cNvSpPr/>
          <p:nvPr/>
        </p:nvSpPr>
        <p:spPr>
          <a:xfrm>
            <a:off x="5532120" y="233172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9" name="Icon-Kreis"/>
          <p:cNvSpPr/>
          <p:nvPr/>
        </p:nvSpPr>
        <p:spPr>
          <a:xfrm>
            <a:off x="5669280" y="246888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30" name="Image 1" descr="Icon"/>
          <p:cNvPicPr>
            <a:picLocks noChangeAspect="1"/>
          </p:cNvPicPr>
          <p:nvPr/>
        </p:nvPicPr>
        <p:blipFill>
          <a:blip r:embed="rId4"/>
          <a:stretch>
            <a:fillRect/>
          </a:stretch>
        </p:blipFill>
        <p:spPr>
          <a:xfrm>
            <a:off x="5772150" y="2571750"/>
            <a:ext cx="205740" cy="205740"/>
          </a:xfrm>
          <a:prstGeom prst="rect">
            <a:avLst/>
          </a:prstGeom>
        </p:spPr>
      </p:pic>
      <p:sp>
        <p:nvSpPr>
          <p:cNvPr id="31" name="Text 26"/>
          <p:cNvSpPr txBox="1"/>
          <p:nvPr/>
        </p:nvSpPr>
        <p:spPr>
          <a:xfrm>
            <a:off x="6217920" y="2468880"/>
            <a:ext cx="2377440" cy="274320"/>
          </a:xfrm>
          <a:prstGeom prst="rect">
            <a:avLst/>
          </a:prstGeom>
          <a:noFill/>
          <a:ln/>
        </p:spPr>
        <p:txBody>
          <a:bodyPr wrap="square" lIns="0" tIns="0" rIns="0" bIns="0" rtlCol="0" anchor="t"/>
          <a:lstStyle/>
          <a:p>
            <a:pPr marL="0" indent="0">
              <a:buNone/>
            </a:pPr>
            <a:r>
              <a:rPr lang="en-US" sz="1500" b="1" dirty="0">
                <a:solidFill>
                  <a:schemeClr val="tx2"/>
                </a:solidFill>
              </a:rPr>
              <a:t>Lücken sind erlaubt</a:t>
            </a:r>
            <a:endParaRPr lang="en-US" sz="1500" dirty="0"/>
          </a:p>
        </p:txBody>
      </p:sp>
      <p:sp>
        <p:nvSpPr>
          <p:cNvPr id="32" name="Text 27"/>
          <p:cNvSpPr txBox="1"/>
          <p:nvPr/>
        </p:nvSpPr>
        <p:spPr>
          <a:xfrm>
            <a:off x="6217920" y="2770632"/>
            <a:ext cx="2377440" cy="566928"/>
          </a:xfrm>
          <a:prstGeom prst="rect">
            <a:avLst/>
          </a:prstGeom>
          <a:noFill/>
          <a:ln/>
        </p:spPr>
        <p:txBody>
          <a:bodyPr wrap="square" lIns="0" tIns="0" rIns="0" bIns="0" rtlCol="0" anchor="t"/>
          <a:lstStyle/>
          <a:p>
            <a:pPr marL="0" indent="0">
              <a:buNone/>
            </a:pPr>
            <a:r>
              <a:rPr lang="en-US" sz="1300" dirty="0">
                <a:solidFill>
                  <a:srgbClr val="565C75"/>
                </a:solidFill>
              </a:rPr>
              <a:t>Leer heisst «unbekannt». Die App sagt dann «unklar».</a:t>
            </a:r>
            <a:endParaRPr lang="en-US" sz="1300" dirty="0"/>
          </a:p>
        </p:txBody>
      </p:sp>
      <p:sp>
        <p:nvSpPr>
          <p:cNvPr id="33" name="Grund"/>
          <p:cNvSpPr/>
          <p:nvPr/>
        </p:nvSpPr>
        <p:spPr>
          <a:xfrm>
            <a:off x="5532120" y="352044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34" name="Icon-Kreis"/>
          <p:cNvSpPr/>
          <p:nvPr/>
        </p:nvSpPr>
        <p:spPr>
          <a:xfrm>
            <a:off x="5669280" y="365760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35" name="Image 2" descr="Icon"/>
          <p:cNvPicPr>
            <a:picLocks noChangeAspect="1"/>
          </p:cNvPicPr>
          <p:nvPr/>
        </p:nvPicPr>
        <p:blipFill>
          <a:blip r:embed="rId5"/>
          <a:stretch>
            <a:fillRect/>
          </a:stretch>
        </p:blipFill>
        <p:spPr>
          <a:xfrm>
            <a:off x="5772150" y="3760470"/>
            <a:ext cx="205740" cy="205740"/>
          </a:xfrm>
          <a:prstGeom prst="rect">
            <a:avLst/>
          </a:prstGeom>
        </p:spPr>
      </p:pic>
      <p:sp>
        <p:nvSpPr>
          <p:cNvPr id="36" name="Text 30"/>
          <p:cNvSpPr txBox="1"/>
          <p:nvPr/>
        </p:nvSpPr>
        <p:spPr>
          <a:xfrm>
            <a:off x="6217920" y="3657600"/>
            <a:ext cx="2377440" cy="274320"/>
          </a:xfrm>
          <a:prstGeom prst="rect">
            <a:avLst/>
          </a:prstGeom>
          <a:noFill/>
          <a:ln/>
        </p:spPr>
        <p:txBody>
          <a:bodyPr wrap="square" lIns="0" tIns="0" rIns="0" bIns="0" rtlCol="0" anchor="t"/>
          <a:lstStyle/>
          <a:p>
            <a:pPr marL="0" indent="0">
              <a:buNone/>
            </a:pPr>
            <a:r>
              <a:rPr lang="en-US" sz="1500" b="1" dirty="0">
                <a:solidFill>
                  <a:schemeClr val="tx2"/>
                </a:solidFill>
              </a:rPr>
              <a:t>Urteil wird mitgespeichert</a:t>
            </a:r>
            <a:endParaRPr lang="en-US" sz="1500" dirty="0"/>
          </a:p>
        </p:txBody>
      </p:sp>
      <p:sp>
        <p:nvSpPr>
          <p:cNvPr id="37" name="Text 31"/>
          <p:cNvSpPr txBox="1"/>
          <p:nvPr/>
        </p:nvSpPr>
        <p:spPr>
          <a:xfrm>
            <a:off x="6217920" y="3959352"/>
            <a:ext cx="2377440" cy="566928"/>
          </a:xfrm>
          <a:prstGeom prst="rect">
            <a:avLst/>
          </a:prstGeom>
          <a:noFill/>
          <a:ln/>
        </p:spPr>
        <p:txBody>
          <a:bodyPr wrap="square" lIns="0" tIns="0" rIns="0" bIns="0" rtlCol="0" anchor="t"/>
          <a:lstStyle/>
          <a:p>
            <a:pPr marL="0" indent="0">
              <a:buNone/>
            </a:pPr>
            <a:r>
              <a:rPr lang="en-US" sz="1300" dirty="0">
                <a:solidFill>
                  <a:srgbClr val="565C75"/>
                </a:solidFill>
              </a:rPr>
              <a:t>So lässt sich schnell zählen und auswerten.</a:t>
            </a:r>
            <a:endParaRPr lang="en-US" sz="13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Unsere Testdaten: 48 KI-Ideen</a:t>
            </a:r>
            <a:endParaRPr lang="en-US" sz="3000" dirty="0"/>
          </a:p>
        </p:txBody>
      </p:sp>
      <p:sp>
        <p:nvSpPr>
          <p:cNvPr id="4" name="Diagramm-Karte"/>
          <p:cNvSpPr/>
          <p:nvPr/>
        </p:nvSpPr>
        <p:spPr>
          <a:xfrm>
            <a:off x="457200" y="1143000"/>
            <a:ext cx="4572000" cy="3474720"/>
          </a:xfrm>
          <a:prstGeom prst="roundRect">
            <a:avLst>
              <a:gd name="adj" fmla="val 21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61872"/>
            <a:ext cx="4206240" cy="274320"/>
          </a:xfrm>
          <a:prstGeom prst="rect">
            <a:avLst/>
          </a:prstGeom>
          <a:noFill/>
          <a:ln/>
        </p:spPr>
        <p:txBody>
          <a:bodyPr wrap="square" lIns="0" tIns="0" rIns="0" bIns="0" rtlCol="0" anchor="t"/>
          <a:lstStyle/>
          <a:p>
            <a:pPr marL="0" indent="0">
              <a:buNone/>
            </a:pPr>
            <a:r>
              <a:rPr lang="en-US" sz="1400" b="1" dirty="0">
                <a:solidFill>
                  <a:schemeClr val="tx2"/>
                </a:solidFill>
              </a:rPr>
              <a:t>So ordnet die App die 48 Ideen ein</a:t>
            </a:r>
            <a:endParaRPr lang="en-US" sz="1400" dirty="0"/>
          </a:p>
        </p:txBody>
      </p:sp>
      <p:graphicFrame>
        <p:nvGraphicFramePr>
          <p:cNvPr id="6" name="Chart 0"/>
          <p:cNvGraphicFramePr/>
          <p:nvPr/>
        </p:nvGraphicFramePr>
        <p:xfrm>
          <a:off x="548640" y="1554480"/>
          <a:ext cx="43891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Kennzahl"/>
          <p:cNvSpPr/>
          <p:nvPr/>
        </p:nvSpPr>
        <p:spPr>
          <a:xfrm>
            <a:off x="5257800" y="1143000"/>
            <a:ext cx="342900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8" name="Text 4"/>
          <p:cNvSpPr txBox="1"/>
          <p:nvPr/>
        </p:nvSpPr>
        <p:spPr>
          <a:xfrm>
            <a:off x="5440680" y="1234440"/>
            <a:ext cx="1097280" cy="621792"/>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48</a:t>
            </a:r>
            <a:endParaRPr lang="en-US" sz="3400" dirty="0"/>
          </a:p>
        </p:txBody>
      </p:sp>
      <p:sp>
        <p:nvSpPr>
          <p:cNvPr id="9" name="Text 5"/>
          <p:cNvSpPr txBox="1"/>
          <p:nvPr/>
        </p:nvSpPr>
        <p:spPr>
          <a:xfrm>
            <a:off x="6537960" y="1234440"/>
            <a:ext cx="2011680" cy="621792"/>
          </a:xfrm>
          <a:prstGeom prst="rect">
            <a:avLst/>
          </a:prstGeom>
          <a:noFill/>
          <a:ln/>
        </p:spPr>
        <p:txBody>
          <a:bodyPr wrap="square" lIns="0" tIns="0" rIns="0" bIns="0" rtlCol="0" anchor="ctr"/>
          <a:lstStyle/>
          <a:p>
            <a:pPr marL="0" indent="0">
              <a:buNone/>
            </a:pPr>
            <a:r>
              <a:rPr lang="en-US" sz="1600" dirty="0">
                <a:solidFill>
                  <a:srgbClr val="565C75"/>
                </a:solidFill>
              </a:rPr>
              <a:t>KI-Ideen</a:t>
            </a:r>
            <a:endParaRPr lang="en-US" sz="1600" dirty="0"/>
          </a:p>
        </p:txBody>
      </p:sp>
      <p:sp>
        <p:nvSpPr>
          <p:cNvPr id="10" name="Kennzahl"/>
          <p:cNvSpPr/>
          <p:nvPr/>
        </p:nvSpPr>
        <p:spPr>
          <a:xfrm>
            <a:off x="5257800" y="2057400"/>
            <a:ext cx="342900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Text 7"/>
          <p:cNvSpPr txBox="1"/>
          <p:nvPr/>
        </p:nvSpPr>
        <p:spPr>
          <a:xfrm>
            <a:off x="5440680" y="2148840"/>
            <a:ext cx="1097280" cy="621792"/>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10</a:t>
            </a:r>
            <a:endParaRPr lang="en-US" sz="3400" dirty="0"/>
          </a:p>
        </p:txBody>
      </p:sp>
      <p:sp>
        <p:nvSpPr>
          <p:cNvPr id="12" name="Text 8"/>
          <p:cNvSpPr txBox="1"/>
          <p:nvPr/>
        </p:nvSpPr>
        <p:spPr>
          <a:xfrm>
            <a:off x="6537960" y="2148840"/>
            <a:ext cx="2011680" cy="621792"/>
          </a:xfrm>
          <a:prstGeom prst="rect">
            <a:avLst/>
          </a:prstGeom>
          <a:noFill/>
          <a:ln/>
        </p:spPr>
        <p:txBody>
          <a:bodyPr wrap="square" lIns="0" tIns="0" rIns="0" bIns="0" rtlCol="0" anchor="ctr"/>
          <a:lstStyle/>
          <a:p>
            <a:pPr marL="0" indent="0">
              <a:buNone/>
            </a:pPr>
            <a:r>
              <a:rPr lang="en-US" sz="1600" dirty="0">
                <a:solidFill>
                  <a:srgbClr val="565C75"/>
                </a:solidFill>
              </a:rPr>
              <a:t>Branchen</a:t>
            </a:r>
            <a:endParaRPr lang="en-US" sz="1600" dirty="0"/>
          </a:p>
        </p:txBody>
      </p:sp>
      <p:sp>
        <p:nvSpPr>
          <p:cNvPr id="13" name="Kennzahl"/>
          <p:cNvSpPr/>
          <p:nvPr/>
        </p:nvSpPr>
        <p:spPr>
          <a:xfrm>
            <a:off x="5257800" y="2971800"/>
            <a:ext cx="342900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4" name="Text 10"/>
          <p:cNvSpPr txBox="1"/>
          <p:nvPr/>
        </p:nvSpPr>
        <p:spPr>
          <a:xfrm>
            <a:off x="5440680" y="3063240"/>
            <a:ext cx="1097280" cy="621792"/>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8</a:t>
            </a:r>
            <a:endParaRPr lang="en-US" sz="3400" dirty="0"/>
          </a:p>
        </p:txBody>
      </p:sp>
      <p:sp>
        <p:nvSpPr>
          <p:cNvPr id="15" name="Text 11"/>
          <p:cNvSpPr txBox="1"/>
          <p:nvPr/>
        </p:nvSpPr>
        <p:spPr>
          <a:xfrm>
            <a:off x="6537960" y="3063240"/>
            <a:ext cx="2011680" cy="621792"/>
          </a:xfrm>
          <a:prstGeom prst="rect">
            <a:avLst/>
          </a:prstGeom>
          <a:noFill/>
          <a:ln/>
        </p:spPr>
        <p:txBody>
          <a:bodyPr wrap="square" lIns="0" tIns="0" rIns="0" bIns="0" rtlCol="0" anchor="ctr"/>
          <a:lstStyle/>
          <a:p>
            <a:pPr marL="0" indent="0">
              <a:buNone/>
            </a:pPr>
            <a:r>
              <a:rPr lang="en-US" sz="1600" dirty="0">
                <a:solidFill>
                  <a:srgbClr val="565C75"/>
                </a:solidFill>
              </a:rPr>
              <a:t>Problemarten</a:t>
            </a:r>
            <a:endParaRPr lang="en-US" sz="1600" dirty="0"/>
          </a:p>
        </p:txBody>
      </p:sp>
      <p:sp>
        <p:nvSpPr>
          <p:cNvPr id="16" name="Hinweis"/>
          <p:cNvSpPr/>
          <p:nvPr/>
        </p:nvSpPr>
        <p:spPr>
          <a:xfrm>
            <a:off x="5257800" y="3886200"/>
            <a:ext cx="3429000" cy="731520"/>
          </a:xfrm>
          <a:prstGeom prst="roundRect">
            <a:avLst>
              <a:gd name="adj" fmla="val 10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17" name="Text 13"/>
          <p:cNvSpPr txBox="1"/>
          <p:nvPr/>
        </p:nvSpPr>
        <p:spPr>
          <a:xfrm>
            <a:off x="5440680" y="3886200"/>
            <a:ext cx="3108960" cy="731520"/>
          </a:xfrm>
          <a:prstGeom prst="rect">
            <a:avLst/>
          </a:prstGeom>
          <a:noFill/>
          <a:ln/>
        </p:spPr>
        <p:txBody>
          <a:bodyPr wrap="square" lIns="0" tIns="0" rIns="0" bIns="0" rtlCol="0" anchor="ctr"/>
          <a:lstStyle/>
          <a:p>
            <a:pPr marL="0" indent="0">
              <a:buNone/>
            </a:pPr>
            <a:r>
              <a:rPr lang="en-US" sz="1400" dirty="0">
                <a:solidFill>
                  <a:schemeClr val="bg1"/>
                </a:solidFill>
              </a:rPr>
              <a:t>Die Werte sind von uns geschätzt, keine echten Messdaten.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Die Datenbank rechnet für uns</a:t>
            </a:r>
            <a:endParaRPr lang="en-US" sz="3000" dirty="0"/>
          </a:p>
        </p:txBody>
      </p:sp>
      <p:sp>
        <p:nvSpPr>
          <p:cNvPr id="4" name="Erklärung"/>
          <p:cNvSpPr/>
          <p:nvPr/>
        </p:nvSpPr>
        <p:spPr>
          <a:xfrm>
            <a:off x="457200" y="1143000"/>
            <a:ext cx="8229600" cy="731520"/>
          </a:xfrm>
          <a:prstGeom prst="roundRect">
            <a:avLst>
              <a:gd name="adj" fmla="val 10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143000"/>
            <a:ext cx="7863840" cy="731520"/>
          </a:xfrm>
          <a:prstGeom prst="rect">
            <a:avLst/>
          </a:prstGeom>
          <a:noFill/>
          <a:ln/>
        </p:spPr>
        <p:txBody>
          <a:bodyPr wrap="square" lIns="0" tIns="0" rIns="0" bIns="0" rtlCol="0" anchor="ctr"/>
          <a:lstStyle/>
          <a:p>
            <a:pPr marL="0" indent="0">
              <a:buNone/>
            </a:pPr>
            <a:r>
              <a:rPr lang="en-US" sz="1500" b="1" dirty="0">
                <a:solidFill>
                  <a:schemeClr val="bg1"/>
                </a:solidFill>
              </a:rPr>
              <a:t>Aggregation Pipeline = Rechenanleitung in Schritten, wie ein Fliessband: </a:t>
            </a:r>
            <a:r>
              <a:rPr lang="en-US" sz="1500" dirty="0">
                <a:solidFill>
                  <a:schemeClr val="bg1"/>
                </a:solidFill>
              </a:rPr>
              <a:t>filtern, gruppieren, zählen. Wir haben 13 davon.</a:t>
            </a:r>
            <a:endParaRPr lang="en-US" sz="1500" dirty="0"/>
          </a:p>
        </p:txBody>
      </p:sp>
      <p:sp>
        <p:nvSpPr>
          <p:cNvPr id="6" name="Auswertung-Zeile"/>
          <p:cNvSpPr/>
          <p:nvPr/>
        </p:nvSpPr>
        <p:spPr>
          <a:xfrm>
            <a:off x="457200" y="2011680"/>
            <a:ext cx="8229600" cy="457200"/>
          </a:xfrm>
          <a:prstGeom prst="roundRect">
            <a:avLst>
              <a:gd name="adj" fmla="val 16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7" name="Nummer"/>
          <p:cNvSpPr/>
          <p:nvPr/>
        </p:nvSpPr>
        <p:spPr>
          <a:xfrm>
            <a:off x="566928" y="2084832"/>
            <a:ext cx="310896" cy="310896"/>
          </a:xfrm>
          <a:prstGeom prst="ellipse">
            <a:avLst/>
          </a:prstGeom>
          <a:solidFill>
            <a:srgbClr val="3D8BFF"/>
          </a:solidFill>
          <a:ln w="12700">
            <a:solidFill>
              <a:srgbClr val="3D8BFF"/>
            </a:solidFill>
            <a:prstDash val="solid"/>
          </a:ln>
        </p:spPr>
        <p:txBody>
          <a:bodyPr/>
          <a:lstStyle/>
          <a:p>
            <a:endParaRPr lang="de-CH"/>
          </a:p>
        </p:txBody>
      </p:sp>
      <p:sp>
        <p:nvSpPr>
          <p:cNvPr id="8" name="Text 5"/>
          <p:cNvSpPr txBox="1"/>
          <p:nvPr/>
        </p:nvSpPr>
        <p:spPr>
          <a:xfrm>
            <a:off x="566928" y="2084832"/>
            <a:ext cx="310896" cy="310896"/>
          </a:xfrm>
          <a:prstGeom prst="rect">
            <a:avLst/>
          </a:prstGeom>
          <a:noFill/>
          <a:ln/>
        </p:spPr>
        <p:txBody>
          <a:bodyPr wrap="square" lIns="0" tIns="0" rIns="0" bIns="0" rtlCol="0" anchor="ctr"/>
          <a:lstStyle/>
          <a:p>
            <a:pPr marL="0" indent="0" algn="ctr">
              <a:buNone/>
            </a:pPr>
            <a:r>
              <a:rPr lang="en-US" sz="1300" b="1" dirty="0">
                <a:solidFill>
                  <a:srgbClr val="111427"/>
                </a:solidFill>
              </a:rPr>
              <a:t>1</a:t>
            </a:r>
            <a:endParaRPr lang="en-US" sz="1300" dirty="0"/>
          </a:p>
        </p:txBody>
      </p:sp>
      <p:sp>
        <p:nvSpPr>
          <p:cNvPr id="9" name="Text 6"/>
          <p:cNvSpPr txBox="1"/>
          <p:nvPr/>
        </p:nvSpPr>
        <p:spPr>
          <a:xfrm>
            <a:off x="1005840" y="2011680"/>
            <a:ext cx="4206240" cy="457200"/>
          </a:xfrm>
          <a:prstGeom prst="rect">
            <a:avLst/>
          </a:prstGeom>
          <a:noFill/>
          <a:ln/>
        </p:spPr>
        <p:txBody>
          <a:bodyPr wrap="square" lIns="0" tIns="0" rIns="0" bIns="0" rtlCol="0" anchor="ctr"/>
          <a:lstStyle/>
          <a:p>
            <a:pPr marL="0" indent="0">
              <a:buNone/>
            </a:pPr>
            <a:r>
              <a:rPr lang="en-US" sz="1500" dirty="0">
                <a:solidFill>
                  <a:schemeClr val="tx1"/>
                </a:solidFill>
              </a:rPr>
              <a:t>Wie viele Ideen pro Branche empfehlen KI?</a:t>
            </a:r>
            <a:endParaRPr lang="en-US" sz="1500" dirty="0"/>
          </a:p>
        </p:txBody>
      </p:sp>
      <p:sp>
        <p:nvSpPr>
          <p:cNvPr id="10" name="Text 7"/>
          <p:cNvSpPr txBox="1"/>
          <p:nvPr/>
        </p:nvSpPr>
        <p:spPr>
          <a:xfrm>
            <a:off x="5303520" y="2011680"/>
            <a:ext cx="3291840" cy="457200"/>
          </a:xfrm>
          <a:prstGeom prst="rect">
            <a:avLst/>
          </a:prstGeom>
          <a:noFill/>
          <a:ln/>
        </p:spPr>
        <p:txBody>
          <a:bodyPr wrap="square" lIns="0" tIns="0" rIns="0" bIns="0" rtlCol="0" anchor="ctr"/>
          <a:lstStyle/>
          <a:p>
            <a:pPr marL="0" indent="0">
              <a:buNone/>
            </a:pPr>
            <a:r>
              <a:rPr lang="en-US" sz="1300" dirty="0">
                <a:solidFill>
                  <a:srgbClr val="565C75"/>
                </a:solidFill>
              </a:rPr>
              <a:t>Gruppieren und zählen</a:t>
            </a:r>
            <a:endParaRPr lang="en-US" sz="1300" dirty="0"/>
          </a:p>
        </p:txBody>
      </p:sp>
      <p:sp>
        <p:nvSpPr>
          <p:cNvPr id="11" name="Auswertung-Zeile"/>
          <p:cNvSpPr/>
          <p:nvPr/>
        </p:nvSpPr>
        <p:spPr>
          <a:xfrm>
            <a:off x="457200" y="2532888"/>
            <a:ext cx="8229600" cy="457200"/>
          </a:xfrm>
          <a:prstGeom prst="roundRect">
            <a:avLst>
              <a:gd name="adj" fmla="val 16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2" name="Nummer"/>
          <p:cNvSpPr/>
          <p:nvPr/>
        </p:nvSpPr>
        <p:spPr>
          <a:xfrm>
            <a:off x="566928" y="2606040"/>
            <a:ext cx="310896" cy="310896"/>
          </a:xfrm>
          <a:prstGeom prst="ellipse">
            <a:avLst/>
          </a:prstGeom>
          <a:solidFill>
            <a:srgbClr val="3D8BFF"/>
          </a:solidFill>
          <a:ln w="12700">
            <a:solidFill>
              <a:srgbClr val="3D8BFF"/>
            </a:solidFill>
            <a:prstDash val="solid"/>
          </a:ln>
        </p:spPr>
        <p:txBody>
          <a:bodyPr/>
          <a:lstStyle/>
          <a:p>
            <a:endParaRPr lang="de-CH"/>
          </a:p>
        </p:txBody>
      </p:sp>
      <p:sp>
        <p:nvSpPr>
          <p:cNvPr id="13" name="Text 10"/>
          <p:cNvSpPr txBox="1"/>
          <p:nvPr/>
        </p:nvSpPr>
        <p:spPr>
          <a:xfrm>
            <a:off x="566928" y="2606040"/>
            <a:ext cx="310896" cy="310896"/>
          </a:xfrm>
          <a:prstGeom prst="rect">
            <a:avLst/>
          </a:prstGeom>
          <a:noFill/>
          <a:ln/>
        </p:spPr>
        <p:txBody>
          <a:bodyPr wrap="square" lIns="0" tIns="0" rIns="0" bIns="0" rtlCol="0" anchor="ctr"/>
          <a:lstStyle/>
          <a:p>
            <a:pPr marL="0" indent="0" algn="ctr">
              <a:buNone/>
            </a:pPr>
            <a:r>
              <a:rPr lang="en-US" sz="1300" b="1" dirty="0">
                <a:solidFill>
                  <a:srgbClr val="111427"/>
                </a:solidFill>
              </a:rPr>
              <a:t>2</a:t>
            </a:r>
            <a:endParaRPr lang="en-US" sz="1300" dirty="0"/>
          </a:p>
        </p:txBody>
      </p:sp>
      <p:sp>
        <p:nvSpPr>
          <p:cNvPr id="14" name="Text 11"/>
          <p:cNvSpPr txBox="1"/>
          <p:nvPr/>
        </p:nvSpPr>
        <p:spPr>
          <a:xfrm>
            <a:off x="1005840" y="2532888"/>
            <a:ext cx="4206240" cy="457200"/>
          </a:xfrm>
          <a:prstGeom prst="rect">
            <a:avLst/>
          </a:prstGeom>
          <a:noFill/>
          <a:ln/>
        </p:spPr>
        <p:txBody>
          <a:bodyPr wrap="square" lIns="0" tIns="0" rIns="0" bIns="0" rtlCol="0" anchor="ctr"/>
          <a:lstStyle/>
          <a:p>
            <a:pPr marL="0" indent="0">
              <a:buNone/>
            </a:pPr>
            <a:r>
              <a:rPr lang="en-US" sz="1500" dirty="0">
                <a:solidFill>
                  <a:schemeClr val="tx1"/>
                </a:solidFill>
              </a:rPr>
              <a:t>Ab welcher Menge lohnt sich KI?</a:t>
            </a:r>
            <a:endParaRPr lang="en-US" sz="1500" dirty="0"/>
          </a:p>
        </p:txBody>
      </p:sp>
      <p:sp>
        <p:nvSpPr>
          <p:cNvPr id="15" name="Text 12"/>
          <p:cNvSpPr txBox="1"/>
          <p:nvPr/>
        </p:nvSpPr>
        <p:spPr>
          <a:xfrm>
            <a:off x="5303520" y="2532888"/>
            <a:ext cx="3291840" cy="457200"/>
          </a:xfrm>
          <a:prstGeom prst="rect">
            <a:avLst/>
          </a:prstGeom>
          <a:noFill/>
          <a:ln/>
        </p:spPr>
        <p:txBody>
          <a:bodyPr wrap="square" lIns="0" tIns="0" rIns="0" bIns="0" rtlCol="0" anchor="ctr"/>
          <a:lstStyle/>
          <a:p>
            <a:pPr marL="0" indent="0">
              <a:buNone/>
            </a:pPr>
            <a:r>
              <a:rPr lang="en-US" sz="1300" dirty="0">
                <a:solidFill>
                  <a:srgbClr val="565C75"/>
                </a:solidFill>
              </a:rPr>
              <a:t>In Mengenklassen einteilen</a:t>
            </a:r>
            <a:endParaRPr lang="en-US" sz="1300" dirty="0"/>
          </a:p>
        </p:txBody>
      </p:sp>
      <p:sp>
        <p:nvSpPr>
          <p:cNvPr id="16" name="Auswertung-Zeile"/>
          <p:cNvSpPr/>
          <p:nvPr/>
        </p:nvSpPr>
        <p:spPr>
          <a:xfrm>
            <a:off x="457200" y="3054096"/>
            <a:ext cx="8229600" cy="457200"/>
          </a:xfrm>
          <a:prstGeom prst="roundRect">
            <a:avLst>
              <a:gd name="adj" fmla="val 16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7" name="Nummer"/>
          <p:cNvSpPr/>
          <p:nvPr/>
        </p:nvSpPr>
        <p:spPr>
          <a:xfrm>
            <a:off x="566928" y="3127248"/>
            <a:ext cx="310896" cy="310896"/>
          </a:xfrm>
          <a:prstGeom prst="ellipse">
            <a:avLst/>
          </a:prstGeom>
          <a:solidFill>
            <a:srgbClr val="3D8BFF"/>
          </a:solidFill>
          <a:ln w="12700">
            <a:solidFill>
              <a:srgbClr val="3D8BFF"/>
            </a:solidFill>
            <a:prstDash val="solid"/>
          </a:ln>
        </p:spPr>
        <p:txBody>
          <a:bodyPr/>
          <a:lstStyle/>
          <a:p>
            <a:endParaRPr lang="de-CH"/>
          </a:p>
        </p:txBody>
      </p:sp>
      <p:sp>
        <p:nvSpPr>
          <p:cNvPr id="18" name="Text 15"/>
          <p:cNvSpPr txBox="1"/>
          <p:nvPr/>
        </p:nvSpPr>
        <p:spPr>
          <a:xfrm>
            <a:off x="566928" y="3127248"/>
            <a:ext cx="310896" cy="310896"/>
          </a:xfrm>
          <a:prstGeom prst="rect">
            <a:avLst/>
          </a:prstGeom>
          <a:noFill/>
          <a:ln/>
        </p:spPr>
        <p:txBody>
          <a:bodyPr wrap="square" lIns="0" tIns="0" rIns="0" bIns="0" rtlCol="0" anchor="ctr"/>
          <a:lstStyle/>
          <a:p>
            <a:pPr marL="0" indent="0" algn="ctr">
              <a:buNone/>
            </a:pPr>
            <a:r>
              <a:rPr lang="en-US" sz="1300" b="1" dirty="0">
                <a:solidFill>
                  <a:srgbClr val="111427"/>
                </a:solidFill>
              </a:rPr>
              <a:t>3</a:t>
            </a:r>
            <a:endParaRPr lang="en-US" sz="1300" dirty="0"/>
          </a:p>
        </p:txBody>
      </p:sp>
      <p:sp>
        <p:nvSpPr>
          <p:cNvPr id="19" name="Text 16"/>
          <p:cNvSpPr txBox="1"/>
          <p:nvPr/>
        </p:nvSpPr>
        <p:spPr>
          <a:xfrm>
            <a:off x="1005840" y="3054096"/>
            <a:ext cx="4206240" cy="457200"/>
          </a:xfrm>
          <a:prstGeom prst="rect">
            <a:avLst/>
          </a:prstGeom>
          <a:noFill/>
          <a:ln/>
        </p:spPr>
        <p:txBody>
          <a:bodyPr wrap="square" lIns="0" tIns="0" rIns="0" bIns="0" rtlCol="0" anchor="ctr"/>
          <a:lstStyle/>
          <a:p>
            <a:pPr marL="0" indent="0">
              <a:buNone/>
            </a:pPr>
            <a:r>
              <a:rPr lang="en-US" sz="1500" dirty="0">
                <a:solidFill>
                  <a:schemeClr val="tx1"/>
                </a:solidFill>
              </a:rPr>
              <a:t>Hängen Menge und Nutzen zusammen?</a:t>
            </a:r>
            <a:endParaRPr lang="en-US" sz="1500" dirty="0"/>
          </a:p>
        </p:txBody>
      </p:sp>
      <p:sp>
        <p:nvSpPr>
          <p:cNvPr id="20" name="Text 17"/>
          <p:cNvSpPr txBox="1"/>
          <p:nvPr/>
        </p:nvSpPr>
        <p:spPr>
          <a:xfrm>
            <a:off x="5303520" y="3054096"/>
            <a:ext cx="3291840" cy="457200"/>
          </a:xfrm>
          <a:prstGeom prst="rect">
            <a:avLst/>
          </a:prstGeom>
          <a:noFill/>
          <a:ln/>
        </p:spPr>
        <p:txBody>
          <a:bodyPr wrap="square" lIns="0" tIns="0" rIns="0" bIns="0" rtlCol="0" anchor="ctr"/>
          <a:lstStyle/>
          <a:p>
            <a:pPr marL="0" indent="0">
              <a:buNone/>
            </a:pPr>
            <a:r>
              <a:rPr lang="en-US" sz="1300" dirty="0">
                <a:solidFill>
                  <a:srgbClr val="565C75"/>
                </a:solidFill>
              </a:rPr>
              <a:t>Korrelation berechnen</a:t>
            </a:r>
            <a:endParaRPr lang="en-US" sz="1300" dirty="0"/>
          </a:p>
        </p:txBody>
      </p:sp>
      <p:sp>
        <p:nvSpPr>
          <p:cNvPr id="21" name="Auswertung-Zeile"/>
          <p:cNvSpPr/>
          <p:nvPr/>
        </p:nvSpPr>
        <p:spPr>
          <a:xfrm>
            <a:off x="457200" y="3575304"/>
            <a:ext cx="8229600" cy="457200"/>
          </a:xfrm>
          <a:prstGeom prst="roundRect">
            <a:avLst>
              <a:gd name="adj" fmla="val 16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2" name="Nummer"/>
          <p:cNvSpPr/>
          <p:nvPr/>
        </p:nvSpPr>
        <p:spPr>
          <a:xfrm>
            <a:off x="566928" y="3648456"/>
            <a:ext cx="310896" cy="310896"/>
          </a:xfrm>
          <a:prstGeom prst="ellipse">
            <a:avLst/>
          </a:prstGeom>
          <a:solidFill>
            <a:srgbClr val="3D8BFF"/>
          </a:solidFill>
          <a:ln w="12700">
            <a:solidFill>
              <a:srgbClr val="3D8BFF"/>
            </a:solidFill>
            <a:prstDash val="solid"/>
          </a:ln>
        </p:spPr>
        <p:txBody>
          <a:bodyPr/>
          <a:lstStyle/>
          <a:p>
            <a:endParaRPr lang="de-CH"/>
          </a:p>
        </p:txBody>
      </p:sp>
      <p:sp>
        <p:nvSpPr>
          <p:cNvPr id="23" name="Text 20"/>
          <p:cNvSpPr txBox="1"/>
          <p:nvPr/>
        </p:nvSpPr>
        <p:spPr>
          <a:xfrm>
            <a:off x="566928" y="3648456"/>
            <a:ext cx="310896" cy="310896"/>
          </a:xfrm>
          <a:prstGeom prst="rect">
            <a:avLst/>
          </a:prstGeom>
          <a:noFill/>
          <a:ln/>
        </p:spPr>
        <p:txBody>
          <a:bodyPr wrap="square" lIns="0" tIns="0" rIns="0" bIns="0" rtlCol="0" anchor="ctr"/>
          <a:lstStyle/>
          <a:p>
            <a:pPr marL="0" indent="0" algn="ctr">
              <a:buNone/>
            </a:pPr>
            <a:r>
              <a:rPr lang="en-US" sz="1300" b="1" dirty="0">
                <a:solidFill>
                  <a:srgbClr val="111427"/>
                </a:solidFill>
              </a:rPr>
              <a:t>4</a:t>
            </a:r>
            <a:endParaRPr lang="en-US" sz="1300" dirty="0"/>
          </a:p>
        </p:txBody>
      </p:sp>
      <p:sp>
        <p:nvSpPr>
          <p:cNvPr id="24" name="Text 21"/>
          <p:cNvSpPr txBox="1"/>
          <p:nvPr/>
        </p:nvSpPr>
        <p:spPr>
          <a:xfrm>
            <a:off x="1005840" y="3575304"/>
            <a:ext cx="4206240" cy="457200"/>
          </a:xfrm>
          <a:prstGeom prst="rect">
            <a:avLst/>
          </a:prstGeom>
          <a:noFill/>
          <a:ln/>
        </p:spPr>
        <p:txBody>
          <a:bodyPr wrap="square" lIns="0" tIns="0" rIns="0" bIns="0" rtlCol="0" anchor="ctr"/>
          <a:lstStyle/>
          <a:p>
            <a:pPr marL="0" indent="0">
              <a:buNone/>
            </a:pPr>
            <a:r>
              <a:rPr lang="en-US" sz="1500" dirty="0">
                <a:solidFill>
                  <a:schemeClr val="tx1"/>
                </a:solidFill>
              </a:rPr>
              <a:t>Wo sind einfache Regeln günstiger?</a:t>
            </a:r>
            <a:endParaRPr lang="en-US" sz="1500" dirty="0"/>
          </a:p>
        </p:txBody>
      </p:sp>
      <p:sp>
        <p:nvSpPr>
          <p:cNvPr id="25" name="Text 22"/>
          <p:cNvSpPr txBox="1"/>
          <p:nvPr/>
        </p:nvSpPr>
        <p:spPr>
          <a:xfrm>
            <a:off x="5303520" y="3575304"/>
            <a:ext cx="3291840" cy="457200"/>
          </a:xfrm>
          <a:prstGeom prst="rect">
            <a:avLst/>
          </a:prstGeom>
          <a:noFill/>
          <a:ln/>
        </p:spPr>
        <p:txBody>
          <a:bodyPr wrap="square" lIns="0" tIns="0" rIns="0" bIns="0" rtlCol="0" anchor="ctr"/>
          <a:lstStyle/>
          <a:p>
            <a:pPr marL="0" indent="0">
              <a:buNone/>
            </a:pPr>
            <a:r>
              <a:rPr lang="en-US" sz="1300" dirty="0">
                <a:solidFill>
                  <a:srgbClr val="565C75"/>
                </a:solidFill>
              </a:rPr>
              <a:t>Kosten der Lösungswege vergleichen</a:t>
            </a:r>
            <a:endParaRPr lang="en-US" sz="1300" dirty="0"/>
          </a:p>
        </p:txBody>
      </p:sp>
      <p:sp>
        <p:nvSpPr>
          <p:cNvPr id="26" name="Auswertung-Zeile"/>
          <p:cNvSpPr/>
          <p:nvPr/>
        </p:nvSpPr>
        <p:spPr>
          <a:xfrm>
            <a:off x="457200" y="4096512"/>
            <a:ext cx="8229600" cy="457200"/>
          </a:xfrm>
          <a:prstGeom prst="roundRect">
            <a:avLst>
              <a:gd name="adj" fmla="val 16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7" name="Nummer"/>
          <p:cNvSpPr/>
          <p:nvPr/>
        </p:nvSpPr>
        <p:spPr>
          <a:xfrm>
            <a:off x="566928" y="4169664"/>
            <a:ext cx="310896" cy="310896"/>
          </a:xfrm>
          <a:prstGeom prst="ellipse">
            <a:avLst/>
          </a:prstGeom>
          <a:solidFill>
            <a:srgbClr val="3D8BFF"/>
          </a:solidFill>
          <a:ln w="12700">
            <a:solidFill>
              <a:srgbClr val="3D8BFF"/>
            </a:solidFill>
            <a:prstDash val="solid"/>
          </a:ln>
        </p:spPr>
        <p:txBody>
          <a:bodyPr/>
          <a:lstStyle/>
          <a:p>
            <a:endParaRPr lang="de-CH"/>
          </a:p>
        </p:txBody>
      </p:sp>
      <p:sp>
        <p:nvSpPr>
          <p:cNvPr id="28" name="Text 25"/>
          <p:cNvSpPr txBox="1"/>
          <p:nvPr/>
        </p:nvSpPr>
        <p:spPr>
          <a:xfrm>
            <a:off x="566928" y="4169664"/>
            <a:ext cx="310896" cy="310896"/>
          </a:xfrm>
          <a:prstGeom prst="rect">
            <a:avLst/>
          </a:prstGeom>
          <a:noFill/>
          <a:ln/>
        </p:spPr>
        <p:txBody>
          <a:bodyPr wrap="square" lIns="0" tIns="0" rIns="0" bIns="0" rtlCol="0" anchor="ctr"/>
          <a:lstStyle/>
          <a:p>
            <a:pPr marL="0" indent="0" algn="ctr">
              <a:buNone/>
            </a:pPr>
            <a:r>
              <a:rPr lang="en-US" sz="1300" b="1" dirty="0">
                <a:solidFill>
                  <a:srgbClr val="111427"/>
                </a:solidFill>
              </a:rPr>
              <a:t>5</a:t>
            </a:r>
            <a:endParaRPr lang="en-US" sz="1300" dirty="0"/>
          </a:p>
        </p:txBody>
      </p:sp>
      <p:sp>
        <p:nvSpPr>
          <p:cNvPr id="29" name="Text 26"/>
          <p:cNvSpPr txBox="1"/>
          <p:nvPr/>
        </p:nvSpPr>
        <p:spPr>
          <a:xfrm>
            <a:off x="1005840" y="4096512"/>
            <a:ext cx="4206240" cy="457200"/>
          </a:xfrm>
          <a:prstGeom prst="rect">
            <a:avLst/>
          </a:prstGeom>
          <a:noFill/>
          <a:ln/>
        </p:spPr>
        <p:txBody>
          <a:bodyPr wrap="square" lIns="0" tIns="0" rIns="0" bIns="0" rtlCol="0" anchor="ctr"/>
          <a:lstStyle/>
          <a:p>
            <a:pPr marL="0" indent="0">
              <a:buNone/>
            </a:pPr>
            <a:r>
              <a:rPr lang="en-US" sz="1500" dirty="0">
                <a:solidFill>
                  <a:schemeClr val="tx1"/>
                </a:solidFill>
              </a:rPr>
              <a:t>Wann zahlt sich der Aufwand aus?</a:t>
            </a:r>
            <a:endParaRPr lang="en-US" sz="1500" dirty="0"/>
          </a:p>
        </p:txBody>
      </p:sp>
      <p:sp>
        <p:nvSpPr>
          <p:cNvPr id="30" name="Text 27"/>
          <p:cNvSpPr txBox="1"/>
          <p:nvPr/>
        </p:nvSpPr>
        <p:spPr>
          <a:xfrm>
            <a:off x="5303520" y="4096512"/>
            <a:ext cx="3291840" cy="457200"/>
          </a:xfrm>
          <a:prstGeom prst="rect">
            <a:avLst/>
          </a:prstGeom>
          <a:noFill/>
          <a:ln/>
        </p:spPr>
        <p:txBody>
          <a:bodyPr wrap="square" lIns="0" tIns="0" rIns="0" bIns="0" rtlCol="0" anchor="ctr"/>
          <a:lstStyle/>
          <a:p>
            <a:pPr marL="0" indent="0">
              <a:buNone/>
            </a:pPr>
            <a:r>
              <a:rPr lang="en-US" sz="1300" dirty="0">
                <a:solidFill>
                  <a:srgbClr val="565C75"/>
                </a:solidFill>
              </a:rPr>
              <a:t>Break-even berechnen</a:t>
            </a:r>
            <a:endParaRPr lang="en-US" sz="13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Das Register: Damit die Suche schnell bleibt</a:t>
            </a:r>
            <a:endParaRPr lang="en-US" sz="3000" dirty="0"/>
          </a:p>
        </p:txBody>
      </p:sp>
      <p:sp>
        <p:nvSpPr>
          <p:cNvPr id="4" name="Analogie"/>
          <p:cNvSpPr/>
          <p:nvPr/>
        </p:nvSpPr>
        <p:spPr>
          <a:xfrm>
            <a:off x="457200" y="1143000"/>
            <a:ext cx="5303520" cy="685800"/>
          </a:xfrm>
          <a:prstGeom prst="roundRect">
            <a:avLst>
              <a:gd name="adj" fmla="val 10667"/>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143000"/>
            <a:ext cx="4937760" cy="685800"/>
          </a:xfrm>
          <a:prstGeom prst="rect">
            <a:avLst/>
          </a:prstGeom>
          <a:noFill/>
          <a:ln/>
        </p:spPr>
        <p:txBody>
          <a:bodyPr wrap="square" lIns="0" tIns="0" rIns="0" bIns="0" rtlCol="0" anchor="ctr"/>
          <a:lstStyle/>
          <a:p>
            <a:pPr marL="0" indent="0">
              <a:buNone/>
            </a:pPr>
            <a:r>
              <a:rPr lang="en-US" sz="1500" b="1" dirty="0">
                <a:solidFill>
                  <a:schemeClr val="bg1"/>
                </a:solidFill>
              </a:rPr>
              <a:t>Wie das Register im Buch: nachschlagen statt jede Seite lesen</a:t>
            </a:r>
            <a:endParaRPr lang="en-US" sz="1500" dirty="0"/>
          </a:p>
        </p:txBody>
      </p:sp>
      <p:sp>
        <p:nvSpPr>
          <p:cNvPr id="6" name="Register-Zeile"/>
          <p:cNvSpPr/>
          <p:nvPr/>
        </p:nvSpPr>
        <p:spPr>
          <a:xfrm>
            <a:off x="457200" y="1938528"/>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7" name="Text 4"/>
          <p:cNvSpPr txBox="1"/>
          <p:nvPr/>
        </p:nvSpPr>
        <p:spPr>
          <a:xfrm>
            <a:off x="640080" y="1938528"/>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Branche + Problemart</a:t>
            </a:r>
            <a:endParaRPr lang="en-US" sz="1400" dirty="0"/>
          </a:p>
        </p:txBody>
      </p:sp>
      <p:sp>
        <p:nvSpPr>
          <p:cNvPr id="8" name="Text 5"/>
          <p:cNvSpPr txBox="1"/>
          <p:nvPr/>
        </p:nvSpPr>
        <p:spPr>
          <a:xfrm>
            <a:off x="2834640" y="1938528"/>
            <a:ext cx="2834640" cy="393192"/>
          </a:xfrm>
          <a:prstGeom prst="rect">
            <a:avLst/>
          </a:prstGeom>
          <a:noFill/>
          <a:ln/>
        </p:spPr>
        <p:txBody>
          <a:bodyPr wrap="square" lIns="0" tIns="0" rIns="0" bIns="0" rtlCol="0" anchor="ctr"/>
          <a:lstStyle/>
          <a:p>
            <a:pPr marL="0" indent="0">
              <a:buNone/>
            </a:pPr>
            <a:r>
              <a:rPr lang="en-US" sz="1400" dirty="0">
                <a:solidFill>
                  <a:srgbClr val="565C75"/>
                </a:solidFill>
              </a:rPr>
              <a:t>Liste filtern und sortieren</a:t>
            </a:r>
            <a:endParaRPr lang="en-US" sz="1400" dirty="0"/>
          </a:p>
        </p:txBody>
      </p:sp>
      <p:sp>
        <p:nvSpPr>
          <p:cNvPr id="9" name="Register-Zeile"/>
          <p:cNvSpPr/>
          <p:nvPr/>
        </p:nvSpPr>
        <p:spPr>
          <a:xfrm>
            <a:off x="457200" y="2386584"/>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10" name="Text 7"/>
          <p:cNvSpPr txBox="1"/>
          <p:nvPr/>
        </p:nvSpPr>
        <p:spPr>
          <a:xfrm>
            <a:off x="640080" y="2386584"/>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Risiko + Empfehlung</a:t>
            </a:r>
            <a:endParaRPr lang="en-US" sz="1400" dirty="0"/>
          </a:p>
        </p:txBody>
      </p:sp>
      <p:sp>
        <p:nvSpPr>
          <p:cNvPr id="11" name="Text 8"/>
          <p:cNvSpPr txBox="1"/>
          <p:nvPr/>
        </p:nvSpPr>
        <p:spPr>
          <a:xfrm>
            <a:off x="2834640" y="2386584"/>
            <a:ext cx="2834640" cy="393192"/>
          </a:xfrm>
          <a:prstGeom prst="rect">
            <a:avLst/>
          </a:prstGeom>
          <a:noFill/>
          <a:ln/>
        </p:spPr>
        <p:txBody>
          <a:bodyPr wrap="square" lIns="0" tIns="0" rIns="0" bIns="0" rtlCol="0" anchor="ctr"/>
          <a:lstStyle/>
          <a:p>
            <a:pPr marL="0" indent="0">
              <a:buNone/>
            </a:pPr>
            <a:r>
              <a:rPr lang="en-US" sz="1400" dirty="0">
                <a:solidFill>
                  <a:srgbClr val="565C75"/>
                </a:solidFill>
              </a:rPr>
              <a:t>Auswertungen nach Risiko</a:t>
            </a:r>
            <a:endParaRPr lang="en-US" sz="1400" dirty="0"/>
          </a:p>
        </p:txBody>
      </p:sp>
      <p:sp>
        <p:nvSpPr>
          <p:cNvPr id="12" name="Register-Zeile"/>
          <p:cNvSpPr/>
          <p:nvPr/>
        </p:nvSpPr>
        <p:spPr>
          <a:xfrm>
            <a:off x="457200" y="2834640"/>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13" name="Text 10"/>
          <p:cNvSpPr txBox="1"/>
          <p:nvPr/>
        </p:nvSpPr>
        <p:spPr>
          <a:xfrm>
            <a:off x="640080" y="2834640"/>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Punktwert</a:t>
            </a:r>
            <a:endParaRPr lang="en-US" sz="1400" dirty="0"/>
          </a:p>
        </p:txBody>
      </p:sp>
      <p:sp>
        <p:nvSpPr>
          <p:cNvPr id="14" name="Text 11"/>
          <p:cNvSpPr txBox="1"/>
          <p:nvPr/>
        </p:nvSpPr>
        <p:spPr>
          <a:xfrm>
            <a:off x="2834640" y="2834640"/>
            <a:ext cx="2834640" cy="393192"/>
          </a:xfrm>
          <a:prstGeom prst="rect">
            <a:avLst/>
          </a:prstGeom>
          <a:noFill/>
          <a:ln/>
        </p:spPr>
        <p:txBody>
          <a:bodyPr wrap="square" lIns="0" tIns="0" rIns="0" bIns="0" rtlCol="0" anchor="ctr"/>
          <a:lstStyle/>
          <a:p>
            <a:pPr marL="0" indent="0">
              <a:buNone/>
            </a:pPr>
            <a:r>
              <a:rPr lang="en-US" sz="1400" dirty="0">
                <a:solidFill>
                  <a:srgbClr val="565C75"/>
                </a:solidFill>
              </a:rPr>
              <a:t>Rangliste der besten Ideen</a:t>
            </a:r>
            <a:endParaRPr lang="en-US" sz="1400" dirty="0"/>
          </a:p>
        </p:txBody>
      </p:sp>
      <p:sp>
        <p:nvSpPr>
          <p:cNvPr id="15" name="Register-Zeile"/>
          <p:cNvSpPr/>
          <p:nvPr/>
        </p:nvSpPr>
        <p:spPr>
          <a:xfrm>
            <a:off x="457200" y="3282696"/>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16" name="Text 13"/>
          <p:cNvSpPr txBox="1"/>
          <p:nvPr/>
        </p:nvSpPr>
        <p:spPr>
          <a:xfrm>
            <a:off x="640080" y="3282696"/>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Fallmenge</a:t>
            </a:r>
            <a:endParaRPr lang="en-US" sz="1400" dirty="0"/>
          </a:p>
        </p:txBody>
      </p:sp>
      <p:sp>
        <p:nvSpPr>
          <p:cNvPr id="17" name="Text 14"/>
          <p:cNvSpPr txBox="1"/>
          <p:nvPr/>
        </p:nvSpPr>
        <p:spPr>
          <a:xfrm>
            <a:off x="2834640" y="3282696"/>
            <a:ext cx="2834640" cy="393192"/>
          </a:xfrm>
          <a:prstGeom prst="rect">
            <a:avLst/>
          </a:prstGeom>
          <a:noFill/>
          <a:ln/>
        </p:spPr>
        <p:txBody>
          <a:bodyPr wrap="square" lIns="0" tIns="0" rIns="0" bIns="0" rtlCol="0" anchor="ctr"/>
          <a:lstStyle/>
          <a:p>
            <a:pPr marL="0" indent="0">
              <a:buNone/>
            </a:pPr>
            <a:r>
              <a:rPr lang="en-US" sz="1400" dirty="0">
                <a:solidFill>
                  <a:srgbClr val="565C75"/>
                </a:solidFill>
              </a:rPr>
              <a:t>Auswertungen nach Menge</a:t>
            </a:r>
            <a:endParaRPr lang="en-US" sz="1400" dirty="0"/>
          </a:p>
        </p:txBody>
      </p:sp>
      <p:sp>
        <p:nvSpPr>
          <p:cNvPr id="18" name="Register-Zeile"/>
          <p:cNvSpPr/>
          <p:nvPr/>
        </p:nvSpPr>
        <p:spPr>
          <a:xfrm>
            <a:off x="457200" y="3730752"/>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19" name="Text 16"/>
          <p:cNvSpPr txBox="1"/>
          <p:nvPr/>
        </p:nvSpPr>
        <p:spPr>
          <a:xfrm>
            <a:off x="640080" y="3730752"/>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Schlagwörter</a:t>
            </a:r>
            <a:endParaRPr lang="en-US" sz="1400" dirty="0"/>
          </a:p>
        </p:txBody>
      </p:sp>
      <p:sp>
        <p:nvSpPr>
          <p:cNvPr id="20" name="Text 17"/>
          <p:cNvSpPr txBox="1"/>
          <p:nvPr/>
        </p:nvSpPr>
        <p:spPr>
          <a:xfrm>
            <a:off x="2834640" y="3730752"/>
            <a:ext cx="2834640" cy="393192"/>
          </a:xfrm>
          <a:prstGeom prst="rect">
            <a:avLst/>
          </a:prstGeom>
          <a:noFill/>
          <a:ln/>
        </p:spPr>
        <p:txBody>
          <a:bodyPr wrap="square" lIns="0" tIns="0" rIns="0" bIns="0" rtlCol="0" anchor="ctr"/>
          <a:lstStyle/>
          <a:p>
            <a:pPr marL="0" indent="0">
              <a:buNone/>
            </a:pPr>
            <a:r>
              <a:rPr lang="en-US" sz="1400" dirty="0">
                <a:solidFill>
                  <a:srgbClr val="565C75"/>
                </a:solidFill>
              </a:rPr>
              <a:t>Ähnliche Ideen finden</a:t>
            </a:r>
            <a:endParaRPr lang="en-US" sz="1400" dirty="0"/>
          </a:p>
        </p:txBody>
      </p:sp>
      <p:sp>
        <p:nvSpPr>
          <p:cNvPr id="21" name="Register-Zeile"/>
          <p:cNvSpPr/>
          <p:nvPr/>
        </p:nvSpPr>
        <p:spPr>
          <a:xfrm>
            <a:off x="457200" y="4178808"/>
            <a:ext cx="5303520" cy="393192"/>
          </a:xfrm>
          <a:prstGeom prst="roundRect">
            <a:avLst>
              <a:gd name="adj" fmla="val 18605"/>
            </a:avLst>
          </a:prstGeom>
          <a:solidFill>
            <a:srgbClr val="FFFFFF"/>
          </a:solidFill>
          <a:ln w="12700">
            <a:solidFill>
              <a:srgbClr val="FFFFFF"/>
            </a:solidFill>
            <a:prstDash val="solid"/>
          </a:ln>
        </p:spPr>
        <p:txBody>
          <a:bodyPr/>
          <a:lstStyle/>
          <a:p>
            <a:endParaRPr lang="de-CH"/>
          </a:p>
        </p:txBody>
      </p:sp>
      <p:sp>
        <p:nvSpPr>
          <p:cNvPr id="22" name="Text 19"/>
          <p:cNvSpPr txBox="1"/>
          <p:nvPr/>
        </p:nvSpPr>
        <p:spPr>
          <a:xfrm>
            <a:off x="640080" y="4178808"/>
            <a:ext cx="2194560" cy="393192"/>
          </a:xfrm>
          <a:prstGeom prst="rect">
            <a:avLst/>
          </a:prstGeom>
          <a:noFill/>
          <a:ln/>
        </p:spPr>
        <p:txBody>
          <a:bodyPr wrap="square" lIns="0" tIns="0" rIns="0" bIns="0" rtlCol="0" anchor="ctr"/>
          <a:lstStyle/>
          <a:p>
            <a:pPr marL="0" indent="0">
              <a:buNone/>
            </a:pPr>
            <a:r>
              <a:rPr lang="en-US" sz="1400" b="1" dirty="0">
                <a:solidFill>
                  <a:schemeClr val="tx2"/>
                </a:solidFill>
              </a:rPr>
              <a:t>Volltext</a:t>
            </a:r>
            <a:endParaRPr lang="en-US" sz="1400" dirty="0"/>
          </a:p>
        </p:txBody>
      </p:sp>
      <p:sp>
        <p:nvSpPr>
          <p:cNvPr id="23" name="Text 20"/>
          <p:cNvSpPr txBox="1"/>
          <p:nvPr/>
        </p:nvSpPr>
        <p:spPr>
          <a:xfrm>
            <a:off x="2834640" y="4178808"/>
            <a:ext cx="2834640" cy="393192"/>
          </a:xfrm>
          <a:prstGeom prst="rect">
            <a:avLst/>
          </a:prstGeom>
          <a:noFill/>
          <a:ln/>
        </p:spPr>
        <p:txBody>
          <a:bodyPr wrap="square" lIns="0" tIns="0" rIns="0" bIns="0" rtlCol="0" anchor="ctr"/>
          <a:lstStyle/>
          <a:p>
            <a:pPr marL="0" indent="0">
              <a:buNone/>
            </a:pPr>
            <a:r>
              <a:rPr lang="en-US" sz="1400" dirty="0">
                <a:solidFill>
                  <a:srgbClr val="565C75"/>
                </a:solidFill>
              </a:rPr>
              <a:t>Suche nach beliebigen Wörtern</a:t>
            </a:r>
            <a:endParaRPr lang="en-US" sz="1400" dirty="0"/>
          </a:p>
        </p:txBody>
      </p:sp>
      <p:sp>
        <p:nvSpPr>
          <p:cNvPr id="24" name="Kennzahl"/>
          <p:cNvSpPr/>
          <p:nvPr/>
        </p:nvSpPr>
        <p:spPr>
          <a:xfrm>
            <a:off x="5989320" y="1143000"/>
            <a:ext cx="2697480" cy="1691640"/>
          </a:xfrm>
          <a:prstGeom prst="roundRect">
            <a:avLst>
              <a:gd name="adj" fmla="val 4324"/>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25" name="Text 22"/>
          <p:cNvSpPr txBox="1"/>
          <p:nvPr/>
        </p:nvSpPr>
        <p:spPr>
          <a:xfrm>
            <a:off x="6172200" y="1261872"/>
            <a:ext cx="2377440" cy="50292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5 von 5</a:t>
            </a:r>
            <a:endParaRPr lang="en-US" sz="3200" dirty="0"/>
          </a:p>
        </p:txBody>
      </p:sp>
      <p:sp>
        <p:nvSpPr>
          <p:cNvPr id="26" name="Text 23"/>
          <p:cNvSpPr txBox="1"/>
          <p:nvPr/>
        </p:nvSpPr>
        <p:spPr>
          <a:xfrm>
            <a:off x="6172200" y="1810512"/>
            <a:ext cx="2377440" cy="914400"/>
          </a:xfrm>
          <a:prstGeom prst="rect">
            <a:avLst/>
          </a:prstGeom>
          <a:noFill/>
          <a:ln/>
        </p:spPr>
        <p:txBody>
          <a:bodyPr wrap="square" lIns="0" tIns="0" rIns="0" bIns="0" rtlCol="0" anchor="t"/>
          <a:lstStyle/>
          <a:p>
            <a:pPr marL="0" indent="0">
              <a:buNone/>
            </a:pPr>
            <a:r>
              <a:rPr lang="en-US" sz="1400" dirty="0">
                <a:solidFill>
                  <a:schemeClr val="bg2"/>
                </a:solidFill>
              </a:rPr>
              <a:t>typischen Suchen nutzen ein Register (geprüft)</a:t>
            </a:r>
            <a:endParaRPr lang="en-US" sz="1400" dirty="0"/>
          </a:p>
        </p:txBody>
      </p:sp>
      <p:sp>
        <p:nvSpPr>
          <p:cNvPr id="27" name="Bewusst"/>
          <p:cNvSpPr/>
          <p:nvPr/>
        </p:nvSpPr>
        <p:spPr>
          <a:xfrm>
            <a:off x="5989320" y="2971800"/>
            <a:ext cx="2697480" cy="1645920"/>
          </a:xfrm>
          <a:prstGeom prst="roundRect">
            <a:avLst>
              <a:gd name="adj" fmla="val 444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8" name="Text 25"/>
          <p:cNvSpPr txBox="1"/>
          <p:nvPr/>
        </p:nvSpPr>
        <p:spPr>
          <a:xfrm>
            <a:off x="6172200" y="3063240"/>
            <a:ext cx="2377440" cy="274320"/>
          </a:xfrm>
          <a:prstGeom prst="rect">
            <a:avLst/>
          </a:prstGeom>
          <a:noFill/>
          <a:ln/>
        </p:spPr>
        <p:txBody>
          <a:bodyPr wrap="square" lIns="0" tIns="0" rIns="0" bIns="0" rtlCol="0" anchor="t"/>
          <a:lstStyle/>
          <a:p>
            <a:pPr marL="0" indent="0">
              <a:buNone/>
            </a:pPr>
            <a:r>
              <a:rPr lang="en-US" sz="1400" b="1" dirty="0">
                <a:solidFill>
                  <a:schemeClr val="tx2"/>
                </a:solidFill>
              </a:rPr>
              <a:t>Bewusst weggelassen</a:t>
            </a:r>
            <a:endParaRPr lang="en-US" sz="1400" dirty="0"/>
          </a:p>
        </p:txBody>
      </p:sp>
      <p:sp>
        <p:nvSpPr>
          <p:cNvPr id="29" name="Text 26"/>
          <p:cNvSpPr txBox="1"/>
          <p:nvPr/>
        </p:nvSpPr>
        <p:spPr>
          <a:xfrm>
            <a:off x="6172200" y="3383280"/>
            <a:ext cx="2377440" cy="1188720"/>
          </a:xfrm>
          <a:prstGeom prst="rect">
            <a:avLst/>
          </a:prstGeom>
          <a:noFill/>
          <a:ln/>
        </p:spPr>
        <p:txBody>
          <a:bodyPr wrap="square" lIns="0" tIns="0" rIns="0" bIns="0" rtlCol="0" anchor="t"/>
          <a:lstStyle/>
          <a:p>
            <a:pPr marL="0" indent="0">
              <a:buNone/>
            </a:pPr>
            <a:r>
              <a:rPr lang="en-US" sz="1300" dirty="0">
                <a:solidFill>
                  <a:srgbClr val="565C75"/>
                </a:solidFill>
              </a:rPr>
              <a:t>Jedes Register kostet Platz und Zeit beim Speichern. Wir legen nur an, was wir brauchen.</a:t>
            </a:r>
            <a:endParaRPr lang="en-US" sz="13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Was wir herausgefunden haben</a:t>
            </a:r>
            <a:endParaRPr lang="en-US" sz="3000" dirty="0"/>
          </a:p>
        </p:txBody>
      </p:sp>
      <p:sp>
        <p:nvSpPr>
          <p:cNvPr id="4" name="Erkenntnis-Karte"/>
          <p:cNvSpPr/>
          <p:nvPr/>
        </p:nvSpPr>
        <p:spPr>
          <a:xfrm>
            <a:off x="457200"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Thema"/>
          <p:cNvSpPr txBox="1"/>
          <p:nvPr/>
        </p:nvSpPr>
        <p:spPr>
          <a:xfrm>
            <a:off x="640080" y="1298448"/>
            <a:ext cx="2249424" cy="310896"/>
          </a:xfrm>
          <a:prstGeom prst="roundRect">
            <a:avLst>
              <a:gd name="adj" fmla="val 29412"/>
            </a:avLst>
          </a:prstGeom>
          <a:solidFill>
            <a:srgbClr val="00C46A"/>
          </a:solidFill>
          <a:ln/>
        </p:spPr>
        <p:txBody>
          <a:bodyPr wrap="square" lIns="0" tIns="0" rIns="0" bIns="0" rtlCol="0" anchor="ctr"/>
          <a:lstStyle/>
          <a:p>
            <a:pPr marL="0" indent="0" algn="ctr">
              <a:buNone/>
            </a:pPr>
            <a:r>
              <a:rPr lang="en-US" sz="1200" b="1" dirty="0">
                <a:solidFill>
                  <a:srgbClr val="111427"/>
                </a:solidFill>
              </a:rPr>
              <a:t>Menge</a:t>
            </a:r>
            <a:endParaRPr lang="en-US" sz="1200" dirty="0"/>
          </a:p>
        </p:txBody>
      </p:sp>
      <p:sp>
        <p:nvSpPr>
          <p:cNvPr id="6" name="Text 3"/>
          <p:cNvSpPr txBox="1"/>
          <p:nvPr/>
        </p:nvSpPr>
        <p:spPr>
          <a:xfrm>
            <a:off x="640080"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0 → 8 von 8</a:t>
            </a:r>
            <a:endParaRPr lang="en-US" sz="3200" dirty="0"/>
          </a:p>
        </p:txBody>
      </p:sp>
      <p:sp>
        <p:nvSpPr>
          <p:cNvPr id="7" name="Text 4"/>
          <p:cNvSpPr txBox="1"/>
          <p:nvPr/>
        </p:nvSpPr>
        <p:spPr>
          <a:xfrm>
            <a:off x="640080"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Unter 50 Fällen im Monat nie KI, ab 50’000 immer. Aber die Menge allein entscheidet nicht.</a:t>
            </a:r>
            <a:endParaRPr lang="en-US" sz="1500" dirty="0"/>
          </a:p>
        </p:txBody>
      </p:sp>
      <p:sp>
        <p:nvSpPr>
          <p:cNvPr id="8" name="Erkenntnis-Karte"/>
          <p:cNvSpPr/>
          <p:nvPr/>
        </p:nvSpPr>
        <p:spPr>
          <a:xfrm>
            <a:off x="3264408"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Thema"/>
          <p:cNvSpPr txBox="1"/>
          <p:nvPr/>
        </p:nvSpPr>
        <p:spPr>
          <a:xfrm>
            <a:off x="3447288" y="1298448"/>
            <a:ext cx="2249424" cy="310896"/>
          </a:xfrm>
          <a:prstGeom prst="roundRect">
            <a:avLst>
              <a:gd name="adj" fmla="val 29412"/>
            </a:avLst>
          </a:prstGeom>
          <a:solidFill>
            <a:srgbClr val="3D8BFF"/>
          </a:solidFill>
          <a:ln/>
        </p:spPr>
        <p:txBody>
          <a:bodyPr wrap="square" lIns="0" tIns="0" rIns="0" bIns="0" rtlCol="0" anchor="ctr"/>
          <a:lstStyle/>
          <a:p>
            <a:pPr marL="0" indent="0" algn="ctr">
              <a:buNone/>
            </a:pPr>
            <a:r>
              <a:rPr lang="en-US" sz="1200" b="1" dirty="0">
                <a:solidFill>
                  <a:srgbClr val="111427"/>
                </a:solidFill>
              </a:rPr>
              <a:t>Mensch entscheidet mit</a:t>
            </a:r>
            <a:endParaRPr lang="en-US" sz="1200" dirty="0"/>
          </a:p>
        </p:txBody>
      </p:sp>
      <p:sp>
        <p:nvSpPr>
          <p:cNvPr id="10" name="Text 7"/>
          <p:cNvSpPr txBox="1"/>
          <p:nvPr/>
        </p:nvSpPr>
        <p:spPr>
          <a:xfrm>
            <a:off x="3447288"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0 von 14</a:t>
            </a:r>
            <a:endParaRPr lang="en-US" sz="3200" dirty="0"/>
          </a:p>
        </p:txBody>
      </p:sp>
      <p:sp>
        <p:nvSpPr>
          <p:cNvPr id="11" name="Text 8"/>
          <p:cNvSpPr txBox="1"/>
          <p:nvPr/>
        </p:nvSpPr>
        <p:spPr>
          <a:xfrm>
            <a:off x="3447288"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Bei hohem Risiko empfiehlt die App KI nie allein, 9-mal als Assistenz.</a:t>
            </a:r>
            <a:endParaRPr lang="en-US" sz="1500" dirty="0"/>
          </a:p>
        </p:txBody>
      </p:sp>
      <p:sp>
        <p:nvSpPr>
          <p:cNvPr id="12" name="Erkenntnis-Karte"/>
          <p:cNvSpPr/>
          <p:nvPr/>
        </p:nvSpPr>
        <p:spPr>
          <a:xfrm>
            <a:off x="6071616"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3" name="Thema"/>
          <p:cNvSpPr txBox="1"/>
          <p:nvPr/>
        </p:nvSpPr>
        <p:spPr>
          <a:xfrm>
            <a:off x="6254496" y="1298448"/>
            <a:ext cx="2249424" cy="310896"/>
          </a:xfrm>
          <a:prstGeom prst="roundRect">
            <a:avLst>
              <a:gd name="adj" fmla="val 29412"/>
            </a:avLst>
          </a:prstGeom>
          <a:solidFill>
            <a:srgbClr val="FFD400"/>
          </a:solidFill>
          <a:ln/>
        </p:spPr>
        <p:txBody>
          <a:bodyPr wrap="square" lIns="0" tIns="0" rIns="0" bIns="0" rtlCol="0" anchor="ctr"/>
          <a:lstStyle/>
          <a:p>
            <a:pPr marL="0" indent="0" algn="ctr">
              <a:buNone/>
            </a:pPr>
            <a:r>
              <a:rPr lang="en-US" sz="1200" b="1" dirty="0">
                <a:solidFill>
                  <a:srgbClr val="111427"/>
                </a:solidFill>
              </a:rPr>
              <a:t>Einfache Regeln</a:t>
            </a:r>
            <a:endParaRPr lang="en-US" sz="1200" dirty="0"/>
          </a:p>
        </p:txBody>
      </p:sp>
      <p:sp>
        <p:nvSpPr>
          <p:cNvPr id="14" name="Text 11"/>
          <p:cNvSpPr txBox="1"/>
          <p:nvPr/>
        </p:nvSpPr>
        <p:spPr>
          <a:xfrm>
            <a:off x="6254496"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11 von 48</a:t>
            </a:r>
            <a:endParaRPr lang="en-US" sz="3200" dirty="0"/>
          </a:p>
        </p:txBody>
      </p:sp>
      <p:sp>
        <p:nvSpPr>
          <p:cNvPr id="15" name="Text 12"/>
          <p:cNvSpPr txBox="1"/>
          <p:nvPr/>
        </p:nvSpPr>
        <p:spPr>
          <a:xfrm>
            <a:off x="6254496"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Bei 11 Ideen sind einfache Regeln über ein Jahr günstiger, bei fast gleicher Genauigkeit.</a:t>
            </a:r>
            <a:endParaRPr lang="en-US" sz="1500" dirty="0"/>
          </a:p>
        </p:txBody>
      </p:sp>
      <p:sp>
        <p:nvSpPr>
          <p:cNvPr id="16" name="Zusatz"/>
          <p:cNvSpPr/>
          <p:nvPr/>
        </p:nvSpPr>
        <p:spPr>
          <a:xfrm>
            <a:off x="457200" y="4160520"/>
            <a:ext cx="8229600" cy="457200"/>
          </a:xfrm>
          <a:prstGeom prst="roundRect">
            <a:avLst>
              <a:gd name="adj" fmla="val 16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17" name="Text 14"/>
          <p:cNvSpPr txBox="1"/>
          <p:nvPr/>
        </p:nvSpPr>
        <p:spPr>
          <a:xfrm>
            <a:off x="640080" y="4160520"/>
            <a:ext cx="7863840" cy="457200"/>
          </a:xfrm>
          <a:prstGeom prst="rect">
            <a:avLst/>
          </a:prstGeom>
          <a:noFill/>
          <a:ln/>
        </p:spPr>
        <p:txBody>
          <a:bodyPr wrap="square" lIns="0" tIns="0" rIns="0" bIns="0" rtlCol="0" anchor="ctr"/>
          <a:lstStyle/>
          <a:p>
            <a:pPr marL="0" indent="0" algn="ctr">
              <a:buNone/>
            </a:pPr>
            <a:r>
              <a:rPr lang="en-US" sz="1400" dirty="0">
                <a:solidFill>
                  <a:schemeClr val="bg1"/>
                </a:solidFill>
              </a:rPr>
              <a:t>Bei Texten und Bildern empfiehlt die App in 78 % der Fälle KI, bei Tabellen-Daten nur in 44 %.</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Unsere Antwort: KI lohnt sich, wenn …</a:t>
            </a:r>
            <a:endParaRPr lang="en-US" sz="3000" dirty="0"/>
          </a:p>
        </p:txBody>
      </p:sp>
      <p:sp>
        <p:nvSpPr>
          <p:cNvPr id="4" name="Bedingung"/>
          <p:cNvSpPr/>
          <p:nvPr/>
        </p:nvSpPr>
        <p:spPr>
          <a:xfrm>
            <a:off x="457200"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5" name="Nummer"/>
          <p:cNvSpPr/>
          <p:nvPr/>
        </p:nvSpPr>
        <p:spPr>
          <a:xfrm>
            <a:off x="640080"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6" name="Text 3"/>
          <p:cNvSpPr txBox="1"/>
          <p:nvPr/>
        </p:nvSpPr>
        <p:spPr>
          <a:xfrm>
            <a:off x="640080"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1</a:t>
            </a:r>
            <a:endParaRPr lang="en-US" sz="1800" dirty="0"/>
          </a:p>
        </p:txBody>
      </p:sp>
      <p:sp>
        <p:nvSpPr>
          <p:cNvPr id="7" name="Text 4"/>
          <p:cNvSpPr txBox="1"/>
          <p:nvPr/>
        </p:nvSpPr>
        <p:spPr>
          <a:xfrm>
            <a:off x="640080"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einfache Regeln nicht reichen</a:t>
            </a:r>
            <a:endParaRPr lang="en-US" sz="1700" dirty="0"/>
          </a:p>
        </p:txBody>
      </p:sp>
      <p:sp>
        <p:nvSpPr>
          <p:cNvPr id="8" name="Text 5"/>
          <p:cNvSpPr txBox="1"/>
          <p:nvPr/>
        </p:nvSpPr>
        <p:spPr>
          <a:xfrm>
            <a:off x="640080" y="2743200"/>
            <a:ext cx="1600200" cy="685800"/>
          </a:xfrm>
          <a:prstGeom prst="rect">
            <a:avLst/>
          </a:prstGeom>
          <a:noFill/>
          <a:ln/>
        </p:spPr>
        <p:txBody>
          <a:bodyPr wrap="square" lIns="0" tIns="0" rIns="0" bIns="0" rtlCol="0" anchor="t"/>
          <a:lstStyle/>
          <a:p>
            <a:pPr marL="0" indent="0">
              <a:buNone/>
            </a:pPr>
            <a:r>
              <a:rPr lang="en-US" sz="1400" dirty="0">
                <a:solidFill>
                  <a:srgbClr val="C9CDE0"/>
                </a:solidFill>
              </a:rPr>
              <a:t>Zum Beispiel bei Texten oder Bildern</a:t>
            </a:r>
            <a:endParaRPr lang="en-US" sz="1400" dirty="0"/>
          </a:p>
        </p:txBody>
      </p:sp>
      <p:sp>
        <p:nvSpPr>
          <p:cNvPr id="9" name="Sonst 1"/>
          <p:cNvSpPr txBox="1"/>
          <p:nvPr/>
        </p:nvSpPr>
        <p:spPr>
          <a:xfrm>
            <a:off x="594360" y="3520440"/>
            <a:ext cx="1645920" cy="329184"/>
          </a:xfrm>
          <a:prstGeom prst="roundRect">
            <a:avLst>
              <a:gd name="adj" fmla="val 27778"/>
            </a:avLst>
          </a:prstGeom>
          <a:solidFill>
            <a:srgbClr val="FFD400"/>
          </a:solidFill>
          <a:ln/>
        </p:spPr>
        <p:txBody>
          <a:bodyPr wrap="square" lIns="0" tIns="0" rIns="0" bIns="0" rtlCol="0" anchor="ctr"/>
          <a:lstStyle/>
          <a:p>
            <a:pPr marL="0" indent="0" algn="ctr">
              <a:buNone/>
            </a:pPr>
            <a:r>
              <a:rPr lang="en-US" sz="1100" b="1" dirty="0">
                <a:solidFill>
                  <a:srgbClr val="111427"/>
                </a:solidFill>
              </a:rPr>
              <a:t>Sonst: einfaches Programm</a:t>
            </a:r>
            <a:endParaRPr lang="en-US" sz="1100" dirty="0"/>
          </a:p>
        </p:txBody>
      </p:sp>
      <p:sp>
        <p:nvSpPr>
          <p:cNvPr id="10" name="Bedingung"/>
          <p:cNvSpPr/>
          <p:nvPr/>
        </p:nvSpPr>
        <p:spPr>
          <a:xfrm>
            <a:off x="2542032"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11" name="Nummer"/>
          <p:cNvSpPr/>
          <p:nvPr/>
        </p:nvSpPr>
        <p:spPr>
          <a:xfrm>
            <a:off x="2724912"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12" name="Text 9"/>
          <p:cNvSpPr txBox="1"/>
          <p:nvPr/>
        </p:nvSpPr>
        <p:spPr>
          <a:xfrm>
            <a:off x="2724912"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2</a:t>
            </a:r>
            <a:endParaRPr lang="en-US" sz="1800" dirty="0"/>
          </a:p>
        </p:txBody>
      </p:sp>
      <p:sp>
        <p:nvSpPr>
          <p:cNvPr id="13" name="Text 10"/>
          <p:cNvSpPr txBox="1"/>
          <p:nvPr/>
        </p:nvSpPr>
        <p:spPr>
          <a:xfrm>
            <a:off x="2724912"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genug gute Daten da sind</a:t>
            </a:r>
            <a:endParaRPr lang="en-US" sz="1700" dirty="0"/>
          </a:p>
        </p:txBody>
      </p:sp>
      <p:sp>
        <p:nvSpPr>
          <p:cNvPr id="14" name="Text 11"/>
          <p:cNvSpPr txBox="1"/>
          <p:nvPr/>
        </p:nvSpPr>
        <p:spPr>
          <a:xfrm>
            <a:off x="2724912" y="2743200"/>
            <a:ext cx="1600200" cy="685800"/>
          </a:xfrm>
          <a:prstGeom prst="rect">
            <a:avLst/>
          </a:prstGeom>
          <a:noFill/>
          <a:ln/>
        </p:spPr>
        <p:txBody>
          <a:bodyPr wrap="square" lIns="0" tIns="0" rIns="0" bIns="0" rtlCol="0" anchor="t"/>
          <a:lstStyle/>
          <a:p>
            <a:pPr marL="0" indent="0">
              <a:buNone/>
            </a:pPr>
            <a:r>
              <a:rPr lang="en-US" sz="1400" dirty="0">
                <a:solidFill>
                  <a:srgbClr val="C9CDE0"/>
                </a:solidFill>
              </a:rPr>
              <a:t>Die KI muss aus Beispielen lernen</a:t>
            </a:r>
            <a:endParaRPr lang="en-US" sz="1400" dirty="0"/>
          </a:p>
        </p:txBody>
      </p:sp>
      <p:sp>
        <p:nvSpPr>
          <p:cNvPr id="15" name="Sonst 2"/>
          <p:cNvSpPr txBox="1"/>
          <p:nvPr/>
        </p:nvSpPr>
        <p:spPr>
          <a:xfrm>
            <a:off x="2679192" y="3520440"/>
            <a:ext cx="1645920" cy="329184"/>
          </a:xfrm>
          <a:prstGeom prst="roundRect">
            <a:avLst>
              <a:gd name="adj" fmla="val 27778"/>
            </a:avLst>
          </a:prstGeom>
          <a:solidFill>
            <a:srgbClr val="9AA0B4"/>
          </a:solidFill>
          <a:ln/>
        </p:spPr>
        <p:txBody>
          <a:bodyPr wrap="square" lIns="0" tIns="0" rIns="0" bIns="0" rtlCol="0" anchor="ctr"/>
          <a:lstStyle/>
          <a:p>
            <a:pPr marL="0" indent="0" algn="ctr">
              <a:buNone/>
            </a:pPr>
            <a:r>
              <a:rPr lang="en-US" sz="1100" b="1" dirty="0">
                <a:solidFill>
                  <a:srgbClr val="111427"/>
                </a:solidFill>
              </a:rPr>
              <a:t>Sonst: erst Daten sammeln</a:t>
            </a:r>
            <a:endParaRPr lang="en-US" sz="1100" dirty="0"/>
          </a:p>
        </p:txBody>
      </p:sp>
      <p:sp>
        <p:nvSpPr>
          <p:cNvPr id="16" name="Bedingung"/>
          <p:cNvSpPr/>
          <p:nvPr/>
        </p:nvSpPr>
        <p:spPr>
          <a:xfrm>
            <a:off x="4626864"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17" name="Nummer"/>
          <p:cNvSpPr/>
          <p:nvPr/>
        </p:nvSpPr>
        <p:spPr>
          <a:xfrm>
            <a:off x="4809744"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18" name="Text 15"/>
          <p:cNvSpPr txBox="1"/>
          <p:nvPr/>
        </p:nvSpPr>
        <p:spPr>
          <a:xfrm>
            <a:off x="4809744"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3</a:t>
            </a:r>
            <a:endParaRPr lang="en-US" sz="1800" dirty="0"/>
          </a:p>
        </p:txBody>
      </p:sp>
      <p:sp>
        <p:nvSpPr>
          <p:cNvPr id="19" name="Text 16"/>
          <p:cNvSpPr txBox="1"/>
          <p:nvPr/>
        </p:nvSpPr>
        <p:spPr>
          <a:xfrm>
            <a:off x="4809744"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der Fall oft vorkommt</a:t>
            </a:r>
            <a:endParaRPr lang="en-US" sz="1700" dirty="0"/>
          </a:p>
        </p:txBody>
      </p:sp>
      <p:sp>
        <p:nvSpPr>
          <p:cNvPr id="20" name="Text 17"/>
          <p:cNvSpPr txBox="1"/>
          <p:nvPr/>
        </p:nvSpPr>
        <p:spPr>
          <a:xfrm>
            <a:off x="4809744" y="2743200"/>
            <a:ext cx="1600200" cy="685800"/>
          </a:xfrm>
          <a:prstGeom prst="rect">
            <a:avLst/>
          </a:prstGeom>
          <a:noFill/>
          <a:ln/>
        </p:spPr>
        <p:txBody>
          <a:bodyPr wrap="square" lIns="0" tIns="0" rIns="0" bIns="0" rtlCol="0" anchor="t"/>
          <a:lstStyle/>
          <a:p>
            <a:pPr marL="0" indent="0">
              <a:buNone/>
            </a:pPr>
            <a:r>
              <a:rPr lang="en-US" sz="1400" dirty="0">
                <a:solidFill>
                  <a:srgbClr val="C9CDE0"/>
                </a:solidFill>
              </a:rPr>
              <a:t>Ab einigen hundert Mal pro Monat</a:t>
            </a:r>
            <a:endParaRPr lang="en-US" sz="1400" dirty="0"/>
          </a:p>
        </p:txBody>
      </p:sp>
      <p:sp>
        <p:nvSpPr>
          <p:cNvPr id="21" name="Sonst 3"/>
          <p:cNvSpPr txBox="1"/>
          <p:nvPr/>
        </p:nvSpPr>
        <p:spPr>
          <a:xfrm>
            <a:off x="4764024" y="3520440"/>
            <a:ext cx="1645920" cy="329184"/>
          </a:xfrm>
          <a:prstGeom prst="roundRect">
            <a:avLst>
              <a:gd name="adj" fmla="val 27778"/>
            </a:avLst>
          </a:prstGeom>
          <a:solidFill>
            <a:srgbClr val="FF5A4F"/>
          </a:solidFill>
          <a:ln/>
        </p:spPr>
        <p:txBody>
          <a:bodyPr wrap="square" lIns="0" tIns="0" rIns="0" bIns="0" rtlCol="0" anchor="ctr"/>
          <a:lstStyle/>
          <a:p>
            <a:pPr marL="0" indent="0" algn="ctr">
              <a:buNone/>
            </a:pPr>
            <a:r>
              <a:rPr lang="en-US" sz="1100" b="1" dirty="0">
                <a:solidFill>
                  <a:srgbClr val="111427"/>
                </a:solidFill>
              </a:rPr>
              <a:t>Sonst: von Hand</a:t>
            </a:r>
            <a:endParaRPr lang="en-US" sz="1100" dirty="0"/>
          </a:p>
        </p:txBody>
      </p:sp>
      <p:sp>
        <p:nvSpPr>
          <p:cNvPr id="22" name="Bedingung"/>
          <p:cNvSpPr/>
          <p:nvPr/>
        </p:nvSpPr>
        <p:spPr>
          <a:xfrm>
            <a:off x="6711696"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23" name="Nummer"/>
          <p:cNvSpPr/>
          <p:nvPr/>
        </p:nvSpPr>
        <p:spPr>
          <a:xfrm>
            <a:off x="6894576"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24" name="Text 21"/>
          <p:cNvSpPr txBox="1"/>
          <p:nvPr/>
        </p:nvSpPr>
        <p:spPr>
          <a:xfrm>
            <a:off x="6894576"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4</a:t>
            </a:r>
            <a:endParaRPr lang="en-US" sz="1800" dirty="0"/>
          </a:p>
        </p:txBody>
      </p:sp>
      <p:sp>
        <p:nvSpPr>
          <p:cNvPr id="25" name="Text 22"/>
          <p:cNvSpPr txBox="1"/>
          <p:nvPr/>
        </p:nvSpPr>
        <p:spPr>
          <a:xfrm>
            <a:off x="6894576"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Fehler verkraftbar sind</a:t>
            </a:r>
            <a:endParaRPr lang="en-US" sz="1700" dirty="0"/>
          </a:p>
        </p:txBody>
      </p:sp>
      <p:sp>
        <p:nvSpPr>
          <p:cNvPr id="26" name="Text 23"/>
          <p:cNvSpPr txBox="1"/>
          <p:nvPr/>
        </p:nvSpPr>
        <p:spPr>
          <a:xfrm>
            <a:off x="6894576" y="2743200"/>
            <a:ext cx="1600200" cy="685800"/>
          </a:xfrm>
          <a:prstGeom prst="rect">
            <a:avLst/>
          </a:prstGeom>
          <a:noFill/>
          <a:ln/>
        </p:spPr>
        <p:txBody>
          <a:bodyPr wrap="square" lIns="0" tIns="0" rIns="0" bIns="0" rtlCol="0" anchor="t"/>
          <a:lstStyle/>
          <a:p>
            <a:pPr marL="0" indent="0">
              <a:buNone/>
            </a:pPr>
            <a:r>
              <a:rPr lang="en-US" sz="1400" dirty="0">
                <a:solidFill>
                  <a:srgbClr val="C9CDE0"/>
                </a:solidFill>
              </a:rPr>
              <a:t>Oder ein Mensch prüft das Ergebnis</a:t>
            </a:r>
            <a:endParaRPr lang="en-US" sz="1400" dirty="0"/>
          </a:p>
        </p:txBody>
      </p:sp>
      <p:sp>
        <p:nvSpPr>
          <p:cNvPr id="27" name="Sonst 4"/>
          <p:cNvSpPr txBox="1"/>
          <p:nvPr/>
        </p:nvSpPr>
        <p:spPr>
          <a:xfrm>
            <a:off x="6848856" y="3520440"/>
            <a:ext cx="1645920" cy="329184"/>
          </a:xfrm>
          <a:prstGeom prst="roundRect">
            <a:avLst>
              <a:gd name="adj" fmla="val 27778"/>
            </a:avLst>
          </a:prstGeom>
          <a:solidFill>
            <a:srgbClr val="3D8BFF"/>
          </a:solidFill>
          <a:ln/>
        </p:spPr>
        <p:txBody>
          <a:bodyPr wrap="square" lIns="0" tIns="0" rIns="0" bIns="0" rtlCol="0" anchor="ctr"/>
          <a:lstStyle/>
          <a:p>
            <a:pPr marL="0" indent="0" algn="ctr">
              <a:buNone/>
            </a:pPr>
            <a:r>
              <a:rPr lang="en-US" sz="1100" b="1" dirty="0">
                <a:solidFill>
                  <a:srgbClr val="111427"/>
                </a:solidFill>
              </a:rPr>
              <a:t>Sonst: nur Assistenz</a:t>
            </a:r>
            <a:endParaRPr lang="en-US" sz="1100" dirty="0"/>
          </a:p>
        </p:txBody>
      </p:sp>
      <p:sp>
        <p:nvSpPr>
          <p:cNvPr id="28" name="Text 25"/>
          <p:cNvSpPr txBox="1"/>
          <p:nvPr/>
        </p:nvSpPr>
        <p:spPr>
          <a:xfrm>
            <a:off x="457200" y="4206240"/>
            <a:ext cx="8229600" cy="365760"/>
          </a:xfrm>
          <a:prstGeom prst="rect">
            <a:avLst/>
          </a:prstGeom>
          <a:noFill/>
          <a:ln/>
        </p:spPr>
        <p:txBody>
          <a:bodyPr wrap="square" lIns="0" tIns="0" rIns="0" bIns="0" rtlCol="0" anchor="ctr"/>
          <a:lstStyle/>
          <a:p>
            <a:pPr marL="0" indent="0" algn="ctr">
              <a:buNone/>
            </a:pPr>
            <a:r>
              <a:rPr lang="en-US" sz="1600" i="1" dirty="0">
                <a:solidFill>
                  <a:schemeClr val="bg1"/>
                </a:solidFill>
              </a:rPr>
              <a:t>KI formuliert, Regeln entscheiden, Menschen tragen die Verantwortung.</a:t>
            </a:r>
            <a:endParaRPr lang="en-US" sz="16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BCD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Funktioniert die App richtig? Unsere Tests</a:t>
            </a:r>
            <a:endParaRPr lang="en-US" sz="3000" dirty="0"/>
          </a:p>
        </p:txBody>
      </p:sp>
      <p:sp>
        <p:nvSpPr>
          <p:cNvPr id="4" name="Kennzahl Tests"/>
          <p:cNvSpPr/>
          <p:nvPr/>
        </p:nvSpPr>
        <p:spPr>
          <a:xfrm>
            <a:off x="457200" y="1143000"/>
            <a:ext cx="3108960" cy="1600200"/>
          </a:xfrm>
          <a:prstGeom prst="roundRect">
            <a:avLst>
              <a:gd name="adj" fmla="val 4571"/>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61872"/>
            <a:ext cx="2743200" cy="50292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41 Tests</a:t>
            </a:r>
            <a:endParaRPr lang="en-US" sz="3200" dirty="0"/>
          </a:p>
        </p:txBody>
      </p:sp>
      <p:sp>
        <p:nvSpPr>
          <p:cNvPr id="6" name="Text 3"/>
          <p:cNvSpPr txBox="1"/>
          <p:nvPr/>
        </p:nvSpPr>
        <p:spPr>
          <a:xfrm>
            <a:off x="640080" y="1810512"/>
            <a:ext cx="2743200" cy="868680"/>
          </a:xfrm>
          <a:prstGeom prst="rect">
            <a:avLst/>
          </a:prstGeom>
          <a:noFill/>
          <a:ln/>
        </p:spPr>
        <p:txBody>
          <a:bodyPr wrap="square" lIns="0" tIns="0" rIns="0" bIns="0" rtlCol="0" anchor="t"/>
          <a:lstStyle/>
          <a:p>
            <a:pPr marL="0" indent="0">
              <a:buNone/>
            </a:pPr>
            <a:r>
              <a:rPr lang="en-US" sz="1400" dirty="0">
                <a:solidFill>
                  <a:schemeClr val="bg2"/>
                </a:solidFill>
              </a:rPr>
              <a:t>Automatische Prüfungen mit bekannten Beispielen</a:t>
            </a:r>
            <a:endParaRPr lang="en-US" sz="1400" dirty="0"/>
          </a:p>
        </p:txBody>
      </p:sp>
      <p:sp>
        <p:nvSpPr>
          <p:cNvPr id="7" name="Stabilität"/>
          <p:cNvSpPr/>
          <p:nvPr/>
        </p:nvSpPr>
        <p:spPr>
          <a:xfrm>
            <a:off x="457200" y="2926080"/>
            <a:ext cx="3108960"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8" name="Text 5"/>
          <p:cNvSpPr txBox="1"/>
          <p:nvPr/>
        </p:nvSpPr>
        <p:spPr>
          <a:xfrm>
            <a:off x="640080" y="3017520"/>
            <a:ext cx="2743200" cy="274320"/>
          </a:xfrm>
          <a:prstGeom prst="rect">
            <a:avLst/>
          </a:prstGeom>
          <a:noFill/>
          <a:ln/>
        </p:spPr>
        <p:txBody>
          <a:bodyPr wrap="square" lIns="0" tIns="0" rIns="0" bIns="0" rtlCol="0" anchor="t"/>
          <a:lstStyle/>
          <a:p>
            <a:pPr marL="0" indent="0">
              <a:buNone/>
            </a:pPr>
            <a:r>
              <a:rPr lang="en-US" sz="1500" b="1" dirty="0">
                <a:solidFill>
                  <a:schemeClr val="tx2"/>
                </a:solidFill>
              </a:rPr>
              <a:t>Stabilitäts-Check</a:t>
            </a:r>
            <a:endParaRPr lang="en-US" sz="1500" dirty="0"/>
          </a:p>
        </p:txBody>
      </p:sp>
      <p:sp>
        <p:nvSpPr>
          <p:cNvPr id="9" name="Text 6"/>
          <p:cNvSpPr txBox="1"/>
          <p:nvPr/>
        </p:nvSpPr>
        <p:spPr>
          <a:xfrm>
            <a:off x="640080" y="3337560"/>
            <a:ext cx="2743200" cy="1188720"/>
          </a:xfrm>
          <a:prstGeom prst="rect">
            <a:avLst/>
          </a:prstGeom>
          <a:noFill/>
          <a:ln/>
        </p:spPr>
        <p:txBody>
          <a:bodyPr wrap="square" lIns="0" tIns="0" rIns="0" bIns="0" rtlCol="0" anchor="t"/>
          <a:lstStyle/>
          <a:p>
            <a:pPr marL="0" indent="0">
              <a:buNone/>
            </a:pPr>
            <a:r>
              <a:rPr lang="en-US" sz="1400" dirty="0">
                <a:solidFill>
                  <a:srgbClr val="565C75"/>
                </a:solidFill>
              </a:rPr>
              <a:t>Auch bei stark veränderter Gewichtung bleibt die Antwort in mindestens 95 von 100 Fällen gleich.</a:t>
            </a:r>
            <a:endParaRPr lang="en-US" sz="1400" dirty="0"/>
          </a:p>
        </p:txBody>
      </p:sp>
      <p:sp>
        <p:nvSpPr>
          <p:cNvPr id="10" name="Testfall"/>
          <p:cNvSpPr/>
          <p:nvPr/>
        </p:nvSpPr>
        <p:spPr>
          <a:xfrm>
            <a:off x="3794760" y="1143000"/>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Text 8"/>
          <p:cNvSpPr txBox="1"/>
          <p:nvPr/>
        </p:nvSpPr>
        <p:spPr>
          <a:xfrm>
            <a:off x="3931920" y="1207008"/>
            <a:ext cx="3154680" cy="256032"/>
          </a:xfrm>
          <a:prstGeom prst="rect">
            <a:avLst/>
          </a:prstGeom>
          <a:noFill/>
          <a:ln/>
        </p:spPr>
        <p:txBody>
          <a:bodyPr wrap="square" lIns="0" tIns="0" rIns="0" bIns="0" rtlCol="0" anchor="t"/>
          <a:lstStyle/>
          <a:p>
            <a:pPr marL="0" indent="0">
              <a:buNone/>
            </a:pPr>
            <a:r>
              <a:rPr lang="en-US" sz="1400" b="1" dirty="0">
                <a:solidFill>
                  <a:schemeClr val="tx2"/>
                </a:solidFill>
              </a:rPr>
              <a:t>Support-Mails sortieren</a:t>
            </a:r>
            <a:endParaRPr lang="en-US" sz="1400" dirty="0"/>
          </a:p>
        </p:txBody>
      </p:sp>
      <p:sp>
        <p:nvSpPr>
          <p:cNvPr id="12" name="Text 9"/>
          <p:cNvSpPr txBox="1"/>
          <p:nvPr/>
        </p:nvSpPr>
        <p:spPr>
          <a:xfrm>
            <a:off x="3931920" y="1472184"/>
            <a:ext cx="3154680" cy="237744"/>
          </a:xfrm>
          <a:prstGeom prst="rect">
            <a:avLst/>
          </a:prstGeom>
          <a:noFill/>
          <a:ln/>
        </p:spPr>
        <p:txBody>
          <a:bodyPr wrap="square" lIns="0" tIns="0" rIns="0" bIns="0" rtlCol="0" anchor="t"/>
          <a:lstStyle/>
          <a:p>
            <a:pPr marL="0" indent="0">
              <a:buNone/>
            </a:pPr>
            <a:r>
              <a:rPr lang="en-US" sz="1200" dirty="0">
                <a:solidFill>
                  <a:srgbClr val="565C75"/>
                </a:solidFill>
              </a:rPr>
              <a:t>Viele Fälle, Text, Fehler verkraftbar</a:t>
            </a:r>
            <a:endParaRPr lang="en-US" sz="1200" dirty="0"/>
          </a:p>
        </p:txBody>
      </p:sp>
      <p:sp>
        <p:nvSpPr>
          <p:cNvPr id="13" name="Testergebnis KI sinnvoll"/>
          <p:cNvSpPr txBox="1"/>
          <p:nvPr/>
        </p:nvSpPr>
        <p:spPr>
          <a:xfrm>
            <a:off x="7269480" y="1298448"/>
            <a:ext cx="1280160" cy="310896"/>
          </a:xfrm>
          <a:prstGeom prst="roundRect">
            <a:avLst>
              <a:gd name="adj" fmla="val 29412"/>
            </a:avLst>
          </a:prstGeom>
          <a:solidFill>
            <a:srgbClr val="00C46A"/>
          </a:solidFill>
          <a:ln/>
        </p:spPr>
        <p:txBody>
          <a:bodyPr wrap="square" lIns="0" tIns="0" rIns="0" bIns="0" rtlCol="0" anchor="ctr"/>
          <a:lstStyle/>
          <a:p>
            <a:pPr marL="0" indent="0" algn="ctr">
              <a:buNone/>
            </a:pPr>
            <a:r>
              <a:rPr lang="en-US" sz="1200" b="1" dirty="0">
                <a:solidFill>
                  <a:srgbClr val="111427"/>
                </a:solidFill>
              </a:rPr>
              <a:t>KI sinnvoll</a:t>
            </a:r>
            <a:endParaRPr lang="en-US" sz="1200" dirty="0"/>
          </a:p>
        </p:txBody>
      </p:sp>
      <p:sp>
        <p:nvSpPr>
          <p:cNvPr id="14" name="Testfall"/>
          <p:cNvSpPr/>
          <p:nvPr/>
        </p:nvSpPr>
        <p:spPr>
          <a:xfrm>
            <a:off x="3794760" y="1847088"/>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Text 12"/>
          <p:cNvSpPr txBox="1"/>
          <p:nvPr/>
        </p:nvSpPr>
        <p:spPr>
          <a:xfrm>
            <a:off x="3931920" y="1911096"/>
            <a:ext cx="3154680" cy="256032"/>
          </a:xfrm>
          <a:prstGeom prst="rect">
            <a:avLst/>
          </a:prstGeom>
          <a:noFill/>
          <a:ln/>
        </p:spPr>
        <p:txBody>
          <a:bodyPr wrap="square" lIns="0" tIns="0" rIns="0" bIns="0" rtlCol="0" anchor="t"/>
          <a:lstStyle/>
          <a:p>
            <a:pPr marL="0" indent="0">
              <a:buNone/>
            </a:pPr>
            <a:r>
              <a:rPr lang="en-US" sz="1400" b="1" dirty="0">
                <a:solidFill>
                  <a:schemeClr val="tx2"/>
                </a:solidFill>
              </a:rPr>
              <a:t>Röntgenbilder prüfen</a:t>
            </a:r>
            <a:endParaRPr lang="en-US" sz="1400" dirty="0"/>
          </a:p>
        </p:txBody>
      </p:sp>
      <p:sp>
        <p:nvSpPr>
          <p:cNvPr id="16" name="Text 13"/>
          <p:cNvSpPr txBox="1"/>
          <p:nvPr/>
        </p:nvSpPr>
        <p:spPr>
          <a:xfrm>
            <a:off x="3931920" y="2176272"/>
            <a:ext cx="3154680" cy="237744"/>
          </a:xfrm>
          <a:prstGeom prst="rect">
            <a:avLst/>
          </a:prstGeom>
          <a:noFill/>
          <a:ln/>
        </p:spPr>
        <p:txBody>
          <a:bodyPr wrap="square" lIns="0" tIns="0" rIns="0" bIns="0" rtlCol="0" anchor="t"/>
          <a:lstStyle/>
          <a:p>
            <a:pPr marL="0" indent="0">
              <a:buNone/>
            </a:pPr>
            <a:r>
              <a:rPr lang="en-US" sz="1200" dirty="0">
                <a:solidFill>
                  <a:srgbClr val="565C75"/>
                </a:solidFill>
              </a:rPr>
              <a:t>Hohes Risiko, Fehler gefährlich</a:t>
            </a:r>
            <a:endParaRPr lang="en-US" sz="1200" dirty="0"/>
          </a:p>
        </p:txBody>
      </p:sp>
      <p:sp>
        <p:nvSpPr>
          <p:cNvPr id="17" name="Testergebnis Assistenz"/>
          <p:cNvSpPr txBox="1"/>
          <p:nvPr/>
        </p:nvSpPr>
        <p:spPr>
          <a:xfrm>
            <a:off x="7269480" y="2002536"/>
            <a:ext cx="1280160" cy="310896"/>
          </a:xfrm>
          <a:prstGeom prst="roundRect">
            <a:avLst>
              <a:gd name="adj" fmla="val 29412"/>
            </a:avLst>
          </a:prstGeom>
          <a:solidFill>
            <a:srgbClr val="3D8BFF"/>
          </a:solidFill>
          <a:ln/>
        </p:spPr>
        <p:txBody>
          <a:bodyPr wrap="square" lIns="0" tIns="0" rIns="0" bIns="0" rtlCol="0" anchor="ctr"/>
          <a:lstStyle/>
          <a:p>
            <a:pPr marL="0" indent="0" algn="ctr">
              <a:buNone/>
            </a:pPr>
            <a:r>
              <a:rPr lang="en-US" sz="1200" b="1" dirty="0">
                <a:solidFill>
                  <a:srgbClr val="111427"/>
                </a:solidFill>
              </a:rPr>
              <a:t>Assistenz</a:t>
            </a:r>
            <a:endParaRPr lang="en-US" sz="1200" dirty="0"/>
          </a:p>
        </p:txBody>
      </p:sp>
      <p:sp>
        <p:nvSpPr>
          <p:cNvPr id="18" name="Testfall"/>
          <p:cNvSpPr/>
          <p:nvPr/>
        </p:nvSpPr>
        <p:spPr>
          <a:xfrm>
            <a:off x="3794760" y="2551176"/>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9" name="Text 16"/>
          <p:cNvSpPr txBox="1"/>
          <p:nvPr/>
        </p:nvSpPr>
        <p:spPr>
          <a:xfrm>
            <a:off x="3931920" y="2615184"/>
            <a:ext cx="3154680" cy="256032"/>
          </a:xfrm>
          <a:prstGeom prst="rect">
            <a:avLst/>
          </a:prstGeom>
          <a:noFill/>
          <a:ln/>
        </p:spPr>
        <p:txBody>
          <a:bodyPr wrap="square" lIns="0" tIns="0" rIns="0" bIns="0" rtlCol="0" anchor="t"/>
          <a:lstStyle/>
          <a:p>
            <a:pPr marL="0" indent="0">
              <a:buNone/>
            </a:pPr>
            <a:r>
              <a:rPr lang="en-US" sz="1400" b="1" dirty="0">
                <a:solidFill>
                  <a:schemeClr val="tx2"/>
                </a:solidFill>
              </a:rPr>
              <a:t>Passwort zurücksetzen</a:t>
            </a:r>
            <a:endParaRPr lang="en-US" sz="1400" dirty="0"/>
          </a:p>
        </p:txBody>
      </p:sp>
      <p:sp>
        <p:nvSpPr>
          <p:cNvPr id="20" name="Text 17"/>
          <p:cNvSpPr txBox="1"/>
          <p:nvPr/>
        </p:nvSpPr>
        <p:spPr>
          <a:xfrm>
            <a:off x="3931920" y="2880360"/>
            <a:ext cx="3154680" cy="237744"/>
          </a:xfrm>
          <a:prstGeom prst="rect">
            <a:avLst/>
          </a:prstGeom>
          <a:noFill/>
          <a:ln/>
        </p:spPr>
        <p:txBody>
          <a:bodyPr wrap="square" lIns="0" tIns="0" rIns="0" bIns="0" rtlCol="0" anchor="t"/>
          <a:lstStyle/>
          <a:p>
            <a:pPr marL="0" indent="0">
              <a:buNone/>
            </a:pPr>
            <a:r>
              <a:rPr lang="en-US" sz="1200" dirty="0">
                <a:solidFill>
                  <a:srgbClr val="565C75"/>
                </a:solidFill>
              </a:rPr>
              <a:t>Eindeutige Regeln</a:t>
            </a:r>
            <a:endParaRPr lang="en-US" sz="1200" dirty="0"/>
          </a:p>
        </p:txBody>
      </p:sp>
      <p:sp>
        <p:nvSpPr>
          <p:cNvPr id="21" name="Testergebnis Klassisch"/>
          <p:cNvSpPr txBox="1"/>
          <p:nvPr/>
        </p:nvSpPr>
        <p:spPr>
          <a:xfrm>
            <a:off x="7269480" y="2706624"/>
            <a:ext cx="1280160" cy="310896"/>
          </a:xfrm>
          <a:prstGeom prst="roundRect">
            <a:avLst>
              <a:gd name="adj" fmla="val 29412"/>
            </a:avLst>
          </a:prstGeom>
          <a:solidFill>
            <a:srgbClr val="FFD400"/>
          </a:solidFill>
          <a:ln/>
        </p:spPr>
        <p:txBody>
          <a:bodyPr wrap="square" lIns="0" tIns="0" rIns="0" bIns="0" rtlCol="0" anchor="ctr"/>
          <a:lstStyle/>
          <a:p>
            <a:pPr marL="0" indent="0" algn="ctr">
              <a:buNone/>
            </a:pPr>
            <a:r>
              <a:rPr lang="en-US" sz="1200" b="1" dirty="0">
                <a:solidFill>
                  <a:srgbClr val="111427"/>
                </a:solidFill>
              </a:rPr>
              <a:t>Klassisch</a:t>
            </a:r>
            <a:endParaRPr lang="en-US" sz="1200" dirty="0"/>
          </a:p>
        </p:txBody>
      </p:sp>
      <p:sp>
        <p:nvSpPr>
          <p:cNvPr id="22" name="Testfall"/>
          <p:cNvSpPr/>
          <p:nvPr/>
        </p:nvSpPr>
        <p:spPr>
          <a:xfrm>
            <a:off x="3794760" y="3255264"/>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Text 20"/>
          <p:cNvSpPr txBox="1"/>
          <p:nvPr/>
        </p:nvSpPr>
        <p:spPr>
          <a:xfrm>
            <a:off x="3931920" y="3319272"/>
            <a:ext cx="3154680" cy="256032"/>
          </a:xfrm>
          <a:prstGeom prst="rect">
            <a:avLst/>
          </a:prstGeom>
          <a:noFill/>
          <a:ln/>
        </p:spPr>
        <p:txBody>
          <a:bodyPr wrap="square" lIns="0" tIns="0" rIns="0" bIns="0" rtlCol="0" anchor="t"/>
          <a:lstStyle/>
          <a:p>
            <a:pPr marL="0" indent="0">
              <a:buNone/>
            </a:pPr>
            <a:r>
              <a:rPr lang="en-US" sz="1400" b="1" dirty="0">
                <a:solidFill>
                  <a:schemeClr val="tx2"/>
                </a:solidFill>
              </a:rPr>
              <a:t>Seltene Krankheiten abgleichen</a:t>
            </a:r>
            <a:endParaRPr lang="en-US" sz="1400" dirty="0"/>
          </a:p>
        </p:txBody>
      </p:sp>
      <p:sp>
        <p:nvSpPr>
          <p:cNvPr id="24" name="Text 21"/>
          <p:cNvSpPr txBox="1"/>
          <p:nvPr/>
        </p:nvSpPr>
        <p:spPr>
          <a:xfrm>
            <a:off x="3931920" y="3584448"/>
            <a:ext cx="3154680" cy="237744"/>
          </a:xfrm>
          <a:prstGeom prst="rect">
            <a:avLst/>
          </a:prstGeom>
          <a:noFill/>
          <a:ln/>
        </p:spPr>
        <p:txBody>
          <a:bodyPr wrap="square" lIns="0" tIns="0" rIns="0" bIns="0" rtlCol="0" anchor="t"/>
          <a:lstStyle/>
          <a:p>
            <a:pPr marL="0" indent="0">
              <a:buNone/>
            </a:pPr>
            <a:r>
              <a:rPr lang="en-US" sz="1200" dirty="0">
                <a:solidFill>
                  <a:srgbClr val="565C75"/>
                </a:solidFill>
              </a:rPr>
              <a:t>Nur 15 Fälle pro Monat</a:t>
            </a:r>
            <a:endParaRPr lang="en-US" sz="1200" dirty="0"/>
          </a:p>
        </p:txBody>
      </p:sp>
      <p:sp>
        <p:nvSpPr>
          <p:cNvPr id="25" name="Testergebnis Manuell"/>
          <p:cNvSpPr txBox="1"/>
          <p:nvPr/>
        </p:nvSpPr>
        <p:spPr>
          <a:xfrm>
            <a:off x="7269480" y="3410712"/>
            <a:ext cx="1280160" cy="310896"/>
          </a:xfrm>
          <a:prstGeom prst="roundRect">
            <a:avLst>
              <a:gd name="adj" fmla="val 29412"/>
            </a:avLst>
          </a:prstGeom>
          <a:solidFill>
            <a:srgbClr val="FF5A4F"/>
          </a:solidFill>
          <a:ln/>
        </p:spPr>
        <p:txBody>
          <a:bodyPr wrap="square" lIns="0" tIns="0" rIns="0" bIns="0" rtlCol="0" anchor="ctr"/>
          <a:lstStyle/>
          <a:p>
            <a:pPr marL="0" indent="0" algn="ctr">
              <a:buNone/>
            </a:pPr>
            <a:r>
              <a:rPr lang="en-US" sz="1200" b="1" dirty="0">
                <a:solidFill>
                  <a:srgbClr val="111427"/>
                </a:solidFill>
              </a:rPr>
              <a:t>Manuell</a:t>
            </a:r>
            <a:endParaRPr lang="en-US" sz="1200" dirty="0"/>
          </a:p>
        </p:txBody>
      </p:sp>
      <p:sp>
        <p:nvSpPr>
          <p:cNvPr id="26" name="Testfall"/>
          <p:cNvSpPr/>
          <p:nvPr/>
        </p:nvSpPr>
        <p:spPr>
          <a:xfrm>
            <a:off x="3794760" y="3959352"/>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7" name="Text 24"/>
          <p:cNvSpPr txBox="1"/>
          <p:nvPr/>
        </p:nvSpPr>
        <p:spPr>
          <a:xfrm>
            <a:off x="3931920" y="4023360"/>
            <a:ext cx="3154680" cy="256032"/>
          </a:xfrm>
          <a:prstGeom prst="rect">
            <a:avLst/>
          </a:prstGeom>
          <a:noFill/>
          <a:ln/>
        </p:spPr>
        <p:txBody>
          <a:bodyPr wrap="square" lIns="0" tIns="0" rIns="0" bIns="0" rtlCol="0" anchor="t"/>
          <a:lstStyle/>
          <a:p>
            <a:pPr marL="0" indent="0">
              <a:buNone/>
            </a:pPr>
            <a:r>
              <a:rPr lang="en-US" sz="1400" b="1" dirty="0">
                <a:solidFill>
                  <a:schemeClr val="tx2"/>
                </a:solidFill>
              </a:rPr>
              <a:t>Kundenabwanderung vorhersagen</a:t>
            </a:r>
            <a:endParaRPr lang="en-US" sz="1400" dirty="0"/>
          </a:p>
        </p:txBody>
      </p:sp>
      <p:sp>
        <p:nvSpPr>
          <p:cNvPr id="28" name="Text 25"/>
          <p:cNvSpPr txBox="1"/>
          <p:nvPr/>
        </p:nvSpPr>
        <p:spPr>
          <a:xfrm>
            <a:off x="3931920" y="4288536"/>
            <a:ext cx="3154680" cy="237744"/>
          </a:xfrm>
          <a:prstGeom prst="rect">
            <a:avLst/>
          </a:prstGeom>
          <a:noFill/>
          <a:ln/>
        </p:spPr>
        <p:txBody>
          <a:bodyPr wrap="square" lIns="0" tIns="0" rIns="0" bIns="0" rtlCol="0" anchor="t"/>
          <a:lstStyle/>
          <a:p>
            <a:pPr marL="0" indent="0">
              <a:buNone/>
            </a:pPr>
            <a:r>
              <a:rPr lang="en-US" sz="1200" dirty="0">
                <a:solidFill>
                  <a:srgbClr val="565C75"/>
                </a:solidFill>
              </a:rPr>
              <a:t>Angabe zur Fehlertoleranz fehlt</a:t>
            </a:r>
            <a:endParaRPr lang="en-US" sz="1200" dirty="0"/>
          </a:p>
        </p:txBody>
      </p:sp>
      <p:sp>
        <p:nvSpPr>
          <p:cNvPr id="29" name="Testergebnis Unklar"/>
          <p:cNvSpPr txBox="1"/>
          <p:nvPr/>
        </p:nvSpPr>
        <p:spPr>
          <a:xfrm>
            <a:off x="7269480" y="4114800"/>
            <a:ext cx="1280160" cy="310896"/>
          </a:xfrm>
          <a:prstGeom prst="roundRect">
            <a:avLst>
              <a:gd name="adj" fmla="val 29412"/>
            </a:avLst>
          </a:prstGeom>
          <a:solidFill>
            <a:srgbClr val="9AA0B4"/>
          </a:solidFill>
          <a:ln/>
        </p:spPr>
        <p:txBody>
          <a:bodyPr wrap="square" lIns="0" tIns="0" rIns="0" bIns="0" rtlCol="0" anchor="ctr"/>
          <a:lstStyle/>
          <a:p>
            <a:pPr marL="0" indent="0" algn="ctr">
              <a:buNone/>
            </a:pPr>
            <a:r>
              <a:rPr lang="en-US" sz="1200" b="1" dirty="0">
                <a:solidFill>
                  <a:srgbClr val="111427"/>
                </a:solidFill>
              </a:rPr>
              <a:t>Unklar</a:t>
            </a:r>
            <a:endParaRPr lang="en-US" sz="12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Wie das Projekt entstanden ist</a:t>
            </a:r>
            <a:endParaRPr lang="en-US" sz="3000" dirty="0"/>
          </a:p>
        </p:txBody>
      </p:sp>
      <p:sp>
        <p:nvSpPr>
          <p:cNvPr id="4" name="Stufe"/>
          <p:cNvSpPr/>
          <p:nvPr/>
        </p:nvSpPr>
        <p:spPr>
          <a:xfrm>
            <a:off x="457200"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Nummer"/>
          <p:cNvSpPr/>
          <p:nvPr/>
        </p:nvSpPr>
        <p:spPr>
          <a:xfrm>
            <a:off x="640080" y="1298448"/>
            <a:ext cx="365760" cy="365760"/>
          </a:xfrm>
          <a:prstGeom prst="ellipse">
            <a:avLst/>
          </a:prstGeom>
          <a:solidFill>
            <a:srgbClr val="1B1F3B"/>
          </a:solidFill>
          <a:ln w="12700">
            <a:solidFill>
              <a:srgbClr val="1B1F3B"/>
            </a:solidFill>
            <a:prstDash val="solid"/>
          </a:ln>
        </p:spPr>
        <p:txBody>
          <a:bodyPr/>
          <a:lstStyle/>
          <a:p>
            <a:endParaRPr lang="de-CH"/>
          </a:p>
        </p:txBody>
      </p:sp>
      <p:sp>
        <p:nvSpPr>
          <p:cNvPr id="6" name="Text 3"/>
          <p:cNvSpPr txBox="1"/>
          <p:nvPr/>
        </p:nvSpPr>
        <p:spPr>
          <a:xfrm>
            <a:off x="640080" y="129844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Icon-Kreis"/>
          <p:cNvSpPr/>
          <p:nvPr/>
        </p:nvSpPr>
        <p:spPr>
          <a:xfrm>
            <a:off x="2377440" y="1261872"/>
            <a:ext cx="457200" cy="457200"/>
          </a:xfrm>
          <a:prstGeom prst="ellipse">
            <a:avLst/>
          </a:prstGeom>
          <a:solidFill>
            <a:srgbClr val="00C46A"/>
          </a:solidFill>
          <a:ln w="12700">
            <a:solidFill>
              <a:srgbClr val="00C46A"/>
            </a:solidFill>
            <a:prstDash val="solid"/>
          </a:ln>
        </p:spPr>
        <p:txBody>
          <a:bodyPr/>
          <a:lstStyle/>
          <a:p>
            <a:endParaRPr lang="de-CH"/>
          </a:p>
        </p:txBody>
      </p:sp>
      <p:pic>
        <p:nvPicPr>
          <p:cNvPr id="8" name="Image 0" descr="Icon"/>
          <p:cNvPicPr>
            <a:picLocks noChangeAspect="1"/>
          </p:cNvPicPr>
          <p:nvPr/>
        </p:nvPicPr>
        <p:blipFill>
          <a:blip r:embed="rId3"/>
          <a:stretch>
            <a:fillRect/>
          </a:stretch>
        </p:blipFill>
        <p:spPr>
          <a:xfrm>
            <a:off x="2491740" y="1376172"/>
            <a:ext cx="228600" cy="228600"/>
          </a:xfrm>
          <a:prstGeom prst="rect">
            <a:avLst/>
          </a:prstGeom>
        </p:spPr>
      </p:pic>
      <p:sp>
        <p:nvSpPr>
          <p:cNvPr id="9" name="Text 5"/>
          <p:cNvSpPr txBox="1"/>
          <p:nvPr/>
        </p:nvSpPr>
        <p:spPr>
          <a:xfrm>
            <a:off x="640080" y="1828800"/>
            <a:ext cx="2286000" cy="36576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ChatGPT</a:t>
            </a:r>
            <a:endParaRPr lang="en-US" sz="2200" dirty="0"/>
          </a:p>
        </p:txBody>
      </p:sp>
      <p:sp>
        <p:nvSpPr>
          <p:cNvPr id="10" name="Text 6"/>
          <p:cNvSpPr txBox="1"/>
          <p:nvPr/>
        </p:nvSpPr>
        <p:spPr>
          <a:xfrm>
            <a:off x="640080" y="2240280"/>
            <a:ext cx="2286000" cy="274320"/>
          </a:xfrm>
          <a:prstGeom prst="rect">
            <a:avLst/>
          </a:prstGeom>
          <a:noFill/>
          <a:ln/>
        </p:spPr>
        <p:txBody>
          <a:bodyPr wrap="square" lIns="0" tIns="0" rIns="0" bIns="0" rtlCol="0" anchor="t"/>
          <a:lstStyle/>
          <a:p>
            <a:pPr marL="0" indent="0">
              <a:buNone/>
            </a:pPr>
            <a:r>
              <a:rPr lang="en-US" sz="1500" b="1" dirty="0">
                <a:solidFill>
                  <a:srgbClr val="565C75"/>
                </a:solidFill>
              </a:rPr>
              <a:t>Das Grundgerüst</a:t>
            </a:r>
            <a:endParaRPr lang="en-US" sz="1500" dirty="0"/>
          </a:p>
        </p:txBody>
      </p:sp>
      <p:sp>
        <p:nvSpPr>
          <p:cNvPr id="11" name="Text 7"/>
          <p:cNvSpPr txBox="1"/>
          <p:nvPr/>
        </p:nvSpPr>
        <p:spPr>
          <a:xfrm>
            <a:off x="640080" y="2651760"/>
            <a:ext cx="2286000" cy="1325880"/>
          </a:xfrm>
          <a:prstGeom prst="rect">
            <a:avLst/>
          </a:prstGeom>
          <a:noFill/>
          <a:ln/>
        </p:spPr>
        <p:txBody>
          <a:bodyPr wrap="square" lIns="0" tIns="0" rIns="0" bIns="0" rtlCol="0" anchor="t"/>
          <a:lstStyle/>
          <a:p>
            <a:pPr marL="0" indent="0">
              <a:buNone/>
            </a:pPr>
            <a:r>
              <a:rPr lang="en-US" sz="1500" dirty="0">
                <a:solidFill>
                  <a:srgbClr val="111427"/>
                </a:solidFill>
              </a:rPr>
              <a:t>Wir haben die Aufgabenstellung an ChatGPT geschickt und daraus das erste Projekt erstellen lassen.</a:t>
            </a:r>
            <a:endParaRPr lang="en-US" sz="1500" dirty="0"/>
          </a:p>
        </p:txBody>
      </p:sp>
      <p:sp>
        <p:nvSpPr>
          <p:cNvPr id="12" name="Text 8"/>
          <p:cNvSpPr txBox="1"/>
          <p:nvPr/>
        </p:nvSpPr>
        <p:spPr>
          <a:xfrm>
            <a:off x="3072384" y="2286000"/>
            <a:ext cx="192024" cy="365760"/>
          </a:xfrm>
          <a:prstGeom prst="rect">
            <a:avLst/>
          </a:prstGeom>
          <a:noFill/>
          <a:ln/>
        </p:spPr>
        <p:txBody>
          <a:bodyPr wrap="square" lIns="0" tIns="0" rIns="0" bIns="0" rtlCol="0" anchor="ctr"/>
          <a:lstStyle/>
          <a:p>
            <a:pPr marL="0" indent="0" algn="ctr">
              <a:buNone/>
            </a:pPr>
            <a:r>
              <a:rPr lang="en-US" sz="1800" b="1" dirty="0">
                <a:solidFill>
                  <a:srgbClr val="565C75"/>
                </a:solidFill>
              </a:rPr>
              <a:t>→</a:t>
            </a:r>
            <a:endParaRPr lang="en-US" sz="1800" dirty="0"/>
          </a:p>
        </p:txBody>
      </p:sp>
      <p:sp>
        <p:nvSpPr>
          <p:cNvPr id="13" name="Stufe"/>
          <p:cNvSpPr/>
          <p:nvPr/>
        </p:nvSpPr>
        <p:spPr>
          <a:xfrm>
            <a:off x="3264408"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4" name="Nummer"/>
          <p:cNvSpPr/>
          <p:nvPr/>
        </p:nvSpPr>
        <p:spPr>
          <a:xfrm>
            <a:off x="3447288" y="1298448"/>
            <a:ext cx="365760" cy="365760"/>
          </a:xfrm>
          <a:prstGeom prst="ellipse">
            <a:avLst/>
          </a:prstGeom>
          <a:solidFill>
            <a:srgbClr val="1B1F3B"/>
          </a:solidFill>
          <a:ln w="12700">
            <a:solidFill>
              <a:srgbClr val="1B1F3B"/>
            </a:solidFill>
            <a:prstDash val="solid"/>
          </a:ln>
        </p:spPr>
        <p:txBody>
          <a:bodyPr/>
          <a:lstStyle/>
          <a:p>
            <a:endParaRPr lang="de-CH"/>
          </a:p>
        </p:txBody>
      </p:sp>
      <p:sp>
        <p:nvSpPr>
          <p:cNvPr id="15" name="Text 11"/>
          <p:cNvSpPr txBox="1"/>
          <p:nvPr/>
        </p:nvSpPr>
        <p:spPr>
          <a:xfrm>
            <a:off x="3447288" y="129844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6" name="Icon-Kreis"/>
          <p:cNvSpPr/>
          <p:nvPr/>
        </p:nvSpPr>
        <p:spPr>
          <a:xfrm>
            <a:off x="5184648" y="1261872"/>
            <a:ext cx="457200" cy="457200"/>
          </a:xfrm>
          <a:prstGeom prst="ellipse">
            <a:avLst/>
          </a:prstGeom>
          <a:solidFill>
            <a:srgbClr val="3D8BFF"/>
          </a:solidFill>
          <a:ln w="12700">
            <a:solidFill>
              <a:srgbClr val="3D8BFF"/>
            </a:solidFill>
            <a:prstDash val="solid"/>
          </a:ln>
        </p:spPr>
        <p:txBody>
          <a:bodyPr/>
          <a:lstStyle/>
          <a:p>
            <a:endParaRPr lang="de-CH"/>
          </a:p>
        </p:txBody>
      </p:sp>
      <p:pic>
        <p:nvPicPr>
          <p:cNvPr id="17" name="Image 1" descr="Icon"/>
          <p:cNvPicPr>
            <a:picLocks noChangeAspect="1"/>
          </p:cNvPicPr>
          <p:nvPr/>
        </p:nvPicPr>
        <p:blipFill>
          <a:blip r:embed="rId4"/>
          <a:stretch>
            <a:fillRect/>
          </a:stretch>
        </p:blipFill>
        <p:spPr>
          <a:xfrm>
            <a:off x="5298948" y="1376172"/>
            <a:ext cx="228600" cy="228600"/>
          </a:xfrm>
          <a:prstGeom prst="rect">
            <a:avLst/>
          </a:prstGeom>
        </p:spPr>
      </p:pic>
      <p:sp>
        <p:nvSpPr>
          <p:cNvPr id="18" name="Text 13"/>
          <p:cNvSpPr txBox="1"/>
          <p:nvPr/>
        </p:nvSpPr>
        <p:spPr>
          <a:xfrm>
            <a:off x="3447288" y="1828800"/>
            <a:ext cx="2286000" cy="36576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GitHub Copilot</a:t>
            </a:r>
            <a:endParaRPr lang="en-US" sz="2200" dirty="0"/>
          </a:p>
        </p:txBody>
      </p:sp>
      <p:sp>
        <p:nvSpPr>
          <p:cNvPr id="19" name="Text 14"/>
          <p:cNvSpPr txBox="1"/>
          <p:nvPr/>
        </p:nvSpPr>
        <p:spPr>
          <a:xfrm>
            <a:off x="3447288" y="2240280"/>
            <a:ext cx="2286000" cy="274320"/>
          </a:xfrm>
          <a:prstGeom prst="rect">
            <a:avLst/>
          </a:prstGeom>
          <a:noFill/>
          <a:ln/>
        </p:spPr>
        <p:txBody>
          <a:bodyPr wrap="square" lIns="0" tIns="0" rIns="0" bIns="0" rtlCol="0" anchor="t"/>
          <a:lstStyle/>
          <a:p>
            <a:pPr marL="0" indent="0">
              <a:buNone/>
            </a:pPr>
            <a:r>
              <a:rPr lang="en-US" sz="1500" b="1" dirty="0">
                <a:solidFill>
                  <a:srgbClr val="565C75"/>
                </a:solidFill>
              </a:rPr>
              <a:t>Die Weiterentwicklung</a:t>
            </a:r>
            <a:endParaRPr lang="en-US" sz="1500" dirty="0"/>
          </a:p>
        </p:txBody>
      </p:sp>
      <p:sp>
        <p:nvSpPr>
          <p:cNvPr id="20" name="Text 15"/>
          <p:cNvSpPr txBox="1"/>
          <p:nvPr/>
        </p:nvSpPr>
        <p:spPr>
          <a:xfrm>
            <a:off x="3447288" y="2651760"/>
            <a:ext cx="2286000" cy="1325880"/>
          </a:xfrm>
          <a:prstGeom prst="rect">
            <a:avLst/>
          </a:prstGeom>
          <a:noFill/>
          <a:ln/>
        </p:spPr>
        <p:txBody>
          <a:bodyPr wrap="square" lIns="0" tIns="0" rIns="0" bIns="0" rtlCol="0" anchor="t"/>
          <a:lstStyle/>
          <a:p>
            <a:pPr marL="0" indent="0">
              <a:buNone/>
            </a:pPr>
            <a:r>
              <a:rPr lang="en-US" sz="1500" dirty="0">
                <a:solidFill>
                  <a:srgbClr val="111427"/>
                </a:solidFill>
              </a:rPr>
              <a:t>Mit einzelnen Prompts haben wir damit Änderungen am Projekt vorgenommen.</a:t>
            </a:r>
            <a:endParaRPr lang="en-US" sz="1500" dirty="0"/>
          </a:p>
        </p:txBody>
      </p:sp>
      <p:sp>
        <p:nvSpPr>
          <p:cNvPr id="21" name="Text 16"/>
          <p:cNvSpPr txBox="1"/>
          <p:nvPr/>
        </p:nvSpPr>
        <p:spPr>
          <a:xfrm>
            <a:off x="5879592" y="2286000"/>
            <a:ext cx="192024" cy="365760"/>
          </a:xfrm>
          <a:prstGeom prst="rect">
            <a:avLst/>
          </a:prstGeom>
          <a:noFill/>
          <a:ln/>
        </p:spPr>
        <p:txBody>
          <a:bodyPr wrap="square" lIns="0" tIns="0" rIns="0" bIns="0" rtlCol="0" anchor="ctr"/>
          <a:lstStyle/>
          <a:p>
            <a:pPr marL="0" indent="0" algn="ctr">
              <a:buNone/>
            </a:pPr>
            <a:r>
              <a:rPr lang="en-US" sz="1800" b="1" dirty="0">
                <a:solidFill>
                  <a:srgbClr val="565C75"/>
                </a:solidFill>
              </a:rPr>
              <a:t>→</a:t>
            </a:r>
            <a:endParaRPr lang="en-US" sz="1800" dirty="0"/>
          </a:p>
        </p:txBody>
      </p:sp>
      <p:sp>
        <p:nvSpPr>
          <p:cNvPr id="22" name="Stufe"/>
          <p:cNvSpPr/>
          <p:nvPr/>
        </p:nvSpPr>
        <p:spPr>
          <a:xfrm>
            <a:off x="6071616"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Nummer"/>
          <p:cNvSpPr/>
          <p:nvPr/>
        </p:nvSpPr>
        <p:spPr>
          <a:xfrm>
            <a:off x="6254496" y="1298448"/>
            <a:ext cx="365760" cy="365760"/>
          </a:xfrm>
          <a:prstGeom prst="ellipse">
            <a:avLst/>
          </a:prstGeom>
          <a:solidFill>
            <a:srgbClr val="1B1F3B"/>
          </a:solidFill>
          <a:ln w="12700">
            <a:solidFill>
              <a:srgbClr val="1B1F3B"/>
            </a:solidFill>
            <a:prstDash val="solid"/>
          </a:ln>
        </p:spPr>
        <p:txBody>
          <a:bodyPr/>
          <a:lstStyle/>
          <a:p>
            <a:endParaRPr lang="de-CH"/>
          </a:p>
        </p:txBody>
      </p:sp>
      <p:sp>
        <p:nvSpPr>
          <p:cNvPr id="24" name="Text 19"/>
          <p:cNvSpPr txBox="1"/>
          <p:nvPr/>
        </p:nvSpPr>
        <p:spPr>
          <a:xfrm>
            <a:off x="6254496" y="129844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5" name="Icon-Kreis"/>
          <p:cNvSpPr/>
          <p:nvPr/>
        </p:nvSpPr>
        <p:spPr>
          <a:xfrm>
            <a:off x="7991856" y="1261872"/>
            <a:ext cx="457200" cy="457200"/>
          </a:xfrm>
          <a:prstGeom prst="ellipse">
            <a:avLst/>
          </a:prstGeom>
          <a:solidFill>
            <a:srgbClr val="FFD400"/>
          </a:solidFill>
          <a:ln w="12700">
            <a:solidFill>
              <a:srgbClr val="FFD400"/>
            </a:solidFill>
            <a:prstDash val="solid"/>
          </a:ln>
        </p:spPr>
        <p:txBody>
          <a:bodyPr/>
          <a:lstStyle/>
          <a:p>
            <a:endParaRPr lang="de-CH"/>
          </a:p>
        </p:txBody>
      </p:sp>
      <p:pic>
        <p:nvPicPr>
          <p:cNvPr id="26" name="Image 2" descr="Icon"/>
          <p:cNvPicPr>
            <a:picLocks noChangeAspect="1"/>
          </p:cNvPicPr>
          <p:nvPr/>
        </p:nvPicPr>
        <p:blipFill>
          <a:blip r:embed="rId5"/>
          <a:stretch>
            <a:fillRect/>
          </a:stretch>
        </p:blipFill>
        <p:spPr>
          <a:xfrm>
            <a:off x="8106156" y="1376172"/>
            <a:ext cx="228600" cy="228600"/>
          </a:xfrm>
          <a:prstGeom prst="rect">
            <a:avLst/>
          </a:prstGeom>
        </p:spPr>
      </p:pic>
      <p:sp>
        <p:nvSpPr>
          <p:cNvPr id="27" name="Text 21"/>
          <p:cNvSpPr txBox="1"/>
          <p:nvPr/>
        </p:nvSpPr>
        <p:spPr>
          <a:xfrm>
            <a:off x="6254496" y="1828800"/>
            <a:ext cx="2286000" cy="36576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Claude</a:t>
            </a:r>
            <a:endParaRPr lang="en-US" sz="2200" dirty="0"/>
          </a:p>
        </p:txBody>
      </p:sp>
      <p:sp>
        <p:nvSpPr>
          <p:cNvPr id="28" name="Text 22"/>
          <p:cNvSpPr txBox="1"/>
          <p:nvPr/>
        </p:nvSpPr>
        <p:spPr>
          <a:xfrm>
            <a:off x="6254496" y="2240280"/>
            <a:ext cx="2286000" cy="274320"/>
          </a:xfrm>
          <a:prstGeom prst="rect">
            <a:avLst/>
          </a:prstGeom>
          <a:noFill/>
          <a:ln/>
        </p:spPr>
        <p:txBody>
          <a:bodyPr wrap="square" lIns="0" tIns="0" rIns="0" bIns="0" rtlCol="0" anchor="t"/>
          <a:lstStyle/>
          <a:p>
            <a:pPr marL="0" indent="0">
              <a:buNone/>
            </a:pPr>
            <a:r>
              <a:rPr lang="en-US" sz="1500" b="1" dirty="0">
                <a:solidFill>
                  <a:srgbClr val="565C75"/>
                </a:solidFill>
              </a:rPr>
              <a:t>Die Überarbeitung</a:t>
            </a:r>
            <a:endParaRPr lang="en-US" sz="1500" dirty="0"/>
          </a:p>
        </p:txBody>
      </p:sp>
      <p:sp>
        <p:nvSpPr>
          <p:cNvPr id="29" name="Text 23"/>
          <p:cNvSpPr txBox="1"/>
          <p:nvPr/>
        </p:nvSpPr>
        <p:spPr>
          <a:xfrm>
            <a:off x="6254496" y="2651760"/>
            <a:ext cx="2286000" cy="1325880"/>
          </a:xfrm>
          <a:prstGeom prst="rect">
            <a:avLst/>
          </a:prstGeom>
          <a:noFill/>
          <a:ln/>
        </p:spPr>
        <p:txBody>
          <a:bodyPr wrap="square" lIns="0" tIns="0" rIns="0" bIns="0" rtlCol="0" anchor="t"/>
          <a:lstStyle/>
          <a:p>
            <a:pPr marL="0" indent="0">
              <a:buNone/>
            </a:pPr>
            <a:r>
              <a:rPr lang="en-US" sz="1500" dirty="0">
                <a:solidFill>
                  <a:srgbClr val="111427"/>
                </a:solidFill>
              </a:rPr>
              <a:t>Claude hat das Projekt anhand der Aufgabenstellung geprüft, überarbeitet und ergänzt.</a:t>
            </a:r>
            <a:endParaRPr lang="en-US" sz="1500" dirty="0"/>
          </a:p>
        </p:txBody>
      </p:sp>
      <p:sp>
        <p:nvSpPr>
          <p:cNvPr id="30" name="Fazit"/>
          <p:cNvSpPr/>
          <p:nvPr/>
        </p:nvSpPr>
        <p:spPr>
          <a:xfrm>
            <a:off x="457200" y="4160520"/>
            <a:ext cx="8229600" cy="457200"/>
          </a:xfrm>
          <a:prstGeom prst="roundRect">
            <a:avLst>
              <a:gd name="adj" fmla="val 16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31" name="Text 25"/>
          <p:cNvSpPr txBox="1"/>
          <p:nvPr/>
        </p:nvSpPr>
        <p:spPr>
          <a:xfrm>
            <a:off x="640080" y="4160520"/>
            <a:ext cx="7863840" cy="457200"/>
          </a:xfrm>
          <a:prstGeom prst="rect">
            <a:avLst/>
          </a:prstGeom>
          <a:noFill/>
          <a:ln/>
        </p:spPr>
        <p:txBody>
          <a:bodyPr wrap="square" lIns="0" tIns="0" rIns="0" bIns="0" rtlCol="0" anchor="ctr"/>
          <a:lstStyle/>
          <a:p>
            <a:pPr marL="0" indent="0" algn="ctr">
              <a:buNone/>
            </a:pPr>
            <a:r>
              <a:rPr lang="en-US" sz="1500" dirty="0">
                <a:solidFill>
                  <a:schemeClr val="bg1"/>
                </a:solidFill>
              </a:rPr>
              <a:t>Aus einer einfachen Erfassungs-App wurde ein Werkzeug, das KI-Ideen bewertet.</a:t>
            </a:r>
            <a:endParaRPr lang="en-US" sz="15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Reflexion: Was hat welche KI gebracht?</a:t>
            </a:r>
            <a:endParaRPr lang="en-US" sz="3000" dirty="0"/>
          </a:p>
        </p:txBody>
      </p:sp>
      <p:sp>
        <p:nvSpPr>
          <p:cNvPr id="4" name="Reflexion-Karte"/>
          <p:cNvSpPr/>
          <p:nvPr/>
        </p:nvSpPr>
        <p:spPr>
          <a:xfrm>
            <a:off x="457200"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Icon-Kreis"/>
          <p:cNvSpPr/>
          <p:nvPr/>
        </p:nvSpPr>
        <p:spPr>
          <a:xfrm>
            <a:off x="640080" y="1280160"/>
            <a:ext cx="457200" cy="457200"/>
          </a:xfrm>
          <a:prstGeom prst="ellipse">
            <a:avLst/>
          </a:prstGeom>
          <a:solidFill>
            <a:srgbClr val="00C46A"/>
          </a:solidFill>
          <a:ln w="12700">
            <a:solidFill>
              <a:srgbClr val="00C46A"/>
            </a:solidFill>
            <a:prstDash val="solid"/>
          </a:ln>
        </p:spPr>
        <p:txBody>
          <a:bodyPr/>
          <a:lstStyle/>
          <a:p>
            <a:endParaRPr lang="de-CH"/>
          </a:p>
        </p:txBody>
      </p:sp>
      <p:pic>
        <p:nvPicPr>
          <p:cNvPr id="6" name="Image 0" descr="Icon"/>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Was geholfen hat</a:t>
            </a:r>
            <a:endParaRPr lang="en-US" sz="1500" dirty="0"/>
          </a:p>
        </p:txBody>
      </p:sp>
      <p:sp>
        <p:nvSpPr>
          <p:cNvPr id="8" name="Text 4"/>
          <p:cNvSpPr txBox="1"/>
          <p:nvPr/>
        </p:nvSpPr>
        <p:spPr>
          <a:xfrm>
            <a:off x="640080" y="1920240"/>
            <a:ext cx="2286000" cy="2057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11427"/>
                </a:solidFill>
              </a:rPr>
              <a:t>ChatGPT: schneller Start aus der Aufgabe</a:t>
            </a:r>
            <a:endParaRPr lang="en-US" sz="1300" dirty="0"/>
          </a:p>
          <a:p>
            <a:pPr marL="342900" indent="-342900">
              <a:spcAft>
                <a:spcPts val="500"/>
              </a:spcAft>
              <a:buSzPct val="100000"/>
              <a:buChar char="•"/>
            </a:pPr>
            <a:r>
              <a:rPr lang="en-US" sz="1300" dirty="0">
                <a:solidFill>
                  <a:srgbClr val="111427"/>
                </a:solidFill>
              </a:rPr>
              <a:t>Copilot: gezielte Änderungen in kleinen Schritten</a:t>
            </a:r>
            <a:endParaRPr lang="en-US" sz="1300" dirty="0"/>
          </a:p>
          <a:p>
            <a:pPr marL="342900" indent="-342900">
              <a:spcAft>
                <a:spcPts val="500"/>
              </a:spcAft>
              <a:buSzPct val="100000"/>
              <a:buChar char="•"/>
            </a:pPr>
            <a:r>
              <a:rPr lang="en-US" sz="1300" dirty="0">
                <a:solidFill>
                  <a:srgbClr val="111427"/>
                </a:solidFill>
              </a:rPr>
              <a:t>Claude: Überblick und Abgleich mit der Aufgabe</a:t>
            </a:r>
            <a:endParaRPr lang="en-US" sz="1300" dirty="0"/>
          </a:p>
        </p:txBody>
      </p:sp>
      <p:sp>
        <p:nvSpPr>
          <p:cNvPr id="9" name="Reflexion-Karte"/>
          <p:cNvSpPr/>
          <p:nvPr/>
        </p:nvSpPr>
        <p:spPr>
          <a:xfrm>
            <a:off x="3264408"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0" name="Icon-Kreis"/>
          <p:cNvSpPr/>
          <p:nvPr/>
        </p:nvSpPr>
        <p:spPr>
          <a:xfrm>
            <a:off x="3447288" y="1280160"/>
            <a:ext cx="457200" cy="457200"/>
          </a:xfrm>
          <a:prstGeom prst="ellipse">
            <a:avLst/>
          </a:prstGeom>
          <a:solidFill>
            <a:srgbClr val="FFD400"/>
          </a:solidFill>
          <a:ln w="12700">
            <a:solidFill>
              <a:srgbClr val="FFD400"/>
            </a:solidFill>
            <a:prstDash val="solid"/>
          </a:ln>
        </p:spPr>
        <p:txBody>
          <a:bodyPr/>
          <a:lstStyle/>
          <a:p>
            <a:endParaRPr lang="de-CH"/>
          </a:p>
        </p:txBody>
      </p:sp>
      <p:pic>
        <p:nvPicPr>
          <p:cNvPr id="11" name="Image 1" descr="Icon"/>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Was korrigiert werden musste</a:t>
            </a:r>
            <a:endParaRPr lang="en-US" sz="1500" dirty="0"/>
          </a:p>
        </p:txBody>
      </p:sp>
      <p:sp>
        <p:nvSpPr>
          <p:cNvPr id="13" name="Text 8"/>
          <p:cNvSpPr txBox="1"/>
          <p:nvPr/>
        </p:nvSpPr>
        <p:spPr>
          <a:xfrm>
            <a:off x="3447288" y="1920240"/>
            <a:ext cx="2286000" cy="2057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11427"/>
                </a:solidFill>
              </a:rPr>
              <a:t>Grundgerüst sah komplett aus, es fehlten Bewertung, Auswertungen, Register, Tests</a:t>
            </a:r>
            <a:endParaRPr lang="en-US" sz="1300" dirty="0"/>
          </a:p>
          <a:p>
            <a:pPr marL="342900" indent="-342900">
              <a:spcAft>
                <a:spcPts val="500"/>
              </a:spcAft>
              <a:buSzPct val="100000"/>
              <a:buChar char="•"/>
            </a:pPr>
            <a:r>
              <a:rPr lang="en-US" sz="1300" dirty="0">
                <a:solidFill>
                  <a:srgbClr val="111427"/>
                </a:solidFill>
              </a:rPr>
              <a:t>Im Code blieben Reste früherer Änderungen</a:t>
            </a:r>
            <a:endParaRPr lang="en-US" sz="1300" dirty="0"/>
          </a:p>
          <a:p>
            <a:pPr marL="342900" indent="-342900">
              <a:spcAft>
                <a:spcPts val="500"/>
              </a:spcAft>
              <a:buSzPct val="100000"/>
              <a:buChar char="•"/>
            </a:pPr>
            <a:r>
              <a:rPr lang="en-US" sz="1300" dirty="0">
                <a:solidFill>
                  <a:srgbClr val="111427"/>
                </a:solidFill>
              </a:rPr>
              <a:t>Auch Claudes erste Formel war falsch</a:t>
            </a:r>
            <a:endParaRPr lang="en-US" sz="1300" dirty="0"/>
          </a:p>
        </p:txBody>
      </p:sp>
      <p:sp>
        <p:nvSpPr>
          <p:cNvPr id="14" name="Reflexion-Karte"/>
          <p:cNvSpPr/>
          <p:nvPr/>
        </p:nvSpPr>
        <p:spPr>
          <a:xfrm>
            <a:off x="6071616"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Icon-Kreis"/>
          <p:cNvSpPr/>
          <p:nvPr/>
        </p:nvSpPr>
        <p:spPr>
          <a:xfrm>
            <a:off x="6254496" y="1280160"/>
            <a:ext cx="457200" cy="457200"/>
          </a:xfrm>
          <a:prstGeom prst="ellipse">
            <a:avLst/>
          </a:prstGeom>
          <a:solidFill>
            <a:srgbClr val="3D8BFF"/>
          </a:solidFill>
          <a:ln w="12700">
            <a:solidFill>
              <a:srgbClr val="3D8BFF"/>
            </a:solidFill>
            <a:prstDash val="solid"/>
          </a:ln>
        </p:spPr>
        <p:txBody>
          <a:bodyPr/>
          <a:lstStyle/>
          <a:p>
            <a:endParaRPr lang="de-CH"/>
          </a:p>
        </p:txBody>
      </p:sp>
      <p:pic>
        <p:nvPicPr>
          <p:cNvPr id="16" name="Image 2" descr="Icon"/>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Was wir gelernt haben</a:t>
            </a:r>
            <a:endParaRPr lang="en-US" sz="1500" dirty="0"/>
          </a:p>
        </p:txBody>
      </p:sp>
      <p:sp>
        <p:nvSpPr>
          <p:cNvPr id="18" name="Text 12"/>
          <p:cNvSpPr txBox="1"/>
          <p:nvPr/>
        </p:nvSpPr>
        <p:spPr>
          <a:xfrm>
            <a:off x="6254496" y="1920240"/>
            <a:ext cx="2286000" cy="20574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11427"/>
                </a:solidFill>
              </a:rPr>
              <a:t>KI-Ergebnisse immer gegen die Aufgabe prüfen</a:t>
            </a:r>
            <a:endParaRPr lang="en-US" sz="1300" dirty="0"/>
          </a:p>
          <a:p>
            <a:pPr marL="342900" indent="-342900">
              <a:spcAft>
                <a:spcPts val="500"/>
              </a:spcAft>
              <a:buSzPct val="100000"/>
              <a:buChar char="•"/>
            </a:pPr>
            <a:r>
              <a:rPr lang="en-US" sz="1300" dirty="0">
                <a:solidFill>
                  <a:srgbClr val="111427"/>
                </a:solidFill>
              </a:rPr>
              <a:t>Tests und Stichproben decken Fehler auf</a:t>
            </a:r>
            <a:endParaRPr lang="en-US" sz="1300" dirty="0"/>
          </a:p>
          <a:p>
            <a:pPr marL="342900" indent="-342900">
              <a:spcAft>
                <a:spcPts val="500"/>
              </a:spcAft>
              <a:buSzPct val="100000"/>
              <a:buChar char="•"/>
            </a:pPr>
            <a:r>
              <a:rPr lang="en-US" sz="1300" dirty="0">
                <a:solidFill>
                  <a:srgbClr val="111427"/>
                </a:solidFill>
              </a:rPr>
              <a:t>Wie in unserer App: KI schlägt vor, Menschen entscheiden</a:t>
            </a:r>
            <a:endParaRPr lang="en-US" sz="1300" dirty="0"/>
          </a:p>
        </p:txBody>
      </p:sp>
      <p:sp>
        <p:nvSpPr>
          <p:cNvPr id="19" name="Grenzen"/>
          <p:cNvSpPr/>
          <p:nvPr/>
        </p:nvSpPr>
        <p:spPr>
          <a:xfrm>
            <a:off x="457200" y="4160520"/>
            <a:ext cx="8229600" cy="457200"/>
          </a:xfrm>
          <a:prstGeom prst="roundRect">
            <a:avLst>
              <a:gd name="adj" fmla="val 16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20" name="Text 14"/>
          <p:cNvSpPr txBox="1"/>
          <p:nvPr/>
        </p:nvSpPr>
        <p:spPr>
          <a:xfrm>
            <a:off x="640080" y="4160520"/>
            <a:ext cx="7863840" cy="457200"/>
          </a:xfrm>
          <a:prstGeom prst="rect">
            <a:avLst/>
          </a:prstGeom>
          <a:noFill/>
          <a:ln/>
        </p:spPr>
        <p:txBody>
          <a:bodyPr wrap="square" lIns="0" tIns="0" rIns="0" bIns="0" rtlCol="0" anchor="ctr"/>
          <a:lstStyle/>
          <a:p>
            <a:pPr marL="0" indent="0" algn="ctr">
              <a:buNone/>
            </a:pPr>
            <a:r>
              <a:rPr lang="en-US" sz="1400" dirty="0">
                <a:solidFill>
                  <a:schemeClr val="bg1"/>
                </a:solidFill>
              </a:rPr>
              <a:t>Grenze: Unsere Daten sind geschätzt, die Zahlen zeigen unser Modell, keine Marktstatistik.</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Live-Demo: So funktioniert die App</a:t>
            </a:r>
            <a:endParaRPr lang="en-US" sz="3000" dirty="0"/>
          </a:p>
        </p:txBody>
      </p:sp>
      <p:pic>
        <p:nvPicPr>
          <p:cNvPr id="4" name="Image 0" descr="Detailansicht der Idee Diagnose-Unterstützung in der Radiologie mit Begründung und Punkten"/>
          <p:cNvPicPr>
            <a:picLocks noChangeAspect="1"/>
          </p:cNvPicPr>
          <p:nvPr/>
        </p:nvPicPr>
        <p:blipFill>
          <a:blip r:embed="rId3"/>
          <a:stretch>
            <a:fillRect/>
          </a:stretch>
        </p:blipFill>
        <p:spPr>
          <a:xfrm>
            <a:off x="457200" y="1143000"/>
            <a:ext cx="4526280" cy="3438144"/>
          </a:xfrm>
          <a:prstGeom prst="rect">
            <a:avLst/>
          </a:prstGeom>
          <a:effectLst>
            <a:outerShdw blurRad="76200" dist="25400" dir="5400000" algn="bl" rotWithShape="0">
              <a:srgbClr val="000000">
                <a:alpha val="12000"/>
              </a:srgbClr>
            </a:outerShdw>
          </a:effectLst>
        </p:spPr>
      </p:pic>
      <p:sp>
        <p:nvSpPr>
          <p:cNvPr id="5" name="Demo-Schritt"/>
          <p:cNvSpPr/>
          <p:nvPr/>
        </p:nvSpPr>
        <p:spPr>
          <a:xfrm>
            <a:off x="5212080" y="1143000"/>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6" name="Nummer"/>
          <p:cNvSpPr/>
          <p:nvPr/>
        </p:nvSpPr>
        <p:spPr>
          <a:xfrm>
            <a:off x="5349240" y="1344168"/>
            <a:ext cx="365760" cy="365760"/>
          </a:xfrm>
          <a:prstGeom prst="ellipse">
            <a:avLst/>
          </a:prstGeom>
          <a:solidFill>
            <a:srgbClr val="3D8BFF"/>
          </a:solidFill>
          <a:ln w="12700">
            <a:solidFill>
              <a:srgbClr val="3D8BFF"/>
            </a:solidFill>
            <a:prstDash val="solid"/>
          </a:ln>
        </p:spPr>
        <p:txBody>
          <a:bodyPr/>
          <a:lstStyle/>
          <a:p>
            <a:endParaRPr lang="de-CH"/>
          </a:p>
        </p:txBody>
      </p:sp>
      <p:sp>
        <p:nvSpPr>
          <p:cNvPr id="7" name="Text 3"/>
          <p:cNvSpPr txBox="1"/>
          <p:nvPr/>
        </p:nvSpPr>
        <p:spPr>
          <a:xfrm>
            <a:off x="5349240" y="1344168"/>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1</a:t>
            </a:r>
            <a:endParaRPr lang="en-US" sz="1500" dirty="0"/>
          </a:p>
        </p:txBody>
      </p:sp>
      <p:sp>
        <p:nvSpPr>
          <p:cNvPr id="8" name="Text 4"/>
          <p:cNvSpPr txBox="1"/>
          <p:nvPr/>
        </p:nvSpPr>
        <p:spPr>
          <a:xfrm>
            <a:off x="5852160" y="1234440"/>
            <a:ext cx="2743200" cy="274320"/>
          </a:xfrm>
          <a:prstGeom prst="rect">
            <a:avLst/>
          </a:prstGeom>
          <a:noFill/>
          <a:ln/>
        </p:spPr>
        <p:txBody>
          <a:bodyPr wrap="square" lIns="0" tIns="0" rIns="0" bIns="0" rtlCol="0" anchor="t"/>
          <a:lstStyle/>
          <a:p>
            <a:pPr marL="0" indent="0">
              <a:buNone/>
            </a:pPr>
            <a:r>
              <a:rPr lang="en-US" sz="1500" b="1" dirty="0">
                <a:solidFill>
                  <a:schemeClr val="tx2"/>
                </a:solidFill>
              </a:rPr>
              <a:t>Idee eingeben</a:t>
            </a:r>
            <a:endParaRPr lang="en-US" sz="1500" dirty="0"/>
          </a:p>
        </p:txBody>
      </p:sp>
      <p:sp>
        <p:nvSpPr>
          <p:cNvPr id="9" name="Text 5"/>
          <p:cNvSpPr txBox="1"/>
          <p:nvPr/>
        </p:nvSpPr>
        <p:spPr>
          <a:xfrm>
            <a:off x="5852160" y="1536192"/>
            <a:ext cx="2743200" cy="320040"/>
          </a:xfrm>
          <a:prstGeom prst="rect">
            <a:avLst/>
          </a:prstGeom>
          <a:noFill/>
          <a:ln/>
        </p:spPr>
        <p:txBody>
          <a:bodyPr wrap="square" lIns="0" tIns="0" rIns="0" bIns="0" rtlCol="0" anchor="t"/>
          <a:lstStyle/>
          <a:p>
            <a:pPr marL="0" indent="0">
              <a:buNone/>
            </a:pPr>
            <a:r>
              <a:rPr lang="en-US" sz="1300" dirty="0">
                <a:solidFill>
                  <a:srgbClr val="565C75"/>
                </a:solidFill>
              </a:rPr>
              <a:t>Die Bewertung erscheint sofort</a:t>
            </a:r>
            <a:endParaRPr lang="en-US" sz="1300" dirty="0"/>
          </a:p>
        </p:txBody>
      </p:sp>
      <p:sp>
        <p:nvSpPr>
          <p:cNvPr id="10" name="Demo-Schritt"/>
          <p:cNvSpPr/>
          <p:nvPr/>
        </p:nvSpPr>
        <p:spPr>
          <a:xfrm>
            <a:off x="5212080" y="2029968"/>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Nummer"/>
          <p:cNvSpPr/>
          <p:nvPr/>
        </p:nvSpPr>
        <p:spPr>
          <a:xfrm>
            <a:off x="5349240" y="2231136"/>
            <a:ext cx="365760" cy="365760"/>
          </a:xfrm>
          <a:prstGeom prst="ellipse">
            <a:avLst/>
          </a:prstGeom>
          <a:solidFill>
            <a:srgbClr val="3D8BFF"/>
          </a:solidFill>
          <a:ln w="12700">
            <a:solidFill>
              <a:srgbClr val="3D8BFF"/>
            </a:solidFill>
            <a:prstDash val="solid"/>
          </a:ln>
        </p:spPr>
        <p:txBody>
          <a:bodyPr/>
          <a:lstStyle/>
          <a:p>
            <a:endParaRPr lang="de-CH"/>
          </a:p>
        </p:txBody>
      </p:sp>
      <p:sp>
        <p:nvSpPr>
          <p:cNvPr id="12" name="Text 8"/>
          <p:cNvSpPr txBox="1"/>
          <p:nvPr/>
        </p:nvSpPr>
        <p:spPr>
          <a:xfrm>
            <a:off x="5349240" y="2231136"/>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2</a:t>
            </a:r>
            <a:endParaRPr lang="en-US" sz="1500" dirty="0"/>
          </a:p>
        </p:txBody>
      </p:sp>
      <p:sp>
        <p:nvSpPr>
          <p:cNvPr id="13" name="Text 9"/>
          <p:cNvSpPr txBox="1"/>
          <p:nvPr/>
        </p:nvSpPr>
        <p:spPr>
          <a:xfrm>
            <a:off x="5852160" y="2121408"/>
            <a:ext cx="2743200" cy="274320"/>
          </a:xfrm>
          <a:prstGeom prst="rect">
            <a:avLst/>
          </a:prstGeom>
          <a:noFill/>
          <a:ln/>
        </p:spPr>
        <p:txBody>
          <a:bodyPr wrap="square" lIns="0" tIns="0" rIns="0" bIns="0" rtlCol="0" anchor="t"/>
          <a:lstStyle/>
          <a:p>
            <a:pPr marL="0" indent="0">
              <a:buNone/>
            </a:pPr>
            <a:r>
              <a:rPr lang="en-US" sz="1500" b="1" dirty="0">
                <a:solidFill>
                  <a:schemeClr val="tx2"/>
                </a:solidFill>
              </a:rPr>
              <a:t>Angaben fehlen</a:t>
            </a:r>
            <a:endParaRPr lang="en-US" sz="1500" dirty="0"/>
          </a:p>
        </p:txBody>
      </p:sp>
      <p:sp>
        <p:nvSpPr>
          <p:cNvPr id="14" name="Text 10"/>
          <p:cNvSpPr txBox="1"/>
          <p:nvPr/>
        </p:nvSpPr>
        <p:spPr>
          <a:xfrm>
            <a:off x="5852160" y="2423160"/>
            <a:ext cx="2743200" cy="320040"/>
          </a:xfrm>
          <a:prstGeom prst="rect">
            <a:avLst/>
          </a:prstGeom>
          <a:noFill/>
          <a:ln/>
        </p:spPr>
        <p:txBody>
          <a:bodyPr wrap="square" lIns="0" tIns="0" rIns="0" bIns="0" rtlCol="0" anchor="t"/>
          <a:lstStyle/>
          <a:p>
            <a:pPr marL="0" indent="0">
              <a:buNone/>
            </a:pPr>
            <a:r>
              <a:rPr lang="en-US" sz="1300" dirty="0">
                <a:solidFill>
                  <a:srgbClr val="565C75"/>
                </a:solidFill>
              </a:rPr>
              <a:t>Die App sagt ehrlich «noch unklar»</a:t>
            </a:r>
            <a:endParaRPr lang="en-US" sz="1300" dirty="0"/>
          </a:p>
        </p:txBody>
      </p:sp>
      <p:sp>
        <p:nvSpPr>
          <p:cNvPr id="15" name="Demo-Schritt"/>
          <p:cNvSpPr/>
          <p:nvPr/>
        </p:nvSpPr>
        <p:spPr>
          <a:xfrm>
            <a:off x="5212080" y="2916936"/>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6" name="Nummer"/>
          <p:cNvSpPr/>
          <p:nvPr/>
        </p:nvSpPr>
        <p:spPr>
          <a:xfrm>
            <a:off x="5349240" y="3118104"/>
            <a:ext cx="365760" cy="365760"/>
          </a:xfrm>
          <a:prstGeom prst="ellipse">
            <a:avLst/>
          </a:prstGeom>
          <a:solidFill>
            <a:srgbClr val="3D8BFF"/>
          </a:solidFill>
          <a:ln w="12700">
            <a:solidFill>
              <a:srgbClr val="3D8BFF"/>
            </a:solidFill>
            <a:prstDash val="solid"/>
          </a:ln>
        </p:spPr>
        <p:txBody>
          <a:bodyPr/>
          <a:lstStyle/>
          <a:p>
            <a:endParaRPr lang="de-CH"/>
          </a:p>
        </p:txBody>
      </p:sp>
      <p:sp>
        <p:nvSpPr>
          <p:cNvPr id="17" name="Text 13"/>
          <p:cNvSpPr txBox="1"/>
          <p:nvPr/>
        </p:nvSpPr>
        <p:spPr>
          <a:xfrm>
            <a:off x="5349240" y="3118104"/>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3</a:t>
            </a:r>
            <a:endParaRPr lang="en-US" sz="1500" dirty="0"/>
          </a:p>
        </p:txBody>
      </p:sp>
      <p:sp>
        <p:nvSpPr>
          <p:cNvPr id="18" name="Text 14"/>
          <p:cNvSpPr txBox="1"/>
          <p:nvPr/>
        </p:nvSpPr>
        <p:spPr>
          <a:xfrm>
            <a:off x="5852160" y="3008376"/>
            <a:ext cx="2743200" cy="274320"/>
          </a:xfrm>
          <a:prstGeom prst="rect">
            <a:avLst/>
          </a:prstGeom>
          <a:noFill/>
          <a:ln/>
        </p:spPr>
        <p:txBody>
          <a:bodyPr wrap="square" lIns="0" tIns="0" rIns="0" bIns="0" rtlCol="0" anchor="t"/>
          <a:lstStyle/>
          <a:p>
            <a:pPr marL="0" indent="0">
              <a:buNone/>
            </a:pPr>
            <a:r>
              <a:rPr lang="en-US" sz="1500" b="1" dirty="0">
                <a:solidFill>
                  <a:schemeClr val="tx2"/>
                </a:solidFill>
              </a:rPr>
              <a:t>Fehler gefährlich machen</a:t>
            </a:r>
            <a:endParaRPr lang="en-US" sz="1500" dirty="0"/>
          </a:p>
        </p:txBody>
      </p:sp>
      <p:sp>
        <p:nvSpPr>
          <p:cNvPr id="19" name="Text 15"/>
          <p:cNvSpPr txBox="1"/>
          <p:nvPr/>
        </p:nvSpPr>
        <p:spPr>
          <a:xfrm>
            <a:off x="5852160" y="3310128"/>
            <a:ext cx="2743200" cy="320040"/>
          </a:xfrm>
          <a:prstGeom prst="rect">
            <a:avLst/>
          </a:prstGeom>
          <a:noFill/>
          <a:ln/>
        </p:spPr>
        <p:txBody>
          <a:bodyPr wrap="square" lIns="0" tIns="0" rIns="0" bIns="0" rtlCol="0" anchor="t"/>
          <a:lstStyle/>
          <a:p>
            <a:pPr marL="0" indent="0">
              <a:buNone/>
            </a:pPr>
            <a:r>
              <a:rPr lang="en-US" sz="1300" dirty="0">
                <a:solidFill>
                  <a:srgbClr val="565C75"/>
                </a:solidFill>
              </a:rPr>
              <a:t>Aus «KI sinnvoll» wird «Assistenz»</a:t>
            </a:r>
            <a:endParaRPr lang="en-US" sz="1300" dirty="0"/>
          </a:p>
        </p:txBody>
      </p:sp>
      <p:sp>
        <p:nvSpPr>
          <p:cNvPr id="20" name="Demo-Schritt"/>
          <p:cNvSpPr/>
          <p:nvPr/>
        </p:nvSpPr>
        <p:spPr>
          <a:xfrm>
            <a:off x="5212080" y="3803904"/>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1" name="Nummer"/>
          <p:cNvSpPr/>
          <p:nvPr/>
        </p:nvSpPr>
        <p:spPr>
          <a:xfrm>
            <a:off x="5349240" y="4005072"/>
            <a:ext cx="365760" cy="365760"/>
          </a:xfrm>
          <a:prstGeom prst="ellipse">
            <a:avLst/>
          </a:prstGeom>
          <a:solidFill>
            <a:srgbClr val="3D8BFF"/>
          </a:solidFill>
          <a:ln w="12700">
            <a:solidFill>
              <a:srgbClr val="3D8BFF"/>
            </a:solidFill>
            <a:prstDash val="solid"/>
          </a:ln>
        </p:spPr>
        <p:txBody>
          <a:bodyPr/>
          <a:lstStyle/>
          <a:p>
            <a:endParaRPr lang="de-CH"/>
          </a:p>
        </p:txBody>
      </p:sp>
      <p:sp>
        <p:nvSpPr>
          <p:cNvPr id="22" name="Text 18"/>
          <p:cNvSpPr txBox="1"/>
          <p:nvPr/>
        </p:nvSpPr>
        <p:spPr>
          <a:xfrm>
            <a:off x="5349240" y="4005072"/>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4</a:t>
            </a:r>
            <a:endParaRPr lang="en-US" sz="1500" dirty="0"/>
          </a:p>
        </p:txBody>
      </p:sp>
      <p:sp>
        <p:nvSpPr>
          <p:cNvPr id="23" name="Text 19"/>
          <p:cNvSpPr txBox="1"/>
          <p:nvPr/>
        </p:nvSpPr>
        <p:spPr>
          <a:xfrm>
            <a:off x="5852160" y="3895344"/>
            <a:ext cx="2743200" cy="274320"/>
          </a:xfrm>
          <a:prstGeom prst="rect">
            <a:avLst/>
          </a:prstGeom>
          <a:noFill/>
          <a:ln/>
        </p:spPr>
        <p:txBody>
          <a:bodyPr wrap="square" lIns="0" tIns="0" rIns="0" bIns="0" rtlCol="0" anchor="t"/>
          <a:lstStyle/>
          <a:p>
            <a:pPr marL="0" indent="0">
              <a:buNone/>
            </a:pPr>
            <a:r>
              <a:rPr lang="en-US" sz="1500" b="1" dirty="0">
                <a:solidFill>
                  <a:schemeClr val="tx2"/>
                </a:solidFill>
              </a:rPr>
              <a:t>Details ansehen</a:t>
            </a:r>
            <a:endParaRPr lang="en-US" sz="1500" dirty="0"/>
          </a:p>
        </p:txBody>
      </p:sp>
      <p:sp>
        <p:nvSpPr>
          <p:cNvPr id="24" name="Text 20"/>
          <p:cNvSpPr txBox="1"/>
          <p:nvPr/>
        </p:nvSpPr>
        <p:spPr>
          <a:xfrm>
            <a:off x="5852160" y="4197096"/>
            <a:ext cx="2743200" cy="320040"/>
          </a:xfrm>
          <a:prstGeom prst="rect">
            <a:avLst/>
          </a:prstGeom>
          <a:noFill/>
          <a:ln/>
        </p:spPr>
        <p:txBody>
          <a:bodyPr wrap="square" lIns="0" tIns="0" rIns="0" bIns="0" rtlCol="0" anchor="t"/>
          <a:lstStyle/>
          <a:p>
            <a:pPr marL="0" indent="0">
              <a:buNone/>
            </a:pPr>
            <a:r>
              <a:rPr lang="en-US" sz="1300" dirty="0">
                <a:solidFill>
                  <a:srgbClr val="565C75"/>
                </a:solidFill>
              </a:rPr>
              <a:t>Begründung, Kosten, ähnliche Ideen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097280"/>
            <a:ext cx="7863840" cy="1280160"/>
          </a:xfrm>
          <a:prstGeom prst="rect">
            <a:avLst/>
          </a:prstGeom>
          <a:noFill/>
          <a:ln/>
        </p:spPr>
        <p:txBody>
          <a:bodyPr wrap="square" lIns="0" tIns="0" rIns="0" bIns="0" rtlCol="0" anchor="b"/>
          <a:lstStyle/>
          <a:p>
            <a:pPr marL="0" indent="0" algn="l">
              <a:buNone/>
            </a:pPr>
            <a:r>
              <a:rPr lang="en-US" sz="4600" b="1" dirty="0">
                <a:solidFill>
                  <a:schemeClr val="bg1"/>
                </a:solidFill>
              </a:rPr>
              <a:t>Vielen Dank! Fragen?</a:t>
            </a:r>
            <a:endParaRPr lang="en-US" sz="4600" dirty="0"/>
          </a:p>
        </p:txBody>
      </p:sp>
      <p:sp>
        <p:nvSpPr>
          <p:cNvPr id="4" name="Text 0"/>
          <p:cNvSpPr>
            <a:spLocks noGrp="1"/>
          </p:cNvSpPr>
          <p:nvPr>
            <p:ph type="body" idx="101" hasCustomPrompt="1"/>
          </p:nvPr>
        </p:nvSpPr>
        <p:spPr>
          <a:xfrm>
            <a:off x="640080" y="2514600"/>
            <a:ext cx="7863840" cy="822960"/>
          </a:xfrm>
          <a:prstGeom prst="rect">
            <a:avLst/>
          </a:prstGeom>
          <a:noFill/>
          <a:ln/>
        </p:spPr>
        <p:txBody>
          <a:bodyPr wrap="square" lIns="0" tIns="0" rIns="0" bIns="0" rtlCol="0" anchor="t"/>
          <a:lstStyle/>
          <a:p>
            <a:pPr marL="0" indent="0" algn="l">
              <a:buNone/>
            </a:pPr>
            <a:r>
              <a:rPr lang="en-US" sz="2200" dirty="0">
                <a:solidFill>
                  <a:schemeClr val="bg2"/>
                </a:solidFill>
              </a:rPr>
              <a:t>KI formuliert, Regeln entscheiden, Menschen tragen die Verantwortung.</a:t>
            </a:r>
            <a:endParaRPr lang="en-US" sz="2200" dirty="0"/>
          </a:p>
        </p:txBody>
      </p:sp>
      <p:sp>
        <p:nvSpPr>
          <p:cNvPr id="5" name="Empfehlung KI sinnvoll"/>
          <p:cNvSpPr txBox="1"/>
          <p:nvPr/>
        </p:nvSpPr>
        <p:spPr>
          <a:xfrm>
            <a:off x="640080" y="3840480"/>
            <a:ext cx="1143000" cy="365760"/>
          </a:xfrm>
          <a:prstGeom prst="roundRect">
            <a:avLst>
              <a:gd name="adj" fmla="val 25000"/>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6" name="Empfehlung KI als Assistenz"/>
          <p:cNvSpPr txBox="1"/>
          <p:nvPr/>
        </p:nvSpPr>
        <p:spPr>
          <a:xfrm>
            <a:off x="1920240" y="3840480"/>
            <a:ext cx="1463040" cy="365760"/>
          </a:xfrm>
          <a:prstGeom prst="roundRect">
            <a:avLst>
              <a:gd name="adj" fmla="val 25000"/>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a:t>
            </a:r>
            <a:endParaRPr lang="en-US" sz="1300" dirty="0"/>
          </a:p>
        </p:txBody>
      </p:sp>
      <p:sp>
        <p:nvSpPr>
          <p:cNvPr id="7" name="Empfehlung Klassisch"/>
          <p:cNvSpPr txBox="1"/>
          <p:nvPr/>
        </p:nvSpPr>
        <p:spPr>
          <a:xfrm>
            <a:off x="3520440" y="3840480"/>
            <a:ext cx="1051560" cy="365760"/>
          </a:xfrm>
          <a:prstGeom prst="roundRect">
            <a:avLst>
              <a:gd name="adj" fmla="val 25000"/>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a:t>
            </a:r>
            <a:endParaRPr lang="en-US" sz="1300" dirty="0"/>
          </a:p>
        </p:txBody>
      </p:sp>
      <p:sp>
        <p:nvSpPr>
          <p:cNvPr id="8" name="Empfehlung Manuell"/>
          <p:cNvSpPr txBox="1"/>
          <p:nvPr/>
        </p:nvSpPr>
        <p:spPr>
          <a:xfrm>
            <a:off x="4709160" y="3840480"/>
            <a:ext cx="1051560" cy="365760"/>
          </a:xfrm>
          <a:prstGeom prst="roundRect">
            <a:avLst>
              <a:gd name="adj" fmla="val 25000"/>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a:t>
            </a:r>
            <a:endParaRPr lang="en-US" sz="1300" dirty="0"/>
          </a:p>
        </p:txBody>
      </p:sp>
      <p:sp>
        <p:nvSpPr>
          <p:cNvPr id="9" name="Empfehlung Unklar"/>
          <p:cNvSpPr txBox="1"/>
          <p:nvPr/>
        </p:nvSpPr>
        <p:spPr>
          <a:xfrm>
            <a:off x="5897880" y="3840480"/>
            <a:ext cx="914400" cy="365760"/>
          </a:xfrm>
          <a:prstGeom prst="roundRect">
            <a:avLst>
              <a:gd name="adj" fmla="val 25000"/>
            </a:avLst>
          </a:prstGeom>
          <a:solidFill>
            <a:srgbClr val="9AA0B4"/>
          </a:solidFill>
          <a:ln/>
        </p:spPr>
        <p:txBody>
          <a:bodyPr wrap="square" lIns="0" tIns="0" rIns="0" bIns="0" rtlCol="0" anchor="ctr"/>
          <a:lstStyle/>
          <a:p>
            <a:pPr marL="0" indent="0" algn="ctr">
              <a:buNone/>
            </a:pPr>
            <a:r>
              <a:rPr lang="en-US" sz="1300" b="1" dirty="0">
                <a:solidFill>
                  <a:srgbClr val="111427"/>
                </a:solidFill>
              </a:rPr>
              <a:t>Unklar</a:t>
            </a:r>
            <a:endParaRPr lang="en-US" sz="1300" dirty="0"/>
          </a:p>
        </p:txBody>
      </p:sp>
    </p:spTree>
  </p:cSld>
  <p:clrMapOvr>
    <a:masterClrMapping/>
  </p:clrMapOvr>
</p:sld>
</file>

<file path=ppt/theme/theme1.xml><?xml version="1.0" encoding="utf-8"?>
<a:theme xmlns:a="http://schemas.openxmlformats.org/drawingml/2006/main" name="KI UseCase Evaluator">
  <a:themeElements>
    <a:clrScheme name="KI UseCase Evaluator">
      <a:dk1>
        <a:srgbClr val="111427"/>
      </a:dk1>
      <a:lt1>
        <a:srgbClr val="FFFFFF"/>
      </a:lt1>
      <a:dk2>
        <a:srgbClr val="1B1F3B"/>
      </a:dk2>
      <a:lt2>
        <a:srgbClr val="F3F5FB"/>
      </a:lt2>
      <a:accent1>
        <a:srgbClr val="3D8BFF"/>
      </a:accent1>
      <a:accent2>
        <a:srgbClr val="00C46A"/>
      </a:accent2>
      <a:accent3>
        <a:srgbClr val="FFD400"/>
      </a:accent3>
      <a:accent4>
        <a:srgbClr val="FF5A4F"/>
      </a:accent4>
      <a:accent5>
        <a:srgbClr val="9AA0B4"/>
      </a:accent5>
      <a:accent6>
        <a:srgbClr val="7A5CFF"/>
      </a:accent6>
      <a:hlink>
        <a:srgbClr val="3D8BFF"/>
      </a:hlink>
      <a:folHlink>
        <a:srgbClr val="7A5CFF"/>
      </a:folHlink>
    </a:clrScheme>
    <a:fontScheme name="KI UseCase Evalu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3186</Words>
  <Application>Microsoft Office PowerPoint</Application>
  <PresentationFormat>Bildschirmpräsentation (16:9)</PresentationFormat>
  <Paragraphs>285</Paragraphs>
  <Slides>16</Slides>
  <Notes>16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16</vt:i4>
      </vt:variant>
    </vt:vector>
  </HeadingPairs>
  <TitlesOfParts>
    <vt:vector size="20" baseType="lpstr">
      <vt:lpstr>Arial</vt:lpstr>
      <vt:lpstr>Calibri</vt:lpstr>
      <vt:lpstr>Cambria</vt:lpstr>
      <vt:lpstr>KI UseCase Evaluator</vt:lpstr>
      <vt:lpstr>Wann lohnt sich KI wirklich?</vt:lpstr>
      <vt:lpstr>Das Problem: Nicht jede KI-Idee lohnt sich</vt:lpstr>
      <vt:lpstr>Die fünf möglichen Antworten</vt:lpstr>
      <vt:lpstr>Sieben Fragen zu jeder Idee</vt:lpstr>
      <vt:lpstr>So kommt die App zu ihrer Antwort</vt:lpstr>
      <vt:lpstr>Wo speichern wir das? Die Datenbank</vt:lpstr>
      <vt:lpstr>Unsere Testdaten: 48 KI-Ideen</vt:lpstr>
      <vt:lpstr>Die Datenbank rechnet für uns</vt:lpstr>
      <vt:lpstr>Das Register: Damit die Suche schnell bleibt</vt:lpstr>
      <vt:lpstr>Was wir herausgefunden haben</vt:lpstr>
      <vt:lpstr>Unsere Antwort: KI lohnt sich, wenn …</vt:lpstr>
      <vt:lpstr>Funktioniert die App richtig? Unsere Tests</vt:lpstr>
      <vt:lpstr>Wie das Projekt entstanden ist</vt:lpstr>
      <vt:lpstr>Reflexion: Was hat welche KI gebracht?</vt:lpstr>
      <vt:lpstr>Live-Demo: So funktioniert die App</vt:lpstr>
      <vt:lpstr>Vielen Dank! Fragen?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 UseCase Evaluator – Wann lohnt sich KI wirklich? (einfache Version)</dc:title>
  <dc:subject>Projektpräsentation für ein Publikum ohne technisches Vorwissen</dc:subject>
  <dc:creator>PptxGenJS</dc:creator>
  <cp:lastModifiedBy>Noa Gasche</cp:lastModifiedBy>
  <cp:revision>1</cp:revision>
  <dcterms:created xsi:type="dcterms:W3CDTF">2026-10-27T14:49:04Z</dcterms:created>
  <dcterms:modified xsi:type="dcterms:W3CDTF">2026-10-27T15:00:52Z</dcterms:modified>
</cp:coreProperties>
</file>